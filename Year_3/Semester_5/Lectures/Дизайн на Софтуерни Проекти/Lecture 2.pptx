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90F3E0-1837-455C-B89D-1134B620DD63}" v="2" dt="2024-10-29T13:47:43.6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Зорница Цветанова (22272101)" userId="S::f22272101@students.tugab.bg::76224f8b-4048-4fe0-beb5-23c12155a4f2" providerId="AD" clId="Web-{1990F3E0-1837-455C-B89D-1134B620DD63}"/>
    <pc:docChg chg="addSld delSld">
      <pc:chgData name="Зорница Цветанова (22272101)" userId="S::f22272101@students.tugab.bg::76224f8b-4048-4fe0-beb5-23c12155a4f2" providerId="AD" clId="Web-{1990F3E0-1837-455C-B89D-1134B620DD63}" dt="2024-10-29T13:47:43.667" v="1"/>
      <pc:docMkLst>
        <pc:docMk/>
      </pc:docMkLst>
      <pc:sldChg chg="new del">
        <pc:chgData name="Зорница Цветанова (22272101)" userId="S::f22272101@students.tugab.bg::76224f8b-4048-4fe0-beb5-23c12155a4f2" providerId="AD" clId="Web-{1990F3E0-1837-455C-B89D-1134B620DD63}" dt="2024-10-29T13:47:43.667" v="1"/>
        <pc:sldMkLst>
          <pc:docMk/>
          <pc:sldMk cId="1094259811" sldId="27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86245-E893-4ADA-9CDC-8A0988336BF3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E05D-C698-419D-9EC4-F8B4993ED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624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86245-E893-4ADA-9CDC-8A0988336BF3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E05D-C698-419D-9EC4-F8B4993ED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003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86245-E893-4ADA-9CDC-8A0988336BF3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E05D-C698-419D-9EC4-F8B4993ED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4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86245-E893-4ADA-9CDC-8A0988336BF3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E05D-C698-419D-9EC4-F8B4993ED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616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86245-E893-4ADA-9CDC-8A0988336BF3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E05D-C698-419D-9EC4-F8B4993ED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004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86245-E893-4ADA-9CDC-8A0988336BF3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E05D-C698-419D-9EC4-F8B4993ED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46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86245-E893-4ADA-9CDC-8A0988336BF3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E05D-C698-419D-9EC4-F8B4993ED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492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86245-E893-4ADA-9CDC-8A0988336BF3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E05D-C698-419D-9EC4-F8B4993ED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836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86245-E893-4ADA-9CDC-8A0988336BF3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E05D-C698-419D-9EC4-F8B4993ED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586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86245-E893-4ADA-9CDC-8A0988336BF3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E05D-C698-419D-9EC4-F8B4993ED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661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86245-E893-4ADA-9CDC-8A0988336BF3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E05D-C698-419D-9EC4-F8B4993ED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715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B86245-E893-4ADA-9CDC-8A0988336BF3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FE05D-C698-419D-9EC4-F8B4993ED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913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/>
              <a:t>Тема 2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bg-BG" b="1" dirty="0"/>
              <a:t>Стратегии на софтуерно проектиране. </a:t>
            </a:r>
          </a:p>
          <a:p>
            <a:r>
              <a:rPr lang="bg-BG" b="1" dirty="0"/>
              <a:t>Свързаност на отговорностите и </a:t>
            </a:r>
            <a:r>
              <a:rPr lang="bg-BG" b="1" dirty="0" err="1"/>
              <a:t>взаимосвързаност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198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/>
              <a:t>1. </a:t>
            </a:r>
            <a:r>
              <a:rPr lang="bg-BG" sz="3600" b="1" dirty="0"/>
              <a:t>Стратегии на софтуерно проектиране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bg-BG" dirty="0"/>
              <a:t>Софтуерното проектиране е процес, при който изискванията към софтуерния проект се прилагат към неговата реализация.</a:t>
            </a:r>
          </a:p>
          <a:p>
            <a:pPr marL="0" indent="0">
              <a:buNone/>
            </a:pPr>
            <a:endParaRPr lang="bg-BG" dirty="0"/>
          </a:p>
          <a:p>
            <a:pPr marL="0" indent="0">
              <a:buNone/>
            </a:pPr>
            <a:r>
              <a:rPr lang="bg-BG" dirty="0"/>
              <a:t>Стратегии на проектиране:</a:t>
            </a:r>
          </a:p>
          <a:p>
            <a:r>
              <a:rPr lang="bg-BG" dirty="0"/>
              <a:t>Структурен дизайн</a:t>
            </a:r>
          </a:p>
          <a:p>
            <a:r>
              <a:rPr lang="bg-BG" dirty="0"/>
              <a:t>Функционално ориентиран дизайн</a:t>
            </a:r>
          </a:p>
          <a:p>
            <a:r>
              <a:rPr lang="bg-BG" dirty="0"/>
              <a:t>Обектно ориентиран дизайн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106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b="1" dirty="0"/>
              <a:t>1.1. Структурен дизайн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/>
              <a:t>Същност - разделяне на проблема на множество добре организирани елементи на решението.</a:t>
            </a:r>
          </a:p>
          <a:p>
            <a:r>
              <a:rPr lang="bg-BG" dirty="0"/>
              <a:t>Всеки елемент е отделен програмен модул.</a:t>
            </a:r>
          </a:p>
          <a:p>
            <a:r>
              <a:rPr lang="bg-BG" dirty="0"/>
              <a:t>Модулите са последователно наредени, така че да се постигне прецизно решение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44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bg-BG" dirty="0"/>
              <a:t>Елементи на структурния дизайн:</a:t>
            </a:r>
          </a:p>
          <a:p>
            <a:pPr lvl="0"/>
            <a:r>
              <a:rPr lang="bg-BG" dirty="0"/>
              <a:t>Свързаност на отговорностите или Кохезия (</a:t>
            </a:r>
            <a:r>
              <a:rPr lang="bg-BG" b="1" dirty="0" err="1"/>
              <a:t>Cohesion</a:t>
            </a:r>
            <a:r>
              <a:rPr lang="bg-BG" dirty="0"/>
              <a:t>) – групиране на всички функционално свързани елементи.</a:t>
            </a:r>
            <a:endParaRPr lang="en-US" dirty="0"/>
          </a:p>
          <a:p>
            <a:r>
              <a:rPr lang="bg-BG" dirty="0"/>
              <a:t>Взаимозависимост (</a:t>
            </a:r>
            <a:r>
              <a:rPr lang="bg-BG" b="1" dirty="0" err="1"/>
              <a:t>Coupling</a:t>
            </a:r>
            <a:r>
              <a:rPr lang="bg-BG" dirty="0"/>
              <a:t>) – комуникация между различните модули</a:t>
            </a:r>
          </a:p>
          <a:p>
            <a:pPr marL="0" indent="0">
              <a:buNone/>
            </a:pPr>
            <a:endParaRPr lang="bg-BG" b="1" dirty="0"/>
          </a:p>
          <a:p>
            <a:pPr marL="0" indent="0">
              <a:buNone/>
            </a:pPr>
            <a:r>
              <a:rPr lang="bg-BG" i="1" dirty="0"/>
              <a:t>Добрият структурен дизайн винаги има </a:t>
            </a:r>
            <a:r>
              <a:rPr lang="bg-BG" b="1" i="1" dirty="0"/>
              <a:t>високо ниво на кохезия и ниско ниво на взаимозависимост.</a:t>
            </a:r>
            <a:endParaRPr lang="bg-BG" i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182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/>
              <a:t>1.2. Функционално ориентиран дизайн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/>
              <a:t>Системата обхваща по-малки подсистеми, наречени функции. Всички тези функции са в състояние да изпълняват значителна роля в цялостната система.</a:t>
            </a:r>
          </a:p>
          <a:p>
            <a:r>
              <a:rPr lang="bg-BG" dirty="0"/>
              <a:t>Работи добре в случаите когато състоянието на програмната система не е от значение и модулите работят повече с входните данни, а не със състоянието на цялата система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156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b="1" dirty="0"/>
              <a:t>Особености на програмна система с функционално ориентиран дизайн: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 dirty="0"/>
              <a:t>Цялостната система се наблюдава как данните минават (се обработват) в системата като се използват  т. нар. диаграма на потока от данни (</a:t>
            </a:r>
            <a:r>
              <a:rPr lang="bg-BG" dirty="0" err="1"/>
              <a:t>data</a:t>
            </a:r>
            <a:r>
              <a:rPr lang="bg-BG" dirty="0"/>
              <a:t> </a:t>
            </a:r>
            <a:r>
              <a:rPr lang="bg-BG" dirty="0" err="1"/>
              <a:t>flow</a:t>
            </a:r>
            <a:r>
              <a:rPr lang="bg-BG" dirty="0"/>
              <a:t> </a:t>
            </a:r>
            <a:r>
              <a:rPr lang="bg-BG" dirty="0" err="1"/>
              <a:t>diagram</a:t>
            </a:r>
            <a:r>
              <a:rPr lang="bg-BG" dirty="0"/>
              <a:t>)</a:t>
            </a:r>
            <a:endParaRPr lang="en-US" dirty="0"/>
          </a:p>
          <a:p>
            <a:pPr lvl="0"/>
            <a:r>
              <a:rPr lang="bg-BG" dirty="0"/>
              <a:t>Диаграмата на потока данни изобразяват как функциите променят данните и състоянието на цялостната система.</a:t>
            </a:r>
            <a:endParaRPr lang="en-US" dirty="0"/>
          </a:p>
          <a:p>
            <a:pPr lvl="0"/>
            <a:r>
              <a:rPr lang="bg-BG" dirty="0"/>
              <a:t>Цялостната система е логически разделена на по-малки модули (блокове), наречени функции въз основа на действията, които извършват в системата.</a:t>
            </a:r>
            <a:endParaRPr lang="en-US" dirty="0"/>
          </a:p>
          <a:p>
            <a:pPr lvl="0"/>
            <a:r>
              <a:rPr lang="bg-BG" dirty="0"/>
              <a:t>Всяка функция се определя като „свободна“ т.е. извършва определени действия без да зависи от останалите.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015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1.3. </a:t>
            </a:r>
            <a:r>
              <a:rPr lang="bg-BG" sz="3600" b="1" dirty="0"/>
              <a:t>Обектно ориентиран дизайн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bg-BG" dirty="0"/>
              <a:t>Работи въз основа на реално съществуващите обекти (наречени още </a:t>
            </a:r>
            <a:r>
              <a:rPr lang="bg-BG" b="1" dirty="0"/>
              <a:t>субекти</a:t>
            </a:r>
            <a:r>
              <a:rPr lang="bg-BG" dirty="0"/>
              <a:t>) като в софтуерната система вместо функциите се използват характеристики на тези обекти.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826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/>
              <a:t>Характеристики на обектно ориентирания дизайн: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sz="2000" dirty="0"/>
              <a:t>Обекти – всички реално съществуващи неща (предмети, същества и др.), включени в програмната система.</a:t>
            </a:r>
          </a:p>
          <a:p>
            <a:r>
              <a:rPr lang="bg-BG" sz="2000" dirty="0"/>
              <a:t>Класове –общото описание на даден реален обект (субект). Програмният обект, който съответства на обект от реалния свят, се нарича </a:t>
            </a:r>
            <a:r>
              <a:rPr lang="bg-BG" sz="2000" i="1" dirty="0"/>
              <a:t>инстанция на класа</a:t>
            </a:r>
            <a:r>
              <a:rPr lang="bg-BG" sz="2000" dirty="0"/>
              <a:t>. </a:t>
            </a:r>
          </a:p>
          <a:p>
            <a:r>
              <a:rPr lang="bg-BG" sz="2000" dirty="0" err="1"/>
              <a:t>Енкапсулация</a:t>
            </a:r>
            <a:r>
              <a:rPr lang="bg-BG" sz="2000" dirty="0"/>
              <a:t> - всички атрибути (променливи) и методи (действията върху данните) са свързани в едно цяло.</a:t>
            </a:r>
          </a:p>
          <a:p>
            <a:r>
              <a:rPr lang="bg-BG" sz="2000" dirty="0"/>
              <a:t>Наследяване – изграждане на йерархия от класове.</a:t>
            </a:r>
          </a:p>
          <a:p>
            <a:r>
              <a:rPr lang="bg-BG" sz="2000" dirty="0"/>
              <a:t>Полиморфизъм – механизъм, чрез който методи изпълняващи подобни задачи, но различаващи се по това, че работят с различни обекти, могат да имат едни и същи имена.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828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b="1" dirty="0"/>
              <a:t>2. Свързаност на отговорностите </a:t>
            </a:r>
            <a:r>
              <a:rPr lang="en-US" sz="3600" b="1" dirty="0"/>
              <a:t>(cohesion) </a:t>
            </a:r>
            <a:r>
              <a:rPr lang="bg-BG" sz="3600" b="1" dirty="0"/>
              <a:t>и </a:t>
            </a:r>
            <a:r>
              <a:rPr lang="bg-BG" sz="3600" b="1" dirty="0" err="1"/>
              <a:t>взаимнасвързаност</a:t>
            </a:r>
            <a:r>
              <a:rPr lang="en-US" sz="3600" b="1" dirty="0"/>
              <a:t> (coupling)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bg-BG" dirty="0"/>
              <a:t>Понятието </a:t>
            </a:r>
            <a:r>
              <a:rPr lang="bg-BG" b="1" dirty="0"/>
              <a:t>Свързаност на отговорностите </a:t>
            </a:r>
            <a:r>
              <a:rPr lang="bg-BG" dirty="0"/>
              <a:t>или</a:t>
            </a:r>
            <a:r>
              <a:rPr lang="bg-BG" b="1" dirty="0"/>
              <a:t> Кохезия (</a:t>
            </a:r>
            <a:r>
              <a:rPr lang="en-US" b="1" dirty="0"/>
              <a:t>cohesion) </a:t>
            </a:r>
            <a:r>
              <a:rPr lang="bg-BG" dirty="0"/>
              <a:t>показва до каква степен различните задачи и </a:t>
            </a:r>
            <a:r>
              <a:rPr lang="bg-BG" dirty="0" err="1"/>
              <a:t>отговрности</a:t>
            </a:r>
            <a:r>
              <a:rPr lang="bg-BG" dirty="0"/>
              <a:t> в дадена програма или компонент са свързани помежду си т.е. колко фокусирана е програмата (или компонентът) към решаването на една единствена цел.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207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b="1" dirty="0"/>
              <a:t>Силна свързаност на отговорностите (</a:t>
            </a:r>
            <a:r>
              <a:rPr lang="en-US" sz="3600" b="1" dirty="0"/>
              <a:t>strong cohesion)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/>
              <a:t>Силна свързаност на отговорностите в даден клас, това означава, че класът описва само един субект.</a:t>
            </a:r>
          </a:p>
          <a:p>
            <a:r>
              <a:rPr lang="bg-BG" dirty="0"/>
              <a:t>Силна свързаност на отговорностите при даден метод има, когато методът изпълнява само една задача.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195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b="1" dirty="0"/>
              <a:t>Слаба свързаност на отговорностите (</a:t>
            </a:r>
            <a:r>
              <a:rPr lang="en-US" sz="3600" b="1" dirty="0"/>
              <a:t>weak cohesion)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bg-BG" dirty="0"/>
              <a:t>Слаба свързаност на отговорностите се наблюдава при методи, които вършат няколко задачи едновременно. </a:t>
            </a:r>
          </a:p>
          <a:p>
            <a:pPr marL="0" indent="0">
              <a:buNone/>
            </a:pPr>
            <a:r>
              <a:rPr lang="bg-BG" dirty="0"/>
              <a:t>Примери за слаба свързаност на отговорностите са следните:</a:t>
            </a:r>
            <a:endParaRPr lang="en-US" dirty="0"/>
          </a:p>
          <a:p>
            <a:pPr marL="0" indent="0">
              <a:buNone/>
            </a:pPr>
            <a:r>
              <a:rPr lang="bg-BG" dirty="0"/>
              <a:t>// Слаба свързаност на отговорностите при клас</a:t>
            </a:r>
            <a:endParaRPr lang="en-US" dirty="0"/>
          </a:p>
          <a:p>
            <a:pPr marL="0" indent="0">
              <a:buNone/>
            </a:pPr>
            <a:r>
              <a:rPr lang="bg-BG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bg-BG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Class1</a:t>
            </a:r>
            <a:endParaRPr lang="en-US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bg-BG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  <a:endParaRPr lang="en-US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bg-BG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bg-BG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bg-BG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bg-BG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PrintDocument</a:t>
            </a:r>
            <a:r>
              <a:rPr lang="bg-BG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bg-BG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</a:t>
            </a:r>
            <a:r>
              <a:rPr lang="bg-BG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d) { … }</a:t>
            </a:r>
            <a:endParaRPr lang="en-US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bg-BG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bg-BG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bg-BG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bg-BG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SendEmail</a:t>
            </a:r>
            <a:r>
              <a:rPr lang="bg-BG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bg-BG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bg-BG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recipient</a:t>
            </a:r>
            <a:r>
              <a:rPr lang="bg-BG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bg-BG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bg-BG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bg-BG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subject</a:t>
            </a:r>
            <a:r>
              <a:rPr lang="bg-BG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bg-BG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bg-BG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bg-BG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bg-BG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{ … }</a:t>
            </a:r>
            <a:endParaRPr lang="en-US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bg-BG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bg-BG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bg-BG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bg-BG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CalculateDistanceBetweenPoints</a:t>
            </a:r>
            <a:r>
              <a:rPr lang="bg-BG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endParaRPr lang="en-US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bg-BG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bg-BG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bg-BG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x1, </a:t>
            </a:r>
            <a:r>
              <a:rPr lang="bg-BG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bg-BG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y1, </a:t>
            </a:r>
            <a:r>
              <a:rPr lang="bg-BG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bg-BG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x2, </a:t>
            </a:r>
            <a:r>
              <a:rPr lang="bg-BG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bg-BG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y2)</a:t>
            </a:r>
            <a:endParaRPr lang="en-US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bg-BG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{ … }</a:t>
            </a:r>
            <a:endParaRPr lang="en-US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bg-BG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782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bg-BG" dirty="0"/>
              <a:t>// Слаба свързаност на отговорностите за метод</a:t>
            </a:r>
            <a:endParaRPr lang="en-US" dirty="0"/>
          </a:p>
          <a:p>
            <a:pPr marL="0" indent="0">
              <a:buNone/>
            </a:pPr>
            <a:r>
              <a:rPr lang="bg-BG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bg-BG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Circle</a:t>
            </a:r>
            <a:endParaRPr lang="en-US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bg-BG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bg-BG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bg-BG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bg-BG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bg-BG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radius</a:t>
            </a:r>
            <a:r>
              <a:rPr lang="bg-BG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bg-BG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bg-BG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bg-BG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bg-BG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Area</a:t>
            </a:r>
            <a:r>
              <a:rPr lang="bg-BG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bg-BG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  <a:endParaRPr lang="en-US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bg-BG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bg-BG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bg-BG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s= </a:t>
            </a:r>
            <a:r>
              <a:rPr lang="bg-BG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radius</a:t>
            </a:r>
            <a:r>
              <a:rPr lang="bg-BG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bg-BG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radius</a:t>
            </a:r>
            <a:r>
              <a:rPr lang="bg-BG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bg-BG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System.Math.PI</a:t>
            </a:r>
            <a:r>
              <a:rPr lang="bg-BG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bg-BG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bg-BG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bg-BG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bg-BG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lang="bg-BG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area</a:t>
            </a:r>
            <a:r>
              <a:rPr lang="bg-BG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r>
              <a:rPr lang="bg-BG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{0}", s);</a:t>
            </a:r>
            <a:endParaRPr lang="en-US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bg-BG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}</a:t>
            </a:r>
            <a:endParaRPr lang="en-US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553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b="1" dirty="0"/>
              <a:t>Взаимозависимост (</a:t>
            </a:r>
            <a:r>
              <a:rPr lang="en-US" sz="3600" b="1" dirty="0"/>
              <a:t>coupling) 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bg-BG" dirty="0"/>
              <a:t>Взаимозависимостта, наречена още </a:t>
            </a:r>
            <a:r>
              <a:rPr lang="bg-BG" dirty="0" err="1"/>
              <a:t>взаимообвързаност</a:t>
            </a:r>
            <a:r>
              <a:rPr lang="bg-BG" dirty="0"/>
              <a:t> определя до каква степен компонентите (класовете) зависят един от друг. Нивото на взаимозависимостта се дели на:</a:t>
            </a:r>
            <a:endParaRPr lang="en-US" dirty="0"/>
          </a:p>
          <a:p>
            <a:pPr lvl="0"/>
            <a:r>
              <a:rPr lang="bg-BG" dirty="0"/>
              <a:t>Слаба взаимозависимост (</a:t>
            </a:r>
            <a:r>
              <a:rPr lang="en-US" dirty="0"/>
              <a:t>loose coupling), </a:t>
            </a:r>
            <a:r>
              <a:rPr lang="bg-BG" dirty="0"/>
              <a:t>която се определя още като „добра самостоятелност“</a:t>
            </a:r>
            <a:endParaRPr lang="en-US" dirty="0"/>
          </a:p>
          <a:p>
            <a:r>
              <a:rPr lang="bg-BG" dirty="0"/>
              <a:t>Силна взаимозависимост (</a:t>
            </a:r>
            <a:r>
              <a:rPr lang="en-US" dirty="0"/>
              <a:t>tight coupling</a:t>
            </a:r>
            <a:r>
              <a:rPr lang="bg-BG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552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bg-BG" dirty="0"/>
              <a:t>Слабата взаимозависимост (</a:t>
            </a:r>
            <a:r>
              <a:rPr lang="en-US" dirty="0"/>
              <a:t>loose coupling) </a:t>
            </a:r>
            <a:r>
              <a:rPr lang="bg-BG" dirty="0"/>
              <a:t>се характеризира с това, че единиците код (подпрограма, функция, клас, компонент) общуват с другите програмни единици минимално, чрез ясно дефинирани интерфейси.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164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Пример: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spcBef>
                <a:spcPts val="200"/>
              </a:spcBef>
              <a:buNone/>
            </a:pP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Report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LoadFromFile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fileName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) {…}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SaveToFile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fileName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) {…}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Printer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Report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report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) {…}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Example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Report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myReport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Report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myReport.LoadFromFile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("DailyReport.xml");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Printer.Print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myReport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2968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bg-BG" dirty="0"/>
              <a:t>Силна </a:t>
            </a:r>
            <a:r>
              <a:rPr lang="bg-BG" dirty="0" err="1"/>
              <a:t>взаимосвързаност</a:t>
            </a:r>
            <a:r>
              <a:rPr lang="bg-BG" dirty="0"/>
              <a:t> между два или няколко компонента има при много входни данни и параметри и при неописани в интерфейса характеристики. При използване на много контролни променливи се получава сложна за разбиране логика.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7330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/>
              <a:t>Пример: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spcBef>
                <a:spcPts val="200"/>
              </a:spcBef>
              <a:buNone/>
            </a:pP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MathParams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operand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result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MathUtil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Sqrt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MathParams.result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CalcSqrt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MathParams.operand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Example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MathParams.operand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= 64;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MathUtil.Sqrt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bg-BG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MathParams.result</a:t>
            </a: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bg-BG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67372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b="1" dirty="0"/>
              <a:t>2.3. Код като спагети (</a:t>
            </a:r>
            <a:r>
              <a:rPr lang="en-US" sz="3600" b="1" dirty="0"/>
              <a:t> spaghetti code)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bg-BG" dirty="0"/>
              <a:t>С този термин се означава неструктуриран код с неясна логика, труден за четене и за поддържане. Асоциацията е с чиния спагети, от която като вземеш един, той се оказва свързан с всички останали. Обикновено това е код, който има слаба кохезия (</a:t>
            </a:r>
            <a:r>
              <a:rPr lang="en-US" dirty="0"/>
              <a:t>weak cohesion) </a:t>
            </a:r>
            <a:r>
              <a:rPr lang="bg-BG" dirty="0"/>
              <a:t>и силна </a:t>
            </a:r>
            <a:r>
              <a:rPr lang="bg-BG" dirty="0" err="1"/>
              <a:t>взаимосвързаност</a:t>
            </a:r>
            <a:r>
              <a:rPr lang="bg-BG" dirty="0"/>
              <a:t> (</a:t>
            </a:r>
            <a:r>
              <a:rPr lang="en-US" dirty="0"/>
              <a:t>tight coupling)</a:t>
            </a:r>
            <a:r>
              <a:rPr lang="bg-BG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37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B40508DB55A91348B4F211DE5871892B" ma:contentTypeVersion="6" ma:contentTypeDescription="Създаване на нов документ" ma:contentTypeScope="" ma:versionID="e90656dae1af3f46de791531eca63539">
  <xsd:schema xmlns:xsd="http://www.w3.org/2001/XMLSchema" xmlns:xs="http://www.w3.org/2001/XMLSchema" xmlns:p="http://schemas.microsoft.com/office/2006/metadata/properties" xmlns:ns2="186d0186-9743-4cb3-b172-6c8420e76892" xmlns:ns3="3b94c810-20ef-45a4-9cea-cb3e940eef09" targetNamespace="http://schemas.microsoft.com/office/2006/metadata/properties" ma:root="true" ma:fieldsID="bd29c44a24b589f1ddbe1b7641e04663" ns2:_="" ns3:_="">
    <xsd:import namespace="186d0186-9743-4cb3-b172-6c8420e76892"/>
    <xsd:import namespace="3b94c810-20ef-45a4-9cea-cb3e940eef09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6d0186-9743-4cb3-b172-6c8420e7689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Споделено 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Споделени с подробности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94c810-20ef-45a4-9cea-cb3e940eef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съдържание"/>
        <xsd:element ref="dc:title" minOccurs="0" maxOccurs="1" ma:index="4" ma:displayName="Заглав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E1DA183-E58D-4430-8730-B4B8E57C368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964D562-5C17-4F43-9F44-44E2C9497DC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0549501B-14D5-4BC0-9330-9A1C1DFADE0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86d0186-9743-4cb3-b172-6c8420e76892"/>
    <ds:schemaRef ds:uri="3b94c810-20ef-45a4-9cea-cb3e940eef0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979</Words>
  <Application>Microsoft Office PowerPoint</Application>
  <PresentationFormat>Widescreen</PresentationFormat>
  <Paragraphs>113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Тема 2</vt:lpstr>
      <vt:lpstr>1. Стратегии на софтуерно проектиране</vt:lpstr>
      <vt:lpstr>1.1. Структурен дизайн</vt:lpstr>
      <vt:lpstr>PowerPoint Presentation</vt:lpstr>
      <vt:lpstr>1.2. Функционално ориентиран дизайн</vt:lpstr>
      <vt:lpstr>Особености на програмна система с функционално ориентиран дизайн:</vt:lpstr>
      <vt:lpstr>1.3. Обектно ориентиран дизайн</vt:lpstr>
      <vt:lpstr>Характеристики на обектно ориентирания дизайн:</vt:lpstr>
      <vt:lpstr>2. Свързаност на отговорностите (cohesion) и взаимнасвързаност (coupling)</vt:lpstr>
      <vt:lpstr>Силна свързаност на отговорностите (strong cohesion)</vt:lpstr>
      <vt:lpstr>Слаба свързаност на отговорностите (weak cohesion)</vt:lpstr>
      <vt:lpstr>PowerPoint Presentation</vt:lpstr>
      <vt:lpstr>Взаимозависимост (coupling) </vt:lpstr>
      <vt:lpstr>PowerPoint Presentation</vt:lpstr>
      <vt:lpstr>Пример:</vt:lpstr>
      <vt:lpstr>PowerPoint Presentation</vt:lpstr>
      <vt:lpstr>Пример:</vt:lpstr>
      <vt:lpstr>2.3. Код като спагети ( spaghetti code)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2</dc:title>
  <dc:creator>Admin</dc:creator>
  <cp:lastModifiedBy>Admin</cp:lastModifiedBy>
  <cp:revision>16</cp:revision>
  <dcterms:created xsi:type="dcterms:W3CDTF">2023-09-27T06:00:26Z</dcterms:created>
  <dcterms:modified xsi:type="dcterms:W3CDTF">2024-10-29T13:47:44Z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0x010100B40508DB55A91348B4F211DE5871892B</vt:lpwstr>
  </property>
</Properties>
</file>