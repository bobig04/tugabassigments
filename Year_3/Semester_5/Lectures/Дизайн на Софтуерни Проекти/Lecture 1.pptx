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орделия Георгиева (22272105)" userId="S::f22272105@students.tugab.bg::61cb13a0-128c-4edc-be06-fcdd334923b1" providerId="AD" clId="Web-{3BA8BE9D-C214-47F4-A20E-0693A07A940A}"/>
    <pc:docChg chg="modSld">
      <pc:chgData name="Корделия Георгиева (22272105)" userId="S::f22272105@students.tugab.bg::61cb13a0-128c-4edc-be06-fcdd334923b1" providerId="AD" clId="Web-{3BA8BE9D-C214-47F4-A20E-0693A07A940A}" dt="2024-10-29T20:09:36.529" v="11" actId="20577"/>
      <pc:docMkLst>
        <pc:docMk/>
      </pc:docMkLst>
      <pc:sldChg chg="modSp">
        <pc:chgData name="Корделия Георгиева (22272105)" userId="S::f22272105@students.tugab.bg::61cb13a0-128c-4edc-be06-fcdd334923b1" providerId="AD" clId="Web-{3BA8BE9D-C214-47F4-A20E-0693A07A940A}" dt="2024-10-29T20:09:36.529" v="11" actId="20577"/>
        <pc:sldMkLst>
          <pc:docMk/>
          <pc:sldMk cId="2936996096" sldId="265"/>
        </pc:sldMkLst>
        <pc:spChg chg="mod">
          <ac:chgData name="Корделия Георгиева (22272105)" userId="S::f22272105@students.tugab.bg::61cb13a0-128c-4edc-be06-fcdd334923b1" providerId="AD" clId="Web-{3BA8BE9D-C214-47F4-A20E-0693A07A940A}" dt="2024-10-29T20:09:36.529" v="11" actId="20577"/>
          <ac:spMkLst>
            <pc:docMk/>
            <pc:sldMk cId="2936996096" sldId="265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FFE-C642-453D-919D-3039343C6C4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87AB-F5C6-4EA0-BAC5-D06EFD4D7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68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FFE-C642-453D-919D-3039343C6C4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87AB-F5C6-4EA0-BAC5-D06EFD4D7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62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FFE-C642-453D-919D-3039343C6C4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87AB-F5C6-4EA0-BAC5-D06EFD4D7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FFE-C642-453D-919D-3039343C6C4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87AB-F5C6-4EA0-BAC5-D06EFD4D7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73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FFE-C642-453D-919D-3039343C6C4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87AB-F5C6-4EA0-BAC5-D06EFD4D7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0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FFE-C642-453D-919D-3039343C6C4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87AB-F5C6-4EA0-BAC5-D06EFD4D7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55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FFE-C642-453D-919D-3039343C6C4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87AB-F5C6-4EA0-BAC5-D06EFD4D7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7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FFE-C642-453D-919D-3039343C6C4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87AB-F5C6-4EA0-BAC5-D06EFD4D7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9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FFE-C642-453D-919D-3039343C6C4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87AB-F5C6-4EA0-BAC5-D06EFD4D7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3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FFE-C642-453D-919D-3039343C6C4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87AB-F5C6-4EA0-BAC5-D06EFD4D7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85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FFE-C642-453D-919D-3039343C6C4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487AB-F5C6-4EA0-BAC5-D06EFD4D7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6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54FFE-C642-453D-919D-3039343C6C4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487AB-F5C6-4EA0-BAC5-D06EFD4D7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14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b="1" dirty="0"/>
              <a:t>Тема 1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b="1" dirty="0"/>
              <a:t>Софтуерно инженерство и дизайн на софтуерни проекти. Жизнен цикъл на софтуерен проект. Модели на развитие на софтуерни проекти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327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1. </a:t>
            </a:r>
            <a:r>
              <a:rPr lang="bg-BG" dirty="0"/>
              <a:t>Въведение</a:t>
            </a:r>
            <a:br>
              <a:rPr lang="en-US" dirty="0"/>
            </a:br>
            <a:r>
              <a:rPr lang="en-US" dirty="0"/>
              <a:t>1.1. </a:t>
            </a:r>
            <a:r>
              <a:rPr lang="bg-BG" dirty="0"/>
              <a:t>Що е софтуерно инженерство?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Софтуерното инженерство е дял от инженерните науки, който се свързва с разработката на софтуер (програмни продукти) въз основа на точно определени научни принципи, методи и процедури. Целта е да получи ефективен и надежден софтуерен продукт</a:t>
            </a:r>
            <a:r>
              <a:rPr lang="en-US" dirty="0"/>
              <a:t>.</a:t>
            </a:r>
          </a:p>
          <a:p>
            <a:r>
              <a:rPr lang="bg-BG" dirty="0"/>
              <a:t>Софтуерна еволюция - началната разработка на софтуера, неговото управление и надграждане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521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1.2. Софтуерни парадигми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методите и стъпките, които трябва да бъдат изпълнени докато се проектира софтуера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384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9959"/>
            <a:ext cx="10515600" cy="1325563"/>
          </a:xfrm>
        </p:spPr>
        <p:txBody>
          <a:bodyPr/>
          <a:lstStyle/>
          <a:p>
            <a:r>
              <a:rPr lang="bg-BG" dirty="0"/>
              <a:t>1.2.1 Парадигма за софтуерна разработка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dirty="0"/>
              <a:t>Определяне на изискванията</a:t>
            </a:r>
            <a:endParaRPr lang="en-US" dirty="0"/>
          </a:p>
          <a:p>
            <a:pPr lvl="0"/>
            <a:r>
              <a:rPr lang="bg-BG" dirty="0"/>
              <a:t>Дизайн на софтуерния проект</a:t>
            </a:r>
            <a:endParaRPr lang="en-US" dirty="0"/>
          </a:p>
          <a:p>
            <a:pPr lvl="0"/>
            <a:r>
              <a:rPr lang="bg-BG" dirty="0"/>
              <a:t>Програмиране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701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1.2.2. Парадигма на софтуерния дизайн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dirty="0"/>
              <a:t>Дизайн</a:t>
            </a:r>
            <a:endParaRPr lang="en-US" dirty="0"/>
          </a:p>
          <a:p>
            <a:pPr lvl="0"/>
            <a:r>
              <a:rPr lang="bg-BG" dirty="0"/>
              <a:t>Поддръжка</a:t>
            </a:r>
            <a:endParaRPr lang="en-US" dirty="0"/>
          </a:p>
          <a:p>
            <a:pPr lvl="0"/>
            <a:r>
              <a:rPr lang="bg-BG" dirty="0"/>
              <a:t>Програмиране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809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1.2.3. Програмна парадигма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dirty="0"/>
              <a:t>Кодиране</a:t>
            </a:r>
            <a:endParaRPr lang="en-US" dirty="0"/>
          </a:p>
          <a:p>
            <a:pPr lvl="0"/>
            <a:r>
              <a:rPr lang="bg-BG" dirty="0"/>
              <a:t>Тестване</a:t>
            </a:r>
            <a:endParaRPr lang="en-US" dirty="0"/>
          </a:p>
          <a:p>
            <a:pPr lvl="0"/>
            <a:r>
              <a:rPr lang="bg-BG" dirty="0"/>
              <a:t>Интеграция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532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1.3. Необходимост от софтуерно инженерство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bg-BG" dirty="0"/>
              <a:t>Голям по обем софтуер</a:t>
            </a:r>
            <a:endParaRPr lang="en-US" dirty="0"/>
          </a:p>
          <a:p>
            <a:pPr lvl="0"/>
            <a:r>
              <a:rPr lang="bg-BG" dirty="0" err="1"/>
              <a:t>Мащабируемост</a:t>
            </a:r>
            <a:r>
              <a:rPr lang="bg-BG" dirty="0"/>
              <a:t> (Надграждане на програмния код) </a:t>
            </a:r>
          </a:p>
          <a:p>
            <a:pPr lvl="0"/>
            <a:r>
              <a:rPr lang="bg-BG" dirty="0"/>
              <a:t>Цена </a:t>
            </a:r>
            <a:endParaRPr lang="en-US" dirty="0"/>
          </a:p>
          <a:p>
            <a:pPr lvl="0"/>
            <a:r>
              <a:rPr lang="bg-BG" dirty="0"/>
              <a:t>Динамична същност </a:t>
            </a:r>
          </a:p>
          <a:p>
            <a:pPr lvl="0"/>
            <a:r>
              <a:rPr lang="bg-BG" dirty="0"/>
              <a:t>Качествено управление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712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1.4. Характеристики на добрия софтуер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dirty="0"/>
              <a:t>Оперативност - включва Бюджет, Използваемост, Ефективност, Коректност, Функционалност, </a:t>
            </a:r>
            <a:r>
              <a:rPr lang="bg-BG" dirty="0" err="1"/>
              <a:t>Надежност</a:t>
            </a:r>
            <a:r>
              <a:rPr lang="bg-BG" dirty="0"/>
              <a:t> , Сигурност, </a:t>
            </a:r>
            <a:r>
              <a:rPr lang="bg-BG" dirty="0" err="1"/>
              <a:t>Безопастност</a:t>
            </a:r>
            <a:endParaRPr lang="en-US" dirty="0"/>
          </a:p>
          <a:p>
            <a:pPr lvl="0"/>
            <a:r>
              <a:rPr lang="bg-BG" dirty="0"/>
              <a:t>Преносимост – включва Преносимост, Възможност за повторно използване, Адаптивност</a:t>
            </a:r>
            <a:endParaRPr lang="en-US" dirty="0"/>
          </a:p>
          <a:p>
            <a:r>
              <a:rPr lang="bg-BG" dirty="0"/>
              <a:t>Поддръжка – включва Модулност, </a:t>
            </a:r>
            <a:r>
              <a:rPr lang="bg-BG" dirty="0" err="1"/>
              <a:t>Ремонтопригодност</a:t>
            </a:r>
            <a:r>
              <a:rPr lang="bg-BG" dirty="0"/>
              <a:t>, Гъвкавост, </a:t>
            </a:r>
            <a:r>
              <a:rPr lang="bg-BG" dirty="0" err="1"/>
              <a:t>Мащабируемост</a:t>
            </a:r>
            <a:r>
              <a:rPr lang="bg-BG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566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 Жизнен цикъл на софтуерен проект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/>
              <a:t>Жизнен цикъл на софтуерен проект (на английски Software </a:t>
            </a:r>
            <a:r>
              <a:rPr lang="bg-BG" dirty="0" err="1"/>
              <a:t>Development</a:t>
            </a:r>
            <a:r>
              <a:rPr lang="bg-BG" dirty="0"/>
              <a:t> Life </a:t>
            </a:r>
            <a:r>
              <a:rPr lang="bg-BG" dirty="0" err="1"/>
              <a:t>Cycle</a:t>
            </a:r>
            <a:r>
              <a:rPr lang="bg-BG" dirty="0"/>
              <a:t>, съкратено SDLC) е точно определена структурирана последователност от степени на софтуерно инженерно проектиране, чрез което се разработва желания софтуерен продукт.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863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Фази на жизнения цикъл на софтуерен проект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bg-BG" dirty="0"/>
              <a:t>Комуникация</a:t>
            </a:r>
          </a:p>
          <a:p>
            <a:r>
              <a:rPr lang="bg-BG" dirty="0"/>
              <a:t>Уточняване на изискванията</a:t>
            </a:r>
          </a:p>
          <a:p>
            <a:r>
              <a:rPr lang="bg-BG" dirty="0"/>
              <a:t>Изследвания за приложимост</a:t>
            </a:r>
          </a:p>
          <a:p>
            <a:r>
              <a:rPr lang="bg-BG" dirty="0"/>
              <a:t>Системен анализ</a:t>
            </a:r>
          </a:p>
          <a:p>
            <a:r>
              <a:rPr lang="bg-BG" dirty="0"/>
              <a:t>Софтуерен дизайн</a:t>
            </a:r>
          </a:p>
          <a:p>
            <a:r>
              <a:rPr lang="bg-BG" dirty="0"/>
              <a:t>Кодиране</a:t>
            </a:r>
            <a:endParaRPr lang="en-US" dirty="0"/>
          </a:p>
          <a:p>
            <a:r>
              <a:rPr lang="bg-BG" dirty="0"/>
              <a:t>Тестване</a:t>
            </a:r>
            <a:endParaRPr lang="en-US" dirty="0"/>
          </a:p>
          <a:p>
            <a:r>
              <a:rPr lang="bg-BG" dirty="0"/>
              <a:t>Интеграция</a:t>
            </a:r>
            <a:endParaRPr lang="en-US" dirty="0"/>
          </a:p>
          <a:p>
            <a:r>
              <a:rPr lang="bg-BG" dirty="0"/>
              <a:t>Имплементация</a:t>
            </a:r>
            <a:endParaRPr lang="en-US" dirty="0"/>
          </a:p>
          <a:p>
            <a:r>
              <a:rPr lang="bg-BG" dirty="0"/>
              <a:t>Експлоатация и поддръжка</a:t>
            </a:r>
            <a:endParaRPr lang="en-US" dirty="0"/>
          </a:p>
          <a:p>
            <a:r>
              <a:rPr lang="bg-BG" dirty="0"/>
              <a:t>Диспозиция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996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3. Парадигми за развитието на софтуерен проект</a:t>
            </a:r>
            <a:br>
              <a:rPr lang="bg-BG" sz="3200" dirty="0"/>
            </a:br>
            <a:r>
              <a:rPr lang="bg-BG" sz="3200" dirty="0"/>
              <a:t>3.1.</a:t>
            </a:r>
            <a:r>
              <a:rPr lang="en-US" sz="3200" dirty="0"/>
              <a:t> Waterfall </a:t>
            </a:r>
            <a:r>
              <a:rPr lang="bg-BG" sz="3200" dirty="0"/>
              <a:t>модел</a:t>
            </a:r>
            <a:endParaRPr lang="en-US" sz="3200" dirty="0"/>
          </a:p>
        </p:txBody>
      </p:sp>
      <p:pic>
        <p:nvPicPr>
          <p:cNvPr id="4" name="Content Placeholder 3" descr="https://www.tutorialspoint.com/software_engineering/images/sdlc_waterfall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999" y="2174944"/>
            <a:ext cx="42481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497874" y="5251268"/>
            <a:ext cx="664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Фиг. 1. Модел </a:t>
            </a:r>
            <a:r>
              <a:rPr lang="en-US" dirty="0"/>
              <a:t>Waterfall</a:t>
            </a:r>
          </a:p>
        </p:txBody>
      </p:sp>
    </p:spTree>
    <p:extLst>
      <p:ext uri="{BB962C8B-B14F-4D97-AF65-F5344CB8AC3E}">
        <p14:creationId xmlns:p14="http://schemas.microsoft.com/office/powerpoint/2010/main" val="962382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3.2. </a:t>
            </a:r>
            <a:r>
              <a:rPr lang="bg-BG" dirty="0" err="1"/>
              <a:t>Итерактивен</a:t>
            </a:r>
            <a:r>
              <a:rPr lang="bg-BG" dirty="0"/>
              <a:t> модел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Iterative Model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771" y="2491105"/>
            <a:ext cx="3816804" cy="20983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342606" y="5381897"/>
            <a:ext cx="640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Фиг. 2. </a:t>
            </a:r>
            <a:r>
              <a:rPr lang="bg-BG" dirty="0" err="1"/>
              <a:t>Итерактивен</a:t>
            </a:r>
            <a:r>
              <a:rPr lang="bg-BG" dirty="0"/>
              <a:t> модел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948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3.3. Спирален модел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Spiral Model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023" y="2101850"/>
            <a:ext cx="3439432" cy="31755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342606" y="5381897"/>
            <a:ext cx="640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Фиг. 3. </a:t>
            </a:r>
            <a:r>
              <a:rPr lang="bg-BG" dirty="0" err="1"/>
              <a:t>Итерактивен</a:t>
            </a:r>
            <a:r>
              <a:rPr lang="bg-BG" dirty="0"/>
              <a:t> модел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34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3.4. </a:t>
            </a:r>
            <a:r>
              <a:rPr lang="en-US" dirty="0"/>
              <a:t>V-</a:t>
            </a:r>
            <a:r>
              <a:rPr lang="bg-BG" dirty="0"/>
              <a:t>модел</a:t>
            </a:r>
            <a:endParaRPr lang="en-US" dirty="0"/>
          </a:p>
        </p:txBody>
      </p:sp>
      <p:pic>
        <p:nvPicPr>
          <p:cNvPr id="6" name="Content Placeholder 5" descr="V-Model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068" y="1838030"/>
            <a:ext cx="4857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342606" y="5381897"/>
            <a:ext cx="640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Фиг. 4. </a:t>
            </a:r>
            <a:r>
              <a:rPr lang="en-US" dirty="0"/>
              <a:t>V-</a:t>
            </a:r>
            <a:r>
              <a:rPr lang="bg-BG" dirty="0"/>
              <a:t>модел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742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3.5.  Модел </a:t>
            </a:r>
            <a:r>
              <a:rPr lang="en-US" dirty="0"/>
              <a:t>Big Bang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Big Bang Model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637" y="2601004"/>
            <a:ext cx="4184740" cy="235417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342606" y="5381897"/>
            <a:ext cx="6409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Фиг. 5. Модел </a:t>
            </a:r>
            <a:r>
              <a:rPr lang="en-US" dirty="0"/>
              <a:t>Big Bang</a:t>
            </a:r>
          </a:p>
        </p:txBody>
      </p:sp>
    </p:spTree>
    <p:extLst>
      <p:ext uri="{BB962C8B-B14F-4D97-AF65-F5344CB8AC3E}">
        <p14:creationId xmlns:p14="http://schemas.microsoft.com/office/powerpoint/2010/main" val="2132407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B40508DB55A91348B4F211DE5871892B" ma:contentTypeVersion="6" ma:contentTypeDescription="Създаване на нов документ" ma:contentTypeScope="" ma:versionID="e90656dae1af3f46de791531eca63539">
  <xsd:schema xmlns:xsd="http://www.w3.org/2001/XMLSchema" xmlns:xs="http://www.w3.org/2001/XMLSchema" xmlns:p="http://schemas.microsoft.com/office/2006/metadata/properties" xmlns:ns2="186d0186-9743-4cb3-b172-6c8420e76892" xmlns:ns3="3b94c810-20ef-45a4-9cea-cb3e940eef09" targetNamespace="http://schemas.microsoft.com/office/2006/metadata/properties" ma:root="true" ma:fieldsID="bd29c44a24b589f1ddbe1b7641e04663" ns2:_="" ns3:_="">
    <xsd:import namespace="186d0186-9743-4cb3-b172-6c8420e76892"/>
    <xsd:import namespace="3b94c810-20ef-45a4-9cea-cb3e940eef0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6d0186-9743-4cb3-b172-6c8420e7689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Споделено 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поделени с подробности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94c810-20ef-45a4-9cea-cb3e940eef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C2F49E-CA3E-4BE7-BB9C-A70ADE000F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6d0186-9743-4cb3-b172-6c8420e76892"/>
    <ds:schemaRef ds:uri="3b94c810-20ef-45a4-9cea-cb3e940eef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055939-D7CA-41CB-BE96-8C817D6F9EB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D71AC13-9F34-4A4F-881F-B258BC61A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313</Words>
  <Application>Microsoft Office PowerPoint</Application>
  <PresentationFormat>Широк екран</PresentationFormat>
  <Paragraphs>53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15</vt:i4>
      </vt:variant>
    </vt:vector>
  </HeadingPairs>
  <TitlesOfParts>
    <vt:vector size="16" baseType="lpstr">
      <vt:lpstr>Office Theme</vt:lpstr>
      <vt:lpstr>Тема 1 </vt:lpstr>
      <vt:lpstr>1. Въведение 1.1. Що е софтуерно инженерство?</vt:lpstr>
      <vt:lpstr>1.2. Софтуерни парадигми</vt:lpstr>
      <vt:lpstr>1.2.1 Парадигма за софтуерна разработка</vt:lpstr>
      <vt:lpstr>1.2.2. Парадигма на софтуерния дизайн</vt:lpstr>
      <vt:lpstr>1.2.3. Програмна парадигма</vt:lpstr>
      <vt:lpstr>1.3. Необходимост от софтуерно инженерство</vt:lpstr>
      <vt:lpstr>1.4. Характеристики на добрия софтуер</vt:lpstr>
      <vt:lpstr>2. Жизнен цикъл на софтуерен проект</vt:lpstr>
      <vt:lpstr>Фази на жизнения цикъл на софтуерен проект</vt:lpstr>
      <vt:lpstr>3. Парадигми за развитието на софтуерен проект 3.1. Waterfall модел</vt:lpstr>
      <vt:lpstr>3.2. Итерактивен модел</vt:lpstr>
      <vt:lpstr>3.3. Спирален модел</vt:lpstr>
      <vt:lpstr>3.4. V-модел</vt:lpstr>
      <vt:lpstr>3.5.  Модел Big Bang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 </dc:title>
  <dc:creator>Admin</dc:creator>
  <cp:lastModifiedBy>Admin</cp:lastModifiedBy>
  <cp:revision>25</cp:revision>
  <dcterms:created xsi:type="dcterms:W3CDTF">2022-09-29T10:40:34Z</dcterms:created>
  <dcterms:modified xsi:type="dcterms:W3CDTF">2025-01-23T12:07:05Z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0x010100B40508DB55A91348B4F211DE5871892B</vt:lpwstr>
  </property>
</Properties>
</file>