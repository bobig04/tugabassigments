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1"/>
  </p:notesMasterIdLst>
  <p:sldIdLst>
    <p:sldId id="257" r:id="rId5"/>
    <p:sldId id="258" r:id="rId6"/>
    <p:sldId id="259" r:id="rId7"/>
    <p:sldId id="260" r:id="rId8"/>
    <p:sldId id="303" r:id="rId9"/>
    <p:sldId id="304" r:id="rId10"/>
    <p:sldId id="311" r:id="rId11"/>
    <p:sldId id="312" r:id="rId12"/>
    <p:sldId id="313" r:id="rId13"/>
    <p:sldId id="308" r:id="rId14"/>
    <p:sldId id="314" r:id="rId15"/>
    <p:sldId id="315" r:id="rId16"/>
    <p:sldId id="309" r:id="rId17"/>
    <p:sldId id="365" r:id="rId18"/>
    <p:sldId id="366" r:id="rId19"/>
    <p:sldId id="367" r:id="rId20"/>
    <p:sldId id="368" r:id="rId21"/>
    <p:sldId id="310" r:id="rId22"/>
    <p:sldId id="316" r:id="rId23"/>
    <p:sldId id="369" r:id="rId24"/>
    <p:sldId id="370" r:id="rId25"/>
    <p:sldId id="305" r:id="rId26"/>
    <p:sldId id="306" r:id="rId27"/>
    <p:sldId id="320" r:id="rId28"/>
    <p:sldId id="321" r:id="rId29"/>
    <p:sldId id="322" r:id="rId30"/>
    <p:sldId id="324" r:id="rId31"/>
    <p:sldId id="357" r:id="rId32"/>
    <p:sldId id="358" r:id="rId33"/>
    <p:sldId id="359" r:id="rId34"/>
    <p:sldId id="360" r:id="rId35"/>
    <p:sldId id="361" r:id="rId36"/>
    <p:sldId id="362" r:id="rId37"/>
    <p:sldId id="371" r:id="rId38"/>
    <p:sldId id="363" r:id="rId39"/>
    <p:sldId id="364" r:id="rId40"/>
    <p:sldId id="323" r:id="rId41"/>
    <p:sldId id="372" r:id="rId42"/>
    <p:sldId id="373" r:id="rId43"/>
    <p:sldId id="374" r:id="rId44"/>
    <p:sldId id="375" r:id="rId45"/>
    <p:sldId id="376" r:id="rId46"/>
    <p:sldId id="377" r:id="rId47"/>
    <p:sldId id="378" r:id="rId48"/>
    <p:sldId id="342" r:id="rId49"/>
    <p:sldId id="343" r:id="rId50"/>
    <p:sldId id="344" r:id="rId51"/>
    <p:sldId id="345" r:id="rId52"/>
    <p:sldId id="379" r:id="rId53"/>
    <p:sldId id="346" r:id="rId54"/>
    <p:sldId id="347" r:id="rId55"/>
    <p:sldId id="348" r:id="rId56"/>
    <p:sldId id="349" r:id="rId57"/>
    <p:sldId id="380" r:id="rId58"/>
    <p:sldId id="381" r:id="rId59"/>
    <p:sldId id="382" r:id="rId60"/>
    <p:sldId id="383" r:id="rId61"/>
    <p:sldId id="384" r:id="rId62"/>
    <p:sldId id="325" r:id="rId63"/>
    <p:sldId id="326" r:id="rId64"/>
    <p:sldId id="328" r:id="rId65"/>
    <p:sldId id="329" r:id="rId66"/>
    <p:sldId id="330" r:id="rId67"/>
    <p:sldId id="331" r:id="rId68"/>
    <p:sldId id="332" r:id="rId69"/>
    <p:sldId id="333" r:id="rId70"/>
    <p:sldId id="319" r:id="rId71"/>
    <p:sldId id="327" r:id="rId72"/>
    <p:sldId id="334" r:id="rId73"/>
    <p:sldId id="335" r:id="rId74"/>
    <p:sldId id="336" r:id="rId75"/>
    <p:sldId id="337" r:id="rId76"/>
    <p:sldId id="338" r:id="rId77"/>
    <p:sldId id="339" r:id="rId78"/>
    <p:sldId id="340" r:id="rId79"/>
    <p:sldId id="341" r:id="rId80"/>
    <p:sldId id="350" r:id="rId81"/>
    <p:sldId id="385" r:id="rId82"/>
    <p:sldId id="386" r:id="rId83"/>
    <p:sldId id="387" r:id="rId84"/>
    <p:sldId id="388" r:id="rId85"/>
    <p:sldId id="389" r:id="rId86"/>
    <p:sldId id="390" r:id="rId87"/>
    <p:sldId id="391" r:id="rId88"/>
    <p:sldId id="392" r:id="rId89"/>
    <p:sldId id="393" r:id="rId9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133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6BF817-F362-4C41-ABF4-2F8696C8150F}" type="datetimeFigureOut">
              <a:rPr lang="en-US" smtClean="0"/>
              <a:t>6/14/2024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F0CCEB-ECC4-4F05-AC10-6D0D7B6E7000}" type="slidenum">
              <a:rPr lang="en-US" smtClean="0"/>
              <a:t>‹#›</a:t>
            </a:fld>
            <a:endParaRPr lang="en-US"/>
          </a:p>
        </p:txBody>
      </p:sp>
    </p:spTree>
    <p:extLst>
      <p:ext uri="{BB962C8B-B14F-4D97-AF65-F5344CB8AC3E}">
        <p14:creationId xmlns:p14="http://schemas.microsoft.com/office/powerpoint/2010/main" val="3810851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bg-BG" altLang="en-US" sz="240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en-US" altLang="en-US" noProof="0"/>
              <a:t>Click to edit Master title style</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en-US" altLang="en-US" noProof="0"/>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en-US"/>
          </a:p>
        </p:txBody>
      </p:sp>
      <p:sp>
        <p:nvSpPr>
          <p:cNvPr id="19" name="Rectangle 17"/>
          <p:cNvSpPr>
            <a:spLocks noGrp="1" noChangeArrowheads="1"/>
          </p:cNvSpPr>
          <p:nvPr>
            <p:ph type="ftr" sz="quarter" idx="11"/>
          </p:nvPr>
        </p:nvSpPr>
        <p:spPr/>
        <p:txBody>
          <a:bodyPr/>
          <a:lstStyle>
            <a:lvl1pPr>
              <a:defRPr/>
            </a:lvl1pPr>
          </a:lstStyle>
          <a:p>
            <a:pPr>
              <a:defRPr/>
            </a:pPr>
            <a:endParaRPr lang="en-US" altLang="en-US"/>
          </a:p>
        </p:txBody>
      </p:sp>
      <p:sp>
        <p:nvSpPr>
          <p:cNvPr id="20" name="Rectangle 18"/>
          <p:cNvSpPr>
            <a:spLocks noGrp="1" noChangeArrowheads="1"/>
          </p:cNvSpPr>
          <p:nvPr>
            <p:ph type="sldNum" sz="quarter" idx="12"/>
          </p:nvPr>
        </p:nvSpPr>
        <p:spPr/>
        <p:txBody>
          <a:bodyPr/>
          <a:lstStyle>
            <a:lvl1pPr>
              <a:defRPr/>
            </a:lvl1pPr>
          </a:lstStyle>
          <a:p>
            <a:pPr>
              <a:defRPr/>
            </a:pPr>
            <a:fld id="{316C1D6F-C217-4595-BBDC-A49643DC20F7}" type="slidenum">
              <a:rPr lang="en-US" altLang="en-US"/>
              <a:pPr>
                <a:defRPr/>
              </a:pPr>
              <a:t>‹#›</a:t>
            </a:fld>
            <a:endParaRPr lang="en-US" altLang="en-US"/>
          </a:p>
        </p:txBody>
      </p:sp>
    </p:spTree>
    <p:extLst>
      <p:ext uri="{BB962C8B-B14F-4D97-AF65-F5344CB8AC3E}">
        <p14:creationId xmlns:p14="http://schemas.microsoft.com/office/powerpoint/2010/main" val="2865704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1636DEF4-0ECE-4FEB-BF1C-E558251B38A6}"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838177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0DF99C6F-6374-4848-995E-C1A2E6E1CB87}"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309380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p:cNvSpPr>
            <a:spLocks noGrp="1" noChangeArrowheads="1"/>
          </p:cNvSpPr>
          <p:nvPr>
            <p:ph type="sldNum" sz="quarter" idx="11"/>
          </p:nvPr>
        </p:nvSpPr>
        <p:spPr>
          <a:ln/>
        </p:spPr>
        <p:txBody>
          <a:bodyPr/>
          <a:lstStyle>
            <a:lvl1pPr>
              <a:defRPr/>
            </a:lvl1pPr>
          </a:lstStyle>
          <a:p>
            <a:pPr>
              <a:defRPr/>
            </a:pPr>
            <a:fld id="{8ECA6426-C95A-4582-9425-13990CC4AD06}" type="slidenum">
              <a:rPr lang="en-US" altLang="en-US"/>
              <a:pPr>
                <a:defRPr/>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4222425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3"/>
          <p:cNvSpPr>
            <a:spLocks noGrp="1" noChangeArrowheads="1"/>
          </p:cNvSpPr>
          <p:nvPr>
            <p:ph type="sldNum" sz="quarter" idx="11"/>
          </p:nvPr>
        </p:nvSpPr>
        <p:spPr>
          <a:ln/>
        </p:spPr>
        <p:txBody>
          <a:bodyPr/>
          <a:lstStyle>
            <a:lvl1pPr>
              <a:defRPr/>
            </a:lvl1pPr>
          </a:lstStyle>
          <a:p>
            <a:pPr>
              <a:defRPr/>
            </a:pPr>
            <a:fld id="{F7911359-362B-4B99-8124-5A1B1D8058CF}" type="slidenum">
              <a:rPr lang="en-US" altLang="en-US"/>
              <a:pPr>
                <a:defRPr/>
              </a:pPr>
              <a:t>‹#›</a:t>
            </a:fld>
            <a:endParaRPr lang="en-US" alt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013687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3"/>
          <p:cNvSpPr>
            <a:spLocks noGrp="1" noChangeArrowheads="1"/>
          </p:cNvSpPr>
          <p:nvPr>
            <p:ph type="sldNum" sz="quarter" idx="11"/>
          </p:nvPr>
        </p:nvSpPr>
        <p:spPr>
          <a:ln/>
        </p:spPr>
        <p:txBody>
          <a:bodyPr/>
          <a:lstStyle>
            <a:lvl1pPr>
              <a:defRPr/>
            </a:lvl1pPr>
          </a:lstStyle>
          <a:p>
            <a:pPr>
              <a:defRPr/>
            </a:pPr>
            <a:fld id="{62C7FAAC-55EF-42E4-91DB-D6107FB4F399}" type="slidenum">
              <a:rPr lang="en-US" altLang="en-US"/>
              <a:pPr>
                <a:defRPr/>
              </a:pPr>
              <a:t>‹#›</a:t>
            </a:fld>
            <a:endParaRPr lang="en-US" alt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448121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3"/>
          <p:cNvSpPr>
            <a:spLocks noGrp="1" noChangeArrowheads="1"/>
          </p:cNvSpPr>
          <p:nvPr>
            <p:ph type="sldNum" sz="quarter" idx="11"/>
          </p:nvPr>
        </p:nvSpPr>
        <p:spPr>
          <a:ln/>
        </p:spPr>
        <p:txBody>
          <a:bodyPr/>
          <a:lstStyle>
            <a:lvl1pPr>
              <a:defRPr/>
            </a:lvl1pPr>
          </a:lstStyle>
          <a:p>
            <a:pPr>
              <a:defRPr/>
            </a:pPr>
            <a:fld id="{8B8188B4-65C4-4EB2-82DD-080716DE93B8}" type="slidenum">
              <a:rPr lang="en-US" altLang="en-US"/>
              <a:pPr>
                <a:defRPr/>
              </a:pPr>
              <a:t>‹#›</a:t>
            </a:fld>
            <a:endParaRPr lang="en-US" alt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511111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p:cNvSpPr>
            <a:spLocks noGrp="1" noChangeArrowheads="1"/>
          </p:cNvSpPr>
          <p:nvPr>
            <p:ph type="sldNum" sz="quarter" idx="11"/>
          </p:nvPr>
        </p:nvSpPr>
        <p:spPr>
          <a:ln/>
        </p:spPr>
        <p:txBody>
          <a:bodyPr/>
          <a:lstStyle>
            <a:lvl1pPr>
              <a:defRPr/>
            </a:lvl1pPr>
          </a:lstStyle>
          <a:p>
            <a:pPr>
              <a:defRPr/>
            </a:pPr>
            <a:fld id="{AB13D3C8-D15E-425C-812C-798D353282F2}" type="slidenum">
              <a:rPr lang="en-US" altLang="en-US"/>
              <a:pPr>
                <a:defRPr/>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376885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p:cNvSpPr>
            <a:spLocks noGrp="1" noChangeArrowheads="1"/>
          </p:cNvSpPr>
          <p:nvPr>
            <p:ph type="sldNum" sz="quarter" idx="11"/>
          </p:nvPr>
        </p:nvSpPr>
        <p:spPr>
          <a:ln/>
        </p:spPr>
        <p:txBody>
          <a:bodyPr/>
          <a:lstStyle>
            <a:lvl1pPr>
              <a:defRPr/>
            </a:lvl1pPr>
          </a:lstStyle>
          <a:p>
            <a:pPr>
              <a:defRPr/>
            </a:pPr>
            <a:fld id="{774FCDAE-E3B9-45E1-8D8E-9D6AA891A33D}" type="slidenum">
              <a:rPr lang="en-US" altLang="en-US"/>
              <a:pPr>
                <a:defRPr/>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14665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0CA2BE4A-294B-4DBB-BDE3-F97A69BC2691}"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59381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E5825053-FCEA-4CB6-BA25-2CB3A5657763}"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336827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en-US"/>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EBB3657B-8497-440A-8321-1B4C1FA0C0EE}" type="slidenum">
              <a:rPr lang="en-US" altLang="en-US"/>
              <a:pPr>
                <a:defRPr/>
              </a:pPr>
              <a:t>‹#›</a:t>
            </a:fld>
            <a:endParaRPr lang="en-US" altLang="en-US"/>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bg-BG" altLang="en-US" sz="2400">
                <a:latin typeface="Times New Roman" panose="02020603050405020304"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12"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en-US"/>
          </a:p>
        </p:txBody>
      </p:sp>
    </p:spTree>
    <p:extLst>
      <p:ext uri="{BB962C8B-B14F-4D97-AF65-F5344CB8AC3E}">
        <p14:creationId xmlns:p14="http://schemas.microsoft.com/office/powerpoint/2010/main" val="35460033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189" algn="l" rtl="0" fontAlgn="base">
        <a:spcBef>
          <a:spcPct val="0"/>
        </a:spcBef>
        <a:spcAft>
          <a:spcPct val="0"/>
        </a:spcAft>
        <a:defRPr sz="4400">
          <a:solidFill>
            <a:schemeClr val="tx1"/>
          </a:solidFill>
          <a:latin typeface="Arial" charset="0"/>
        </a:defRPr>
      </a:lvl6pPr>
      <a:lvl7pPr marL="914377" algn="l" rtl="0" fontAlgn="base">
        <a:spcBef>
          <a:spcPct val="0"/>
        </a:spcBef>
        <a:spcAft>
          <a:spcPct val="0"/>
        </a:spcAft>
        <a:defRPr sz="4400">
          <a:solidFill>
            <a:schemeClr val="tx1"/>
          </a:solidFill>
          <a:latin typeface="Arial" charset="0"/>
        </a:defRPr>
      </a:lvl7pPr>
      <a:lvl8pPr marL="1371566" algn="l" rtl="0" fontAlgn="base">
        <a:spcBef>
          <a:spcPct val="0"/>
        </a:spcBef>
        <a:spcAft>
          <a:spcPct val="0"/>
        </a:spcAft>
        <a:defRPr sz="4400">
          <a:solidFill>
            <a:schemeClr val="tx1"/>
          </a:solidFill>
          <a:latin typeface="Arial" charset="0"/>
        </a:defRPr>
      </a:lvl8pPr>
      <a:lvl9pPr marL="1828754" algn="l" rtl="0" fontAlgn="base">
        <a:spcBef>
          <a:spcPct val="0"/>
        </a:spcBef>
        <a:spcAft>
          <a:spcPct val="0"/>
        </a:spcAft>
        <a:defRPr sz="4400">
          <a:solidFill>
            <a:schemeClr val="tx1"/>
          </a:solidFill>
          <a:latin typeface="Arial" charset="0"/>
        </a:defRPr>
      </a:lvl9pPr>
    </p:titleStyle>
    <p:bodyStyle>
      <a:lvl1pPr marL="342891" indent="-342891"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2971" indent="-228594"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160" indent="-228594"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349" indent="-228594"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537"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726"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8914"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103"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Data_center" TargetMode="External"/><Relationship Id="rId2" Type="http://schemas.openxmlformats.org/officeDocument/2006/relationships/hyperlink" Target="https://en.wikipedia.org/wiki/Google_App_Engin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loud.google.com/products" TargetMode="External"/><Relationship Id="rId2" Type="http://schemas.openxmlformats.org/officeDocument/2006/relationships/hyperlink" Target="https://www.google.com/about/datacenter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cloud.google.com/vpc/docs/vpc-peering" TargetMode="External"/><Relationship Id="rId2" Type="http://schemas.openxmlformats.org/officeDocument/2006/relationships/hyperlink" Target="https://cloud.google.com/vpc/docs/shared-vpc"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cloud.google.com/docs/authentication" TargetMode="External"/><Relationship Id="rId2" Type="http://schemas.openxmlformats.org/officeDocument/2006/relationships/hyperlink" Target="https://cloud.google.com/sdk/cloud-client-libraries" TargetMode="External"/><Relationship Id="rId1" Type="http://schemas.openxmlformats.org/officeDocument/2006/relationships/slideLayout" Target="../slideLayouts/slideLayout2.xml"/><Relationship Id="rId4" Type="http://schemas.openxmlformats.org/officeDocument/2006/relationships/hyperlink" Target="https://developers.google.com/api-client-library/"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cloud.google.com/about/location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cloud.google.com/appengine/pricing#standard_instance_pricing" TargetMode="External"/><Relationship Id="rId2" Type="http://schemas.openxmlformats.org/officeDocument/2006/relationships/hyperlink" Target="https://cloud.google.com/appengine/docs/standard/python/how-instances-are-managed#timeout" TargetMode="External"/><Relationship Id="rId1" Type="http://schemas.openxmlformats.org/officeDocument/2006/relationships/slideLayout" Target="../slideLayouts/slideLayout2.xml"/><Relationship Id="rId4" Type="http://schemas.openxmlformats.org/officeDocument/2006/relationships/hyperlink" Target="https://cloud.google.com/appengine/pricing#costs-for-flexible-environment-instance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cloud.google.com/custom-machine-types" TargetMode="External"/><Relationship Id="rId2" Type="http://schemas.openxmlformats.org/officeDocument/2006/relationships/hyperlink" Target="https://cloud.google.com/compute/docs/machine-types" TargetMode="External"/><Relationship Id="rId1" Type="http://schemas.openxmlformats.org/officeDocument/2006/relationships/slideLayout" Target="../slideLayouts/slideLayout2.xml"/><Relationship Id="rId6" Type="http://schemas.openxmlformats.org/officeDocument/2006/relationships/hyperlink" Target="https://cloud.google.com/compute/docs/instances/apply-sizing-recommendations-for-instances#how_sizing_recommendations_work" TargetMode="External"/><Relationship Id="rId5" Type="http://schemas.openxmlformats.org/officeDocument/2006/relationships/hyperlink" Target="https://cloud.google.com/confidential-computing" TargetMode="External"/><Relationship Id="rId4" Type="http://schemas.openxmlformats.org/officeDocument/2006/relationships/hyperlink" Target="https://cloud.google.com/spot-vm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cloud.google.com/confidential-computing" TargetMode="External"/><Relationship Id="rId2" Type="http://schemas.openxmlformats.org/officeDocument/2006/relationships/hyperlink" Target="https://cloud.google.com/compute/docs/vm-manager" TargetMode="External"/><Relationship Id="rId1" Type="http://schemas.openxmlformats.org/officeDocument/2006/relationships/slideLayout" Target="../slideLayouts/slideLayout2.xml"/><Relationship Id="rId5" Type="http://schemas.openxmlformats.org/officeDocument/2006/relationships/hyperlink" Target="https://cloud.google.com/spot-vms" TargetMode="External"/><Relationship Id="rId4" Type="http://schemas.openxmlformats.org/officeDocument/2006/relationships/hyperlink" Target="https://cloud.google.com/compute/docs/instances/live-migration" TargetMode="External"/></Relationships>
</file>

<file path=ppt/slides/_rels/slide38.xml.rels><?xml version="1.0" encoding="UTF-8" standalone="yes"?>
<Relationships xmlns="http://schemas.openxmlformats.org/package/2006/relationships"><Relationship Id="rId2" Type="http://schemas.openxmlformats.org/officeDocument/2006/relationships/hyperlink" Target="https://cloud.google.com/compute/docs/instance-group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cloud.google.com/compute/"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cloud.google.com/vmware-engine/sla"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cloud.google.com/filestore/docs/backups"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cloud.google.com/architecture/building-a-hybrid-render-farm" TargetMode="External"/><Relationship Id="rId2" Type="http://schemas.openxmlformats.org/officeDocument/2006/relationships/hyperlink" Target="https://cloud.google.com/customers/wp-engine"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cloud.google.com/armor/pricing"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cloud.google.com/network-connectivity/docs/carrier-peering#service-providers"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cloud.google.com/vpc-service-controls" TargetMode="External"/><Relationship Id="rId2" Type="http://schemas.openxmlformats.org/officeDocument/2006/relationships/hyperlink" Target="http://cloud.google.com/service-directory"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s://cloud.google.com/vpc/docs/flow-logs" TargetMode="External"/><Relationship Id="rId7" Type="http://schemas.openxmlformats.org/officeDocument/2006/relationships/hyperlink" Target="https://cloud.google.com/vpc/docs/firewall-rules-logging" TargetMode="External"/><Relationship Id="rId2" Type="http://schemas.openxmlformats.org/officeDocument/2006/relationships/hyperlink" Target="https://cloud.google.com/vpc/docs/create-modify-vpc-networks" TargetMode="External"/><Relationship Id="rId1" Type="http://schemas.openxmlformats.org/officeDocument/2006/relationships/slideLayout" Target="../slideLayouts/slideLayout2.xml"/><Relationship Id="rId6" Type="http://schemas.openxmlformats.org/officeDocument/2006/relationships/hyperlink" Target="https://cloud.google.com/vpc/docs/firewalls" TargetMode="External"/><Relationship Id="rId5" Type="http://schemas.openxmlformats.org/officeDocument/2006/relationships/hyperlink" Target="https://cloud.google.com/vpc/docs/vpc-peering" TargetMode="External"/><Relationship Id="rId4" Type="http://schemas.openxmlformats.org/officeDocument/2006/relationships/hyperlink" Target="https://cloud.google.com/vpc/docs/bring-your-own-ip" TargetMode="External"/></Relationships>
</file>

<file path=ppt/slides/_rels/slide76.xml.rels><?xml version="1.0" encoding="UTF-8" standalone="yes"?>
<Relationships xmlns="http://schemas.openxmlformats.org/package/2006/relationships"><Relationship Id="rId3" Type="http://schemas.openxmlformats.org/officeDocument/2006/relationships/hyperlink" Target="https://cloud.google.com/vpc/docs/shared-vpc" TargetMode="External"/><Relationship Id="rId7" Type="http://schemas.openxmlformats.org/officeDocument/2006/relationships/hyperlink" Target="https://cloud.google.com/vpc-service-controls/docs" TargetMode="External"/><Relationship Id="rId2" Type="http://schemas.openxmlformats.org/officeDocument/2006/relationships/hyperlink" Target="https://cloud.google.com/vpc/docs/routes" TargetMode="External"/><Relationship Id="rId1" Type="http://schemas.openxmlformats.org/officeDocument/2006/relationships/slideLayout" Target="../slideLayouts/slideLayout2.xml"/><Relationship Id="rId6" Type="http://schemas.openxmlformats.org/officeDocument/2006/relationships/hyperlink" Target="https://cloud.google.com/vpc/docs/private-google-access" TargetMode="External"/><Relationship Id="rId5" Type="http://schemas.openxmlformats.org/officeDocument/2006/relationships/hyperlink" Target="https://cloud.google.com/network-connectivity/docs/vpn/concepts/overview" TargetMode="External"/><Relationship Id="rId4" Type="http://schemas.openxmlformats.org/officeDocument/2006/relationships/hyperlink" Target="https://cloud.google.com/vpc/docs/packet-mirroring" TargetMode="External"/></Relationships>
</file>

<file path=ppt/slides/_rels/slide7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hyperlink" Target="https://cloud.google.com/firestore/pricing"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hyperlink" Target="https://cloud.google.com/sql" TargetMode="External"/><Relationship Id="rId2" Type="http://schemas.openxmlformats.org/officeDocument/2006/relationships/hyperlink" Target="https://cloud.google.com/bigquery" TargetMode="External"/><Relationship Id="rId1" Type="http://schemas.openxmlformats.org/officeDocument/2006/relationships/slideLayout" Target="../slideLayouts/slideLayout2.xml"/><Relationship Id="rId5" Type="http://schemas.openxmlformats.org/officeDocument/2006/relationships/hyperlink" Target="https://cloud.google.com/spanner" TargetMode="External"/><Relationship Id="rId4" Type="http://schemas.openxmlformats.org/officeDocument/2006/relationships/hyperlink" Target="https://cloud.google.com/storag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bg-BG" altLang="en-US" sz="4600" dirty="0"/>
              <a:t>Облачна услуга </a:t>
            </a:r>
            <a:r>
              <a:rPr lang="en-US" altLang="en-US" sz="4600" dirty="0"/>
              <a:t>Google Cloud Platform</a:t>
            </a:r>
          </a:p>
        </p:txBody>
      </p:sp>
      <p:sp>
        <p:nvSpPr>
          <p:cNvPr id="3075" name="Rectangle 3"/>
          <p:cNvSpPr>
            <a:spLocks noGrp="1" noChangeArrowheads="1"/>
          </p:cNvSpPr>
          <p:nvPr>
            <p:ph type="subTitle" idx="1"/>
          </p:nvPr>
        </p:nvSpPr>
        <p:spPr/>
        <p:txBody>
          <a:bodyPr/>
          <a:lstStyle/>
          <a:p>
            <a:pPr eaLnBrk="1" hangingPunct="1"/>
            <a:r>
              <a:rPr lang="en-US" altLang="en-US" dirty="0"/>
              <a:t>(</a:t>
            </a:r>
            <a:r>
              <a:rPr lang="en-US" altLang="en-US" sz="3600" dirty="0"/>
              <a:t>Google Cloud Platform</a:t>
            </a:r>
            <a:r>
              <a:rPr lang="en-US" altLang="en-US" dirty="0"/>
              <a:t>)</a:t>
            </a:r>
          </a:p>
        </p:txBody>
      </p:sp>
    </p:spTree>
    <p:extLst>
      <p:ext uri="{BB962C8B-B14F-4D97-AF65-F5344CB8AC3E}">
        <p14:creationId xmlns:p14="http://schemas.microsoft.com/office/powerpoint/2010/main" val="118115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457200"/>
            <a:ext cx="8229600" cy="1131455"/>
          </a:xfrm>
        </p:spPr>
        <p:txBody>
          <a:bodyPr/>
          <a:lstStyle/>
          <a:p>
            <a:pPr eaLnBrk="1" hangingPunct="1"/>
            <a:r>
              <a:rPr lang="bg-BG" altLang="en-US" dirty="0"/>
              <a:t>История</a:t>
            </a:r>
            <a:endParaRPr lang="en-US" altLang="en-US" dirty="0"/>
          </a:p>
        </p:txBody>
      </p:sp>
      <p:sp>
        <p:nvSpPr>
          <p:cNvPr id="4099" name="Rectangle 3"/>
          <p:cNvSpPr>
            <a:spLocks noGrp="1" noChangeArrowheads="1"/>
          </p:cNvSpPr>
          <p:nvPr>
            <p:ph type="body" idx="1"/>
          </p:nvPr>
        </p:nvSpPr>
        <p:spPr>
          <a:xfrm>
            <a:off x="189346" y="1482437"/>
            <a:ext cx="8705272" cy="3886200"/>
          </a:xfrm>
        </p:spPr>
        <p:txBody>
          <a:bodyPr/>
          <a:lstStyle/>
          <a:p>
            <a:pPr eaLnBrk="1" hangingPunct="1"/>
            <a:r>
              <a:rPr lang="en-US" altLang="en-US" dirty="0"/>
              <a:t>Launched April 7, 2008</a:t>
            </a:r>
          </a:p>
          <a:p>
            <a:pPr eaLnBrk="1" hangingPunct="1"/>
            <a:r>
              <a:rPr lang="en-US" dirty="0"/>
              <a:t>In April 2008, Google announced </a:t>
            </a:r>
            <a:r>
              <a:rPr lang="en-US" dirty="0">
                <a:hlinkClick r:id="rId2" tooltip="Google App Engine"/>
              </a:rPr>
              <a:t>App Engine</a:t>
            </a:r>
            <a:r>
              <a:rPr lang="en-US" dirty="0"/>
              <a:t>, a platform for developing and hosting web applications in Google-managed </a:t>
            </a:r>
            <a:r>
              <a:rPr lang="en-US" dirty="0">
                <a:hlinkClick r:id="rId3" tooltip="Data center"/>
              </a:rPr>
              <a:t>data centers</a:t>
            </a:r>
            <a:r>
              <a:rPr lang="en-US" dirty="0"/>
              <a:t>, which was the first cloud computing service from the company. The service became generally available in November 2011. Since the announcement of App Engine, Google added multiple cloud services to the platform.</a:t>
            </a:r>
            <a:endParaRPr lang="en-US" altLang="en-US" b="1" dirty="0"/>
          </a:p>
        </p:txBody>
      </p:sp>
    </p:spTree>
    <p:extLst>
      <p:ext uri="{BB962C8B-B14F-4D97-AF65-F5344CB8AC3E}">
        <p14:creationId xmlns:p14="http://schemas.microsoft.com/office/powerpoint/2010/main" val="676481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442960" cy="1014549"/>
          </a:xfrm>
        </p:spPr>
        <p:txBody>
          <a:bodyPr/>
          <a:lstStyle/>
          <a:p>
            <a:r>
              <a:rPr lang="bg-BG" dirty="0"/>
              <a:t>Типове облачни услуги в </a:t>
            </a:r>
            <a:r>
              <a:rPr lang="en-US" dirty="0"/>
              <a:t>GCP</a:t>
            </a:r>
          </a:p>
        </p:txBody>
      </p:sp>
      <p:pic>
        <p:nvPicPr>
          <p:cNvPr id="1026" name="Picture 2" descr="Which are the PaaS services offered by Google Cloud? - Quor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4297" y="1342193"/>
            <a:ext cx="7468514" cy="5285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447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55964"/>
          </a:xfrm>
        </p:spPr>
        <p:txBody>
          <a:bodyPr/>
          <a:lstStyle/>
          <a:p>
            <a:r>
              <a:rPr lang="en-US" b="1" dirty="0"/>
              <a:t>GCP concepts</a:t>
            </a:r>
          </a:p>
        </p:txBody>
      </p:sp>
      <p:graphicFrame>
        <p:nvGraphicFramePr>
          <p:cNvPr id="4" name="Table 3"/>
          <p:cNvGraphicFramePr>
            <a:graphicFrameLocks noGrp="1"/>
          </p:cNvGraphicFramePr>
          <p:nvPr>
            <p:extLst>
              <p:ext uri="{D42A27DB-BD31-4B8C-83A1-F6EECF244321}">
                <p14:modId xmlns:p14="http://schemas.microsoft.com/office/powerpoint/2010/main" val="3275769827"/>
              </p:ext>
            </p:extLst>
          </p:nvPr>
        </p:nvGraphicFramePr>
        <p:xfrm>
          <a:off x="313508" y="1528355"/>
          <a:ext cx="8673738" cy="5079936"/>
        </p:xfrm>
        <a:graphic>
          <a:graphicData uri="http://schemas.openxmlformats.org/drawingml/2006/table">
            <a:tbl>
              <a:tblPr/>
              <a:tblGrid>
                <a:gridCol w="1419498">
                  <a:extLst>
                    <a:ext uri="{9D8B030D-6E8A-4147-A177-3AD203B41FA5}">
                      <a16:colId xmlns:a16="http://schemas.microsoft.com/office/drawing/2014/main" val="59221497"/>
                    </a:ext>
                  </a:extLst>
                </a:gridCol>
                <a:gridCol w="7254240">
                  <a:extLst>
                    <a:ext uri="{9D8B030D-6E8A-4147-A177-3AD203B41FA5}">
                      <a16:colId xmlns:a16="http://schemas.microsoft.com/office/drawing/2014/main" val="318336279"/>
                    </a:ext>
                  </a:extLst>
                </a:gridCol>
              </a:tblGrid>
              <a:tr h="189571">
                <a:tc>
                  <a:txBody>
                    <a:bodyPr/>
                    <a:lstStyle/>
                    <a:p>
                      <a:pPr algn="l"/>
                      <a:r>
                        <a:rPr lang="en-US" sz="1800" dirty="0">
                          <a:effectLst/>
                        </a:rPr>
                        <a:t>Concept Name</a:t>
                      </a:r>
                    </a:p>
                  </a:txBody>
                  <a:tcPr marL="47393" marR="47393" marT="23696" marB="23696" anchor="ctr">
                    <a:lnL>
                      <a:noFill/>
                    </a:lnL>
                    <a:lnR>
                      <a:noFill/>
                    </a:lnR>
                    <a:lnT>
                      <a:noFill/>
                    </a:lnT>
                    <a:lnB w="7620" cap="flat" cmpd="sng" algn="ctr">
                      <a:solidFill>
                        <a:srgbClr val="EEEEEE"/>
                      </a:solidFill>
                      <a:prstDash val="solid"/>
                      <a:round/>
                      <a:headEnd type="none" w="med" len="med"/>
                      <a:tailEnd type="none" w="med" len="med"/>
                    </a:lnB>
                    <a:solidFill>
                      <a:srgbClr val="F9F9F9"/>
                    </a:solidFill>
                  </a:tcPr>
                </a:tc>
                <a:tc>
                  <a:txBody>
                    <a:bodyPr/>
                    <a:lstStyle/>
                    <a:p>
                      <a:pPr algn="l"/>
                      <a:r>
                        <a:rPr lang="en-US" sz="1800">
                          <a:effectLst/>
                        </a:rPr>
                        <a:t>Description</a:t>
                      </a:r>
                    </a:p>
                  </a:txBody>
                  <a:tcPr marL="47393" marR="47393" marT="23696" marB="23696" anchor="ctr">
                    <a:lnL>
                      <a:noFill/>
                    </a:lnL>
                    <a:lnR>
                      <a:noFill/>
                    </a:lnR>
                    <a:lnT>
                      <a:noFill/>
                    </a:lnT>
                    <a:lnB w="7620"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2458571575"/>
                  </a:ext>
                </a:extLst>
              </a:tr>
              <a:tr h="1469173">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mn-lt"/>
                          <a:ea typeface="+mn-ea"/>
                          <a:cs typeface="+mn-cs"/>
                        </a:rPr>
                        <a:t>Google Cloud resources</a:t>
                      </a:r>
                    </a:p>
                    <a:p>
                      <a:endParaRPr lang="en-US" sz="1800" dirty="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r>
                        <a:rPr lang="en-US" sz="1800" b="0" i="0" kern="1200" dirty="0">
                          <a:solidFill>
                            <a:schemeClr val="tx1"/>
                          </a:solidFill>
                          <a:effectLst/>
                          <a:latin typeface="+mn-lt"/>
                          <a:ea typeface="+mn-ea"/>
                          <a:cs typeface="+mn-cs"/>
                        </a:rPr>
                        <a:t>Google Cloud consists of a set of physical assets, such as computers and hard disk drives, and virtual resources, such as virtual machines (VMs), that are contained in </a:t>
                      </a:r>
                      <a:r>
                        <a:rPr lang="en-US" sz="1800" b="0" i="0" kern="1200" dirty="0">
                          <a:solidFill>
                            <a:schemeClr val="tx1"/>
                          </a:solidFill>
                          <a:effectLst/>
                          <a:latin typeface="+mn-lt"/>
                          <a:ea typeface="+mn-ea"/>
                          <a:cs typeface="+mn-cs"/>
                          <a:hlinkClick r:id="rId2"/>
                        </a:rPr>
                        <a:t>Google's data centers</a:t>
                      </a:r>
                      <a:r>
                        <a:rPr lang="en-US" sz="1800" b="0" i="0" kern="1200" dirty="0">
                          <a:solidFill>
                            <a:schemeClr val="tx1"/>
                          </a:solidFill>
                          <a:effectLst/>
                          <a:latin typeface="+mn-lt"/>
                          <a:ea typeface="+mn-ea"/>
                          <a:cs typeface="+mn-cs"/>
                        </a:rPr>
                        <a:t> around the globe. Each data center location is in a </a:t>
                      </a:r>
                      <a:r>
                        <a:rPr lang="en-US" sz="1800" b="0" i="1" kern="1200" dirty="0">
                          <a:solidFill>
                            <a:schemeClr val="tx1"/>
                          </a:solidFill>
                          <a:effectLst/>
                          <a:latin typeface="+mn-lt"/>
                          <a:ea typeface="+mn-ea"/>
                          <a:cs typeface="+mn-cs"/>
                        </a:rPr>
                        <a:t>region</a:t>
                      </a:r>
                      <a:r>
                        <a:rPr lang="en-US" sz="1800" b="0" i="0" kern="1200" dirty="0">
                          <a:solidFill>
                            <a:schemeClr val="tx1"/>
                          </a:solidFill>
                          <a:effectLst/>
                          <a:latin typeface="+mn-lt"/>
                          <a:ea typeface="+mn-ea"/>
                          <a:cs typeface="+mn-cs"/>
                        </a:rPr>
                        <a:t>. Regions are available in Asia, Australia, Europe, North America, and South America. Each region is a collection of </a:t>
                      </a:r>
                      <a:r>
                        <a:rPr lang="en-US" sz="1800" b="0" i="1" kern="1200" dirty="0">
                          <a:solidFill>
                            <a:schemeClr val="tx1"/>
                          </a:solidFill>
                          <a:effectLst/>
                          <a:latin typeface="+mn-lt"/>
                          <a:ea typeface="+mn-ea"/>
                          <a:cs typeface="+mn-cs"/>
                        </a:rPr>
                        <a:t>zones</a:t>
                      </a:r>
                      <a:r>
                        <a:rPr lang="en-US" sz="1800" b="0" i="0" kern="1200" dirty="0">
                          <a:solidFill>
                            <a:schemeClr val="tx1"/>
                          </a:solidFill>
                          <a:effectLst/>
                          <a:latin typeface="+mn-lt"/>
                          <a:ea typeface="+mn-ea"/>
                          <a:cs typeface="+mn-cs"/>
                        </a:rPr>
                        <a:t>, which are isolated from each other within the region. Each zone is identified by a name that combines a letter identifier with the name of the region. For example, zone </a:t>
                      </a:r>
                      <a:r>
                        <a:rPr lang="en-US" dirty="0"/>
                        <a:t>a</a:t>
                      </a:r>
                      <a:r>
                        <a:rPr lang="en-US" sz="1800" b="0" i="0" kern="1200" dirty="0">
                          <a:solidFill>
                            <a:schemeClr val="tx1"/>
                          </a:solidFill>
                          <a:effectLst/>
                          <a:latin typeface="+mn-lt"/>
                          <a:ea typeface="+mn-ea"/>
                          <a:cs typeface="+mn-cs"/>
                        </a:rPr>
                        <a:t> in the East Asia region is named </a:t>
                      </a:r>
                      <a:r>
                        <a:rPr lang="en-US" dirty="0"/>
                        <a:t>asia-east1-a</a:t>
                      </a:r>
                      <a:r>
                        <a:rPr lang="en-US" sz="1800" b="0" i="0" kern="1200" dirty="0">
                          <a:solidFill>
                            <a:schemeClr val="tx1"/>
                          </a:solidFill>
                          <a:effectLst/>
                          <a:latin typeface="+mn-lt"/>
                          <a:ea typeface="+mn-ea"/>
                          <a:cs typeface="+mn-cs"/>
                        </a:rPr>
                        <a:t>.</a:t>
                      </a:r>
                      <a:endParaRPr lang="en-US" sz="1800" dirty="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919408531"/>
                  </a:ext>
                </a:extLst>
              </a:tr>
              <a:tr h="132699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mn-lt"/>
                          <a:ea typeface="+mn-ea"/>
                          <a:cs typeface="+mn-cs"/>
                        </a:rPr>
                        <a:t>Accessing resources through services</a:t>
                      </a:r>
                    </a:p>
                    <a:p>
                      <a:endParaRPr lang="en-US" sz="1800" dirty="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tc>
                  <a:txBody>
                    <a:bodyPr/>
                    <a:lstStyle/>
                    <a:p>
                      <a:r>
                        <a:rPr lang="en-US" sz="1800" b="0" i="0" kern="1200" dirty="0">
                          <a:solidFill>
                            <a:schemeClr val="tx1"/>
                          </a:solidFill>
                          <a:effectLst/>
                          <a:latin typeface="+mn-lt"/>
                          <a:ea typeface="+mn-ea"/>
                          <a:cs typeface="+mn-cs"/>
                        </a:rPr>
                        <a:t>In cloud computing, what you might be used to thinking of as software and hardware products, become </a:t>
                      </a:r>
                      <a:r>
                        <a:rPr lang="en-US" sz="1800" b="0" i="1" kern="1200" dirty="0">
                          <a:solidFill>
                            <a:schemeClr val="tx1"/>
                          </a:solidFill>
                          <a:effectLst/>
                          <a:latin typeface="+mn-lt"/>
                          <a:ea typeface="+mn-ea"/>
                          <a:cs typeface="+mn-cs"/>
                        </a:rPr>
                        <a:t>services</a:t>
                      </a:r>
                      <a:r>
                        <a:rPr lang="en-US" sz="1800" b="0" i="0" kern="1200" dirty="0">
                          <a:solidFill>
                            <a:schemeClr val="tx1"/>
                          </a:solidFill>
                          <a:effectLst/>
                          <a:latin typeface="+mn-lt"/>
                          <a:ea typeface="+mn-ea"/>
                          <a:cs typeface="+mn-cs"/>
                        </a:rPr>
                        <a:t>. These services provide access to the underlying resources. The </a:t>
                      </a:r>
                      <a:r>
                        <a:rPr lang="en-US" sz="1800" b="0" i="0" kern="1200" dirty="0">
                          <a:solidFill>
                            <a:schemeClr val="tx1"/>
                          </a:solidFill>
                          <a:effectLst/>
                          <a:latin typeface="+mn-lt"/>
                          <a:ea typeface="+mn-ea"/>
                          <a:cs typeface="+mn-cs"/>
                          <a:hlinkClick r:id="rId3"/>
                        </a:rPr>
                        <a:t>list of available Google Cloud services</a:t>
                      </a:r>
                      <a:r>
                        <a:rPr lang="en-US" sz="1800" b="0" i="0" kern="1200" dirty="0">
                          <a:solidFill>
                            <a:schemeClr val="tx1"/>
                          </a:solidFill>
                          <a:effectLst/>
                          <a:latin typeface="+mn-lt"/>
                          <a:ea typeface="+mn-ea"/>
                          <a:cs typeface="+mn-cs"/>
                        </a:rPr>
                        <a:t> is long, and it keeps growing. When you develop your website or application on Google Cloud, you mix and match these services into combinations that provide the infrastructure you need, and then add your code to enable the scenarios you want to build.</a:t>
                      </a: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2790141110"/>
                  </a:ext>
                </a:extLst>
              </a:tr>
            </a:tbl>
          </a:graphicData>
        </a:graphic>
      </p:graphicFrame>
    </p:spTree>
    <p:extLst>
      <p:ext uri="{BB962C8B-B14F-4D97-AF65-F5344CB8AC3E}">
        <p14:creationId xmlns:p14="http://schemas.microsoft.com/office/powerpoint/2010/main" val="2353804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01486"/>
          </a:xfrm>
        </p:spPr>
        <p:txBody>
          <a:bodyPr/>
          <a:lstStyle/>
          <a:p>
            <a:r>
              <a:rPr lang="en-US" dirty="0"/>
              <a:t>Concepts (Cont.)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39869631"/>
              </p:ext>
            </p:extLst>
          </p:nvPr>
        </p:nvGraphicFramePr>
        <p:xfrm>
          <a:off x="387532" y="1458686"/>
          <a:ext cx="8229600" cy="5306864"/>
        </p:xfrm>
        <a:graphic>
          <a:graphicData uri="http://schemas.openxmlformats.org/drawingml/2006/table">
            <a:tbl>
              <a:tblPr/>
              <a:tblGrid>
                <a:gridCol w="2207623">
                  <a:extLst>
                    <a:ext uri="{9D8B030D-6E8A-4147-A177-3AD203B41FA5}">
                      <a16:colId xmlns:a16="http://schemas.microsoft.com/office/drawing/2014/main" val="3389183090"/>
                    </a:ext>
                  </a:extLst>
                </a:gridCol>
                <a:gridCol w="6021977">
                  <a:extLst>
                    <a:ext uri="{9D8B030D-6E8A-4147-A177-3AD203B41FA5}">
                      <a16:colId xmlns:a16="http://schemas.microsoft.com/office/drawing/2014/main" val="3562176959"/>
                    </a:ext>
                  </a:extLst>
                </a:gridCol>
              </a:tblGrid>
              <a:tr h="1184817">
                <a:tc>
                  <a:txBody>
                    <a:bodyPr/>
                    <a:lstStyle/>
                    <a:p>
                      <a:r>
                        <a:rPr lang="en-US" sz="1800" b="1" i="0" kern="1200" dirty="0">
                          <a:solidFill>
                            <a:schemeClr val="tx1"/>
                          </a:solidFill>
                          <a:effectLst/>
                          <a:latin typeface="+mn-lt"/>
                          <a:ea typeface="+mn-ea"/>
                          <a:cs typeface="+mn-cs"/>
                        </a:rPr>
                        <a:t>Global, regional, and zonal resources</a:t>
                      </a: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tc>
                  <a:txBody>
                    <a:bodyPr/>
                    <a:lstStyle/>
                    <a:p>
                      <a:r>
                        <a:rPr lang="en-US" sz="1800" b="0" i="0" kern="1200" dirty="0">
                          <a:solidFill>
                            <a:schemeClr val="tx1"/>
                          </a:solidFill>
                          <a:effectLst/>
                          <a:latin typeface="+mn-lt"/>
                          <a:ea typeface="+mn-ea"/>
                          <a:cs typeface="+mn-cs"/>
                        </a:rPr>
                        <a:t>Some resources can be accessed by any other resource, across regions and zones. These </a:t>
                      </a:r>
                      <a:r>
                        <a:rPr lang="en-US" sz="1800" b="0" i="1" kern="1200" dirty="0">
                          <a:solidFill>
                            <a:schemeClr val="tx1"/>
                          </a:solidFill>
                          <a:effectLst/>
                          <a:latin typeface="+mn-lt"/>
                          <a:ea typeface="+mn-ea"/>
                          <a:cs typeface="+mn-cs"/>
                        </a:rPr>
                        <a:t>global resources</a:t>
                      </a:r>
                      <a:r>
                        <a:rPr lang="en-US" sz="1800" b="0" i="0" kern="1200" dirty="0">
                          <a:solidFill>
                            <a:schemeClr val="tx1"/>
                          </a:solidFill>
                          <a:effectLst/>
                          <a:latin typeface="+mn-lt"/>
                          <a:ea typeface="+mn-ea"/>
                          <a:cs typeface="+mn-cs"/>
                        </a:rPr>
                        <a:t> include preconfigured disk images, disk snapshots, and networks. Some resources can be accessed only by resources that are located in the same region. These </a:t>
                      </a:r>
                      <a:r>
                        <a:rPr lang="en-US" sz="1800" b="0" i="1" kern="1200" dirty="0">
                          <a:solidFill>
                            <a:schemeClr val="tx1"/>
                          </a:solidFill>
                          <a:effectLst/>
                          <a:latin typeface="+mn-lt"/>
                          <a:ea typeface="+mn-ea"/>
                          <a:cs typeface="+mn-cs"/>
                        </a:rPr>
                        <a:t>regional resources</a:t>
                      </a:r>
                      <a:r>
                        <a:rPr lang="en-US" sz="1800" b="0" i="0" kern="1200" dirty="0">
                          <a:solidFill>
                            <a:schemeClr val="tx1"/>
                          </a:solidFill>
                          <a:effectLst/>
                          <a:latin typeface="+mn-lt"/>
                          <a:ea typeface="+mn-ea"/>
                          <a:cs typeface="+mn-cs"/>
                        </a:rPr>
                        <a:t> include static external IP addresses. Other resources can be accessed only by resources that are located in the same zone. These </a:t>
                      </a:r>
                      <a:r>
                        <a:rPr lang="en-US" sz="1800" b="0" i="1" kern="1200" dirty="0">
                          <a:solidFill>
                            <a:schemeClr val="tx1"/>
                          </a:solidFill>
                          <a:effectLst/>
                          <a:latin typeface="+mn-lt"/>
                          <a:ea typeface="+mn-ea"/>
                          <a:cs typeface="+mn-cs"/>
                        </a:rPr>
                        <a:t>zonal resources</a:t>
                      </a:r>
                      <a:r>
                        <a:rPr lang="en-US" sz="1800" b="0" i="0" kern="1200" dirty="0">
                          <a:solidFill>
                            <a:schemeClr val="tx1"/>
                          </a:solidFill>
                          <a:effectLst/>
                          <a:latin typeface="+mn-lt"/>
                          <a:ea typeface="+mn-ea"/>
                          <a:cs typeface="+mn-cs"/>
                        </a:rPr>
                        <a:t> include VM instances, their types, and disks.</a:t>
                      </a:r>
                      <a:endParaRPr lang="en-US" sz="1800" dirty="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114569495"/>
                  </a:ext>
                </a:extLst>
              </a:tr>
              <a:tr h="900461">
                <a:tc>
                  <a:txBody>
                    <a:bodyPr/>
                    <a:lstStyle/>
                    <a:p>
                      <a:r>
                        <a:rPr lang="en-US" sz="1800" b="1" i="0" kern="1200" dirty="0">
                          <a:solidFill>
                            <a:schemeClr val="tx1"/>
                          </a:solidFill>
                          <a:effectLst/>
                          <a:latin typeface="+mn-lt"/>
                          <a:ea typeface="+mn-ea"/>
                          <a:cs typeface="+mn-cs"/>
                        </a:rPr>
                        <a:t>Projects</a:t>
                      </a: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r>
                        <a:rPr lang="en-US" sz="1800" b="0" i="0" kern="1200" dirty="0">
                          <a:solidFill>
                            <a:schemeClr val="tx1"/>
                          </a:solidFill>
                          <a:effectLst/>
                          <a:latin typeface="+mn-lt"/>
                          <a:ea typeface="+mn-ea"/>
                          <a:cs typeface="+mn-cs"/>
                        </a:rPr>
                        <a:t>Any Google Cloud resources that you allocate and use must belong to a project. You can think of a project as the organizing entity for what you're building. A project is made up of the settings, permissions, and other metadata that describe your applications. Resources within a single project can work together easily, for example by communicating through an internal network, subject to the regions-and-zones rules. A project can't access another project's resources unless you use </a:t>
                      </a:r>
                      <a:r>
                        <a:rPr lang="en-US" sz="1800" b="0" i="0" kern="1200" dirty="0">
                          <a:solidFill>
                            <a:schemeClr val="tx1"/>
                          </a:solidFill>
                          <a:effectLst/>
                          <a:latin typeface="+mn-lt"/>
                          <a:ea typeface="+mn-ea"/>
                          <a:cs typeface="+mn-cs"/>
                          <a:hlinkClick r:id="rId2"/>
                        </a:rPr>
                        <a:t>Shared VPC</a:t>
                      </a:r>
                      <a:r>
                        <a:rPr lang="en-US" sz="1800" b="0" i="0" kern="1200" dirty="0">
                          <a:solidFill>
                            <a:schemeClr val="tx1"/>
                          </a:solidFill>
                          <a:effectLst/>
                          <a:latin typeface="+mn-lt"/>
                          <a:ea typeface="+mn-ea"/>
                          <a:cs typeface="+mn-cs"/>
                        </a:rPr>
                        <a:t> or </a:t>
                      </a:r>
                      <a:r>
                        <a:rPr lang="en-US" sz="1800" b="0" i="0" kern="1200" dirty="0">
                          <a:solidFill>
                            <a:schemeClr val="tx1"/>
                          </a:solidFill>
                          <a:effectLst/>
                          <a:latin typeface="+mn-lt"/>
                          <a:ea typeface="+mn-ea"/>
                          <a:cs typeface="+mn-cs"/>
                          <a:hlinkClick r:id="rId3"/>
                        </a:rPr>
                        <a:t>VPC Network Peering</a:t>
                      </a:r>
                      <a:r>
                        <a:rPr lang="en-US" sz="1800" b="0" i="0" kern="1200" dirty="0">
                          <a:solidFill>
                            <a:schemeClr val="tx1"/>
                          </a:solidFill>
                          <a:effectLst/>
                          <a:latin typeface="+mn-lt"/>
                          <a:ea typeface="+mn-ea"/>
                          <a:cs typeface="+mn-cs"/>
                        </a:rPr>
                        <a:t>.</a:t>
                      </a:r>
                      <a:endParaRPr lang="en-US" sz="1800" dirty="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069226491"/>
                  </a:ext>
                </a:extLst>
              </a:tr>
            </a:tbl>
          </a:graphicData>
        </a:graphic>
      </p:graphicFrame>
    </p:spTree>
    <p:extLst>
      <p:ext uri="{BB962C8B-B14F-4D97-AF65-F5344CB8AC3E}">
        <p14:creationId xmlns:p14="http://schemas.microsoft.com/office/powerpoint/2010/main" val="1136057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Concepts (end)</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95680312"/>
              </p:ext>
            </p:extLst>
          </p:nvPr>
        </p:nvGraphicFramePr>
        <p:xfrm>
          <a:off x="457198" y="1724149"/>
          <a:ext cx="8229602" cy="5005499"/>
        </p:xfrm>
        <a:graphic>
          <a:graphicData uri="http://schemas.openxmlformats.org/drawingml/2006/table">
            <a:tbl>
              <a:tblPr/>
              <a:tblGrid>
                <a:gridCol w="2146666">
                  <a:extLst>
                    <a:ext uri="{9D8B030D-6E8A-4147-A177-3AD203B41FA5}">
                      <a16:colId xmlns:a16="http://schemas.microsoft.com/office/drawing/2014/main" val="3942636399"/>
                    </a:ext>
                  </a:extLst>
                </a:gridCol>
                <a:gridCol w="6082936">
                  <a:extLst>
                    <a:ext uri="{9D8B030D-6E8A-4147-A177-3AD203B41FA5}">
                      <a16:colId xmlns:a16="http://schemas.microsoft.com/office/drawing/2014/main" val="4153244327"/>
                    </a:ext>
                  </a:extLst>
                </a:gridCol>
              </a:tblGrid>
              <a:tr h="1106137">
                <a:tc>
                  <a:txBody>
                    <a:bodyPr/>
                    <a:lstStyle/>
                    <a:p>
                      <a:r>
                        <a:rPr lang="en-US" sz="1800" b="1" i="0" kern="1200" dirty="0">
                          <a:solidFill>
                            <a:schemeClr val="tx1"/>
                          </a:solidFill>
                          <a:effectLst/>
                          <a:latin typeface="+mn-lt"/>
                          <a:ea typeface="+mn-ea"/>
                          <a:cs typeface="+mn-cs"/>
                        </a:rPr>
                        <a:t>Ways to interact with the services</a:t>
                      </a:r>
                    </a:p>
                  </a:txBody>
                  <a:tcPr marL="58882" marR="58882" marT="29441" marB="29441"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tc>
                  <a:txBody>
                    <a:bodyPr/>
                    <a:lstStyle/>
                    <a:p>
                      <a:r>
                        <a:rPr lang="en-US" sz="1800" b="1" i="0" kern="1200" dirty="0">
                          <a:solidFill>
                            <a:schemeClr val="tx1"/>
                          </a:solidFill>
                          <a:effectLst/>
                          <a:latin typeface="+mn-lt"/>
                          <a:ea typeface="+mn-ea"/>
                          <a:cs typeface="+mn-cs"/>
                        </a:rPr>
                        <a:t>Google Cloud Console</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mn-lt"/>
                          <a:ea typeface="+mn-ea"/>
                          <a:cs typeface="+mn-cs"/>
                        </a:rPr>
                        <a:t>Command-line interface</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mn-lt"/>
                          <a:ea typeface="+mn-ea"/>
                          <a:cs typeface="+mn-cs"/>
                        </a:rPr>
                        <a:t>Client libraries</a:t>
                      </a:r>
                    </a:p>
                  </a:txBody>
                  <a:tcPr marL="58882" marR="58882" marT="29441" marB="29441"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578250236"/>
                  </a:ext>
                </a:extLst>
              </a:tr>
              <a:tr h="94210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mn-lt"/>
                          <a:ea typeface="+mn-ea"/>
                          <a:cs typeface="+mn-cs"/>
                        </a:rPr>
                        <a:t>Client libraries</a:t>
                      </a:r>
                    </a:p>
                  </a:txBody>
                  <a:tcPr marL="58882" marR="58882" marT="29441" marB="29441"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r>
                        <a:rPr lang="en-US" sz="1800" b="0" i="0" kern="1200" dirty="0">
                          <a:solidFill>
                            <a:schemeClr val="tx1"/>
                          </a:solidFill>
                          <a:effectLst/>
                          <a:latin typeface="+mn-lt"/>
                          <a:ea typeface="+mn-ea"/>
                          <a:cs typeface="+mn-cs"/>
                        </a:rPr>
                        <a:t>Google Cloud provides </a:t>
                      </a:r>
                      <a:r>
                        <a:rPr lang="en-US" sz="1800" b="0" i="0" kern="1200" dirty="0">
                          <a:solidFill>
                            <a:schemeClr val="tx1"/>
                          </a:solidFill>
                          <a:effectLst/>
                          <a:latin typeface="+mn-lt"/>
                          <a:ea typeface="+mn-ea"/>
                          <a:cs typeface="+mn-cs"/>
                          <a:hlinkClick r:id="rId2"/>
                        </a:rPr>
                        <a:t>client libraries</a:t>
                      </a:r>
                      <a:r>
                        <a:rPr lang="en-US" sz="1800" b="0" i="0" kern="1200" dirty="0">
                          <a:solidFill>
                            <a:schemeClr val="tx1"/>
                          </a:solidFill>
                          <a:effectLst/>
                          <a:latin typeface="+mn-lt"/>
                          <a:ea typeface="+mn-ea"/>
                          <a:cs typeface="+mn-cs"/>
                        </a:rPr>
                        <a:t> that enable you to easily create and manage resources. Google Cloud client libraries expose APIs for two main purposes:</a:t>
                      </a:r>
                    </a:p>
                    <a:p>
                      <a:r>
                        <a:rPr lang="en-US" sz="1800" b="0" i="1" kern="1200" dirty="0">
                          <a:solidFill>
                            <a:schemeClr val="tx1"/>
                          </a:solidFill>
                          <a:effectLst/>
                          <a:latin typeface="+mn-lt"/>
                          <a:ea typeface="+mn-ea"/>
                          <a:cs typeface="+mn-cs"/>
                        </a:rPr>
                        <a:t>App APIs</a:t>
                      </a:r>
                      <a:r>
                        <a:rPr lang="en-US" sz="1800" b="0" i="0" kern="1200" dirty="0">
                          <a:solidFill>
                            <a:schemeClr val="tx1"/>
                          </a:solidFill>
                          <a:effectLst/>
                          <a:latin typeface="+mn-lt"/>
                          <a:ea typeface="+mn-ea"/>
                          <a:cs typeface="+mn-cs"/>
                        </a:rPr>
                        <a:t> provide access to services. App APIs are optimized for supported languages, such as Node.js and Python. The libraries are designed around service metaphors, so you can work with the services more naturally and write less boilerplate code. The libraries also provide helpers for </a:t>
                      </a:r>
                      <a:r>
                        <a:rPr lang="en-US" sz="1800" b="0" i="0" kern="1200" dirty="0">
                          <a:solidFill>
                            <a:schemeClr val="tx1"/>
                          </a:solidFill>
                          <a:effectLst/>
                          <a:latin typeface="+mn-lt"/>
                          <a:ea typeface="+mn-ea"/>
                          <a:cs typeface="+mn-cs"/>
                          <a:hlinkClick r:id="rId3"/>
                        </a:rPr>
                        <a:t>authentication and authorization</a:t>
                      </a:r>
                      <a:r>
                        <a:rPr lang="en-US" sz="1800" b="0" i="0" kern="1200" dirty="0">
                          <a:solidFill>
                            <a:schemeClr val="tx1"/>
                          </a:solidFill>
                          <a:effectLst/>
                          <a:latin typeface="+mn-lt"/>
                          <a:ea typeface="+mn-ea"/>
                          <a:cs typeface="+mn-cs"/>
                        </a:rPr>
                        <a:t>.</a:t>
                      </a:r>
                    </a:p>
                    <a:p>
                      <a:r>
                        <a:rPr lang="en-US" sz="1800" b="0" i="1" kern="1200" dirty="0">
                          <a:solidFill>
                            <a:schemeClr val="tx1"/>
                          </a:solidFill>
                          <a:effectLst/>
                          <a:latin typeface="+mn-lt"/>
                          <a:ea typeface="+mn-ea"/>
                          <a:cs typeface="+mn-cs"/>
                        </a:rPr>
                        <a:t>Admin APIs</a:t>
                      </a:r>
                      <a:r>
                        <a:rPr lang="en-US" sz="1800" b="0" i="0" kern="1200" dirty="0">
                          <a:solidFill>
                            <a:schemeClr val="tx1"/>
                          </a:solidFill>
                          <a:effectLst/>
                          <a:latin typeface="+mn-lt"/>
                          <a:ea typeface="+mn-ea"/>
                          <a:cs typeface="+mn-cs"/>
                        </a:rPr>
                        <a:t> offer functionality for resource management. For example, you can use admin APIs if you want to build your own automated tools.</a:t>
                      </a:r>
                    </a:p>
                    <a:p>
                      <a:r>
                        <a:rPr lang="en-US" sz="1800" b="0" i="0" kern="1200" dirty="0">
                          <a:solidFill>
                            <a:schemeClr val="tx1"/>
                          </a:solidFill>
                          <a:effectLst/>
                          <a:latin typeface="+mn-lt"/>
                          <a:ea typeface="+mn-ea"/>
                          <a:cs typeface="+mn-cs"/>
                        </a:rPr>
                        <a:t>You also can use the </a:t>
                      </a:r>
                      <a:r>
                        <a:rPr lang="en-US" sz="1800" b="0" i="0" kern="1200" dirty="0">
                          <a:solidFill>
                            <a:schemeClr val="tx1"/>
                          </a:solidFill>
                          <a:effectLst/>
                          <a:latin typeface="+mn-lt"/>
                          <a:ea typeface="+mn-ea"/>
                          <a:cs typeface="+mn-cs"/>
                          <a:hlinkClick r:id="rId4"/>
                        </a:rPr>
                        <a:t>Google API client libraries</a:t>
                      </a:r>
                      <a:r>
                        <a:rPr lang="en-US" sz="1800" b="0" i="0" kern="1200" dirty="0">
                          <a:solidFill>
                            <a:schemeClr val="tx1"/>
                          </a:solidFill>
                          <a:effectLst/>
                          <a:latin typeface="+mn-lt"/>
                          <a:ea typeface="+mn-ea"/>
                          <a:cs typeface="+mn-cs"/>
                        </a:rPr>
                        <a:t> to access APIs for products such as Maps, Drive, and YouTube.</a:t>
                      </a:r>
                    </a:p>
                  </a:txBody>
                  <a:tcPr marL="58882" marR="58882" marT="29441" marB="29441"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636874"/>
                  </a:ext>
                </a:extLst>
              </a:tr>
            </a:tbl>
          </a:graphicData>
        </a:graphic>
      </p:graphicFrame>
    </p:spTree>
    <p:extLst>
      <p:ext uri="{BB962C8B-B14F-4D97-AF65-F5344CB8AC3E}">
        <p14:creationId xmlns:p14="http://schemas.microsoft.com/office/powerpoint/2010/main" val="797085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79417"/>
          </a:xfrm>
        </p:spPr>
        <p:txBody>
          <a:bodyPr/>
          <a:lstStyle/>
          <a:p>
            <a:r>
              <a:rPr lang="en-US" dirty="0"/>
              <a:t>Regions and zones</a:t>
            </a:r>
          </a:p>
        </p:txBody>
      </p:sp>
      <p:sp>
        <p:nvSpPr>
          <p:cNvPr id="3" name="Content Placeholder 2"/>
          <p:cNvSpPr>
            <a:spLocks noGrp="1"/>
          </p:cNvSpPr>
          <p:nvPr>
            <p:ph idx="1"/>
          </p:nvPr>
        </p:nvSpPr>
        <p:spPr>
          <a:xfrm>
            <a:off x="132805" y="1558834"/>
            <a:ext cx="8878389" cy="3886200"/>
          </a:xfrm>
        </p:spPr>
        <p:txBody>
          <a:bodyPr/>
          <a:lstStyle/>
          <a:p>
            <a:r>
              <a:rPr lang="en-US" sz="2400" i="1" dirty="0"/>
              <a:t>Regions</a:t>
            </a:r>
            <a:r>
              <a:rPr lang="en-US" sz="2400" dirty="0"/>
              <a:t> are independent geographic areas that consist of </a:t>
            </a:r>
            <a:r>
              <a:rPr lang="en-US" sz="2400" i="1" dirty="0"/>
              <a:t>zones</a:t>
            </a:r>
            <a:r>
              <a:rPr lang="en-US" sz="2400" dirty="0"/>
              <a:t>. Zones and regions are logical abstractions of underlying physical resources provided in one or more physical data centers. These data centers may be owned by Google and listed on the </a:t>
            </a:r>
            <a:r>
              <a:rPr lang="en-US" sz="2400" dirty="0">
                <a:hlinkClick r:id="rId2"/>
              </a:rPr>
              <a:t>Google Cloud locations page</a:t>
            </a:r>
            <a:r>
              <a:rPr lang="en-US" sz="2400" dirty="0"/>
              <a:t>, or they may be leased from third-party data center providers.</a:t>
            </a:r>
          </a:p>
          <a:p>
            <a:r>
              <a:rPr lang="en-US" sz="2400" dirty="0"/>
              <a:t>A </a:t>
            </a:r>
            <a:r>
              <a:rPr lang="en-US" sz="2400" i="1" dirty="0"/>
              <a:t>zone</a:t>
            </a:r>
            <a:r>
              <a:rPr lang="en-US" sz="2400" dirty="0"/>
              <a:t> is a deployment area for Google Cloud resources within a region. Zones should be considered a single failure domain within a region. To deploy fault-tolerant applications with high availability and help protect against unexpected failures, deploy your applications across multiple zones in a region.</a:t>
            </a:r>
          </a:p>
        </p:txBody>
      </p:sp>
    </p:spTree>
    <p:extLst>
      <p:ext uri="{BB962C8B-B14F-4D97-AF65-F5344CB8AC3E}">
        <p14:creationId xmlns:p14="http://schemas.microsoft.com/office/powerpoint/2010/main" val="2186725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71154"/>
          </a:xfrm>
        </p:spPr>
        <p:txBody>
          <a:bodyPr/>
          <a:lstStyle/>
          <a:p>
            <a:pPr fontAlgn="ctr"/>
            <a:r>
              <a:rPr lang="en-US" dirty="0"/>
              <a:t>Cloud locations (17.04.2022)</a:t>
            </a:r>
          </a:p>
        </p:txBody>
      </p:sp>
      <p:pic>
        <p:nvPicPr>
          <p:cNvPr id="4" name="Picture 3"/>
          <p:cNvPicPr>
            <a:picLocks noChangeAspect="1"/>
          </p:cNvPicPr>
          <p:nvPr/>
        </p:nvPicPr>
        <p:blipFill>
          <a:blip r:embed="rId2"/>
          <a:stretch>
            <a:fillRect/>
          </a:stretch>
        </p:blipFill>
        <p:spPr>
          <a:xfrm>
            <a:off x="56453" y="1698171"/>
            <a:ext cx="9031094" cy="5029200"/>
          </a:xfrm>
          <a:prstGeom prst="rect">
            <a:avLst/>
          </a:prstGeom>
        </p:spPr>
      </p:pic>
    </p:spTree>
    <p:extLst>
      <p:ext uri="{BB962C8B-B14F-4D97-AF65-F5344CB8AC3E}">
        <p14:creationId xmlns:p14="http://schemas.microsoft.com/office/powerpoint/2010/main" val="989430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13954"/>
          </a:xfrm>
        </p:spPr>
        <p:txBody>
          <a:bodyPr/>
          <a:lstStyle/>
          <a:p>
            <a:r>
              <a:rPr lang="en-US" dirty="0"/>
              <a:t>Resources Types</a:t>
            </a:r>
          </a:p>
        </p:txBody>
      </p:sp>
      <p:sp>
        <p:nvSpPr>
          <p:cNvPr id="3" name="Content Placeholder 2"/>
          <p:cNvSpPr>
            <a:spLocks noGrp="1"/>
          </p:cNvSpPr>
          <p:nvPr>
            <p:ph idx="1"/>
          </p:nvPr>
        </p:nvSpPr>
        <p:spPr>
          <a:xfrm>
            <a:off x="100148" y="1145177"/>
            <a:ext cx="8943703" cy="3886200"/>
          </a:xfrm>
        </p:spPr>
        <p:txBody>
          <a:bodyPr/>
          <a:lstStyle/>
          <a:p>
            <a:r>
              <a:rPr lang="en-US" sz="2400" dirty="0"/>
              <a:t>Zonal resources - operate within a single zone. Zonal outages can affect some or all of the resources in that zone. An example of a zonal resource is a Compute Engine virtual machine (VM) instance that resides within a specific zone.</a:t>
            </a:r>
          </a:p>
          <a:p>
            <a:r>
              <a:rPr lang="en-US" sz="2400" dirty="0"/>
              <a:t>Regional resources - resources that are redundantly deployed across multiple zones within a region, for example App Engine applications, or regional managed instance groups. This gives them higher availability relative to zonal resources.</a:t>
            </a:r>
          </a:p>
          <a:p>
            <a:r>
              <a:rPr lang="en-US" sz="2400" dirty="0"/>
              <a:t>Multiregional resources - Multiple Google Cloud services are managed by Google to be redundant and distributed within and across regions. These services optimize availability, performance, and resource efficiency. As a result, these services require a trade-off between either latency or the consistency model. These trade-offs are documented on a product specific basis.</a:t>
            </a:r>
          </a:p>
        </p:txBody>
      </p:sp>
    </p:spTree>
    <p:extLst>
      <p:ext uri="{BB962C8B-B14F-4D97-AF65-F5344CB8AC3E}">
        <p14:creationId xmlns:p14="http://schemas.microsoft.com/office/powerpoint/2010/main" val="775433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1"/>
            <a:ext cx="8347166" cy="979714"/>
          </a:xfrm>
        </p:spPr>
        <p:txBody>
          <a:bodyPr/>
          <a:lstStyle/>
          <a:p>
            <a:r>
              <a:rPr lang="en-US" dirty="0"/>
              <a:t>Points of presence (POPs)</a:t>
            </a:r>
          </a:p>
        </p:txBody>
      </p:sp>
      <p:sp>
        <p:nvSpPr>
          <p:cNvPr id="3" name="Content Placeholder 2"/>
          <p:cNvSpPr>
            <a:spLocks noGrp="1"/>
          </p:cNvSpPr>
          <p:nvPr>
            <p:ph idx="1"/>
          </p:nvPr>
        </p:nvSpPr>
        <p:spPr>
          <a:xfrm>
            <a:off x="87086" y="1545771"/>
            <a:ext cx="8847908" cy="3886200"/>
          </a:xfrm>
        </p:spPr>
        <p:txBody>
          <a:bodyPr/>
          <a:lstStyle/>
          <a:p>
            <a:r>
              <a:rPr lang="en-US" sz="2800" dirty="0"/>
              <a:t>Google operates a global network of peering points of presence, which means that customer traffic can travel within the Google network until it's close to its destination, providing users with a better experience and better security. </a:t>
            </a:r>
          </a:p>
          <a:p>
            <a:r>
              <a:rPr lang="en-US" sz="2800" dirty="0"/>
              <a:t>Geographic management of data - Google understands that each customer might have unique security and compliance needs. When using regional or zonal storage resources, we strongly recommend that you replicate data to another region or snapshot it to a multiregional storage resource for disaster recovery purposes.</a:t>
            </a:r>
            <a:br>
              <a:rPr lang="en-US" sz="2800" dirty="0"/>
            </a:br>
            <a:endParaRPr lang="en-US" sz="2800" dirty="0"/>
          </a:p>
        </p:txBody>
      </p:sp>
    </p:spTree>
    <p:extLst>
      <p:ext uri="{BB962C8B-B14F-4D97-AF65-F5344CB8AC3E}">
        <p14:creationId xmlns:p14="http://schemas.microsoft.com/office/powerpoint/2010/main" val="4084756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9143999" cy="692331"/>
          </a:xfrm>
        </p:spPr>
        <p:txBody>
          <a:bodyPr/>
          <a:lstStyle/>
          <a:p>
            <a:r>
              <a:rPr lang="en-US" sz="4000" dirty="0"/>
              <a:t>Application deployment considerations</a:t>
            </a:r>
          </a:p>
        </p:txBody>
      </p:sp>
      <p:sp>
        <p:nvSpPr>
          <p:cNvPr id="3" name="Content Placeholder 2"/>
          <p:cNvSpPr>
            <a:spLocks noGrp="1"/>
          </p:cNvSpPr>
          <p:nvPr>
            <p:ph idx="1"/>
          </p:nvPr>
        </p:nvSpPr>
        <p:spPr>
          <a:xfrm>
            <a:off x="0" y="1284513"/>
            <a:ext cx="8961120" cy="3886200"/>
          </a:xfrm>
        </p:spPr>
        <p:txBody>
          <a:bodyPr/>
          <a:lstStyle/>
          <a:p>
            <a:r>
              <a:rPr lang="en-US" sz="2400" dirty="0"/>
              <a:t>To build highly available services and applications that can withstand zones becoming unavailable, use the following:</a:t>
            </a:r>
          </a:p>
          <a:p>
            <a:pPr lvl="1"/>
            <a:r>
              <a:rPr lang="en-US" sz="2400" dirty="0"/>
              <a:t>Regional resources, such as App Engine applications, regional managed instance groups, or managed multiregional resources such as Cloud Storage, </a:t>
            </a:r>
            <a:r>
              <a:rPr lang="en-US" sz="2400" dirty="0" err="1"/>
              <a:t>Datastore</a:t>
            </a:r>
            <a:r>
              <a:rPr lang="en-US" sz="2400" dirty="0"/>
              <a:t>, </a:t>
            </a:r>
            <a:r>
              <a:rPr lang="en-US" sz="2400" dirty="0" err="1"/>
              <a:t>Firestore</a:t>
            </a:r>
            <a:r>
              <a:rPr lang="en-US" sz="2400" dirty="0"/>
              <a:t>, or Spanner.</a:t>
            </a:r>
          </a:p>
          <a:p>
            <a:pPr lvl="1"/>
            <a:r>
              <a:rPr lang="en-US" sz="2400" dirty="0"/>
              <a:t>Zonal resources, such as Compute Engine virtual machines, but manage your own compute and storage redundancy across zones or across regions. Edge Zones are small-footprint extensions of Azure placed in population centers that are far from Azure regions. Azure public MEC (multi-access edge compute) integrates Azure compute and services with mobile operator 5G connectivity for low-latency applications at the operator edge.</a:t>
            </a:r>
          </a:p>
        </p:txBody>
      </p:sp>
    </p:spTree>
    <p:extLst>
      <p:ext uri="{BB962C8B-B14F-4D97-AF65-F5344CB8AC3E}">
        <p14:creationId xmlns:p14="http://schemas.microsoft.com/office/powerpoint/2010/main" val="1881678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047" y="457200"/>
            <a:ext cx="8804364" cy="1371600"/>
          </a:xfrm>
        </p:spPr>
        <p:txBody>
          <a:bodyPr/>
          <a:lstStyle/>
          <a:p>
            <a:r>
              <a:rPr lang="en-US" sz="4000" dirty="0"/>
              <a:t>For compute, use the following strategy:</a:t>
            </a:r>
          </a:p>
        </p:txBody>
      </p:sp>
      <p:sp>
        <p:nvSpPr>
          <p:cNvPr id="3" name="Content Placeholder 2"/>
          <p:cNvSpPr>
            <a:spLocks noGrp="1"/>
          </p:cNvSpPr>
          <p:nvPr>
            <p:ph idx="1"/>
          </p:nvPr>
        </p:nvSpPr>
        <p:spPr>
          <a:xfrm>
            <a:off x="309155" y="2120537"/>
            <a:ext cx="8229600" cy="3886200"/>
          </a:xfrm>
        </p:spPr>
        <p:txBody>
          <a:bodyPr/>
          <a:lstStyle/>
          <a:p>
            <a:r>
              <a:rPr lang="en-US" dirty="0"/>
              <a:t>Use zonal or regional resources, such as Compute Engine or App Engine, but manually or automatically bring up your application in another region (on regional failure) referring to copies of your primary data if the data is not already in a managed, multiregional resource.</a:t>
            </a:r>
          </a:p>
        </p:txBody>
      </p:sp>
    </p:spTree>
    <p:extLst>
      <p:ext uri="{BB962C8B-B14F-4D97-AF65-F5344CB8AC3E}">
        <p14:creationId xmlns:p14="http://schemas.microsoft.com/office/powerpoint/2010/main" val="2371304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62297"/>
          </a:xfrm>
        </p:spPr>
        <p:txBody>
          <a:bodyPr/>
          <a:lstStyle/>
          <a:p>
            <a:r>
              <a:rPr lang="en-US" dirty="0"/>
              <a:t>Billing </a:t>
            </a:r>
          </a:p>
        </p:txBody>
      </p:sp>
      <p:sp>
        <p:nvSpPr>
          <p:cNvPr id="3" name="Content Placeholder 2"/>
          <p:cNvSpPr>
            <a:spLocks noGrp="1"/>
          </p:cNvSpPr>
          <p:nvPr>
            <p:ph idx="1"/>
          </p:nvPr>
        </p:nvSpPr>
        <p:spPr>
          <a:xfrm>
            <a:off x="143692" y="1301932"/>
            <a:ext cx="8852262" cy="3886200"/>
          </a:xfrm>
        </p:spPr>
        <p:txBody>
          <a:bodyPr/>
          <a:lstStyle/>
          <a:p>
            <a:r>
              <a:rPr lang="en-US" sz="2800" dirty="0"/>
              <a:t>A Cloud Billing account defines who pays for a given set of Google Cloud resources. To use Google Cloud services, you must have a valid Cloud Billing account, and must link it to your Google Cloud projects. Your project's Google Cloud usage is charged to the linked Cloud Billing account.</a:t>
            </a:r>
          </a:p>
          <a:p>
            <a:r>
              <a:rPr lang="en-US" sz="2800" dirty="0"/>
              <a:t>You must have a valid Cloud Billing account even if you are in your free trial period or if you only use Google Cloud resources that are covered by the Google Cloud Free Tier.</a:t>
            </a:r>
          </a:p>
          <a:p>
            <a:r>
              <a:rPr lang="en-US" sz="2800" dirty="0"/>
              <a:t>You also need a Cloud Billing account to pay for your use of the Google Maps Platform APIs</a:t>
            </a:r>
          </a:p>
        </p:txBody>
      </p:sp>
    </p:spTree>
    <p:extLst>
      <p:ext uri="{BB962C8B-B14F-4D97-AF65-F5344CB8AC3E}">
        <p14:creationId xmlns:p14="http://schemas.microsoft.com/office/powerpoint/2010/main" val="942190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62594"/>
          </a:xfrm>
        </p:spPr>
        <p:txBody>
          <a:bodyPr/>
          <a:lstStyle/>
          <a:p>
            <a:r>
              <a:rPr lang="en-US" dirty="0"/>
              <a:t>Google Cloud Free Program</a:t>
            </a:r>
          </a:p>
        </p:txBody>
      </p:sp>
      <p:sp>
        <p:nvSpPr>
          <p:cNvPr id="3" name="Content Placeholder 2"/>
          <p:cNvSpPr>
            <a:spLocks noGrp="1"/>
          </p:cNvSpPr>
          <p:nvPr>
            <p:ph idx="1"/>
          </p:nvPr>
        </p:nvSpPr>
        <p:spPr>
          <a:xfrm>
            <a:off x="108857" y="1685109"/>
            <a:ext cx="8926286" cy="3886200"/>
          </a:xfrm>
        </p:spPr>
        <p:txBody>
          <a:bodyPr/>
          <a:lstStyle/>
          <a:p>
            <a:r>
              <a:rPr lang="en-US" sz="2400" dirty="0"/>
              <a:t>90-day, $300 Free Trial: New Google Cloud and Google Maps Platform users can take advantage of a 90-day trial period that includes $300 in free Cloud Billing credits to explore and evaluate Google Cloud and Google Maps Platform products and services. You can use these credits toward one or a combination of products.</a:t>
            </a:r>
          </a:p>
          <a:p>
            <a:r>
              <a:rPr lang="en-US" sz="2400" dirty="0"/>
              <a:t>Free Tier: All Google Cloud customers can use select Google Cloud products—like Compute Engine, Cloud Storage, and </a:t>
            </a:r>
            <a:r>
              <a:rPr lang="en-US" sz="2400" dirty="0" err="1"/>
              <a:t>BigQuery</a:t>
            </a:r>
            <a:r>
              <a:rPr lang="en-US" sz="2400" dirty="0"/>
              <a:t>—free of charge, within specified monthly usage limits. When you stay within the Free Tier limits, these resources are not charged against your Free Trial credits or to your Cloud Billing account's payment method after your trial ends.</a:t>
            </a:r>
          </a:p>
        </p:txBody>
      </p:sp>
    </p:spTree>
    <p:extLst>
      <p:ext uri="{BB962C8B-B14F-4D97-AF65-F5344CB8AC3E}">
        <p14:creationId xmlns:p14="http://schemas.microsoft.com/office/powerpoint/2010/main" val="127901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Free Trial 90-day, $300</a:t>
            </a:r>
          </a:p>
        </p:txBody>
      </p:sp>
      <p:sp>
        <p:nvSpPr>
          <p:cNvPr id="3" name="Content Placeholder 2"/>
          <p:cNvSpPr>
            <a:spLocks noGrp="1"/>
          </p:cNvSpPr>
          <p:nvPr>
            <p:ph idx="1"/>
          </p:nvPr>
        </p:nvSpPr>
        <p:spPr>
          <a:xfrm>
            <a:off x="209006" y="1476103"/>
            <a:ext cx="8769531" cy="3886200"/>
          </a:xfrm>
        </p:spPr>
        <p:txBody>
          <a:bodyPr/>
          <a:lstStyle/>
          <a:p>
            <a:r>
              <a:rPr lang="en-US" sz="2800" dirty="0"/>
              <a:t>You've never been a paying customer of Google Cloud, Google Maps Platform, or Firebase.</a:t>
            </a:r>
          </a:p>
          <a:p>
            <a:r>
              <a:rPr lang="en-US" sz="2800" dirty="0"/>
              <a:t>You haven't previously signed up for the Free Trial.</a:t>
            </a:r>
          </a:p>
          <a:p>
            <a:r>
              <a:rPr lang="en-US" sz="2800" dirty="0"/>
              <a:t>You can't add GPUs to your VM instances.</a:t>
            </a:r>
          </a:p>
          <a:p>
            <a:r>
              <a:rPr lang="en-US" sz="2800" dirty="0"/>
              <a:t>You can't request a quota increase. For an overview of Compute Engine quotas, see Resource quotas.</a:t>
            </a:r>
          </a:p>
          <a:p>
            <a:r>
              <a:rPr lang="en-US" sz="2800" dirty="0"/>
              <a:t>You can't create VM instances that are based on Windows Server images.</a:t>
            </a:r>
          </a:p>
          <a:p>
            <a:r>
              <a:rPr lang="en-US" sz="2800" dirty="0"/>
              <a:t>You can't create Google Cloud VMware Engine resources.</a:t>
            </a:r>
          </a:p>
        </p:txBody>
      </p:sp>
    </p:spTree>
    <p:extLst>
      <p:ext uri="{BB962C8B-B14F-4D97-AF65-F5344CB8AC3E}">
        <p14:creationId xmlns:p14="http://schemas.microsoft.com/office/powerpoint/2010/main" val="1707378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66503"/>
          </a:xfrm>
        </p:spPr>
        <p:txBody>
          <a:bodyPr/>
          <a:lstStyle/>
          <a:p>
            <a:r>
              <a:rPr lang="en-US" dirty="0"/>
              <a:t>Free Tier</a:t>
            </a:r>
          </a:p>
        </p:txBody>
      </p:sp>
      <p:sp>
        <p:nvSpPr>
          <p:cNvPr id="3" name="Content Placeholder 2"/>
          <p:cNvSpPr>
            <a:spLocks noGrp="1"/>
          </p:cNvSpPr>
          <p:nvPr>
            <p:ph idx="1"/>
          </p:nvPr>
        </p:nvSpPr>
        <p:spPr>
          <a:xfrm>
            <a:off x="108856" y="1336765"/>
            <a:ext cx="8817429" cy="5377543"/>
          </a:xfrm>
        </p:spPr>
        <p:txBody>
          <a:bodyPr/>
          <a:lstStyle/>
          <a:p>
            <a:r>
              <a:rPr lang="en-US" sz="2800" dirty="0"/>
              <a:t>The Free Tier provides limited access to many common Google Cloud products and services free of charge. Unlike the Free Trial, the Free Tier is available to all Google Cloud users.</a:t>
            </a:r>
          </a:p>
          <a:p>
            <a:r>
              <a:rPr lang="en-US" sz="2800" dirty="0"/>
              <a:t>Free Tier resources are provided at intervals, usually monthly. Free Tier resources are not credits; they don't accumulate or roll over from one interval to the next.</a:t>
            </a:r>
          </a:p>
          <a:p>
            <a:r>
              <a:rPr lang="en-US" sz="2800" dirty="0"/>
              <a:t>Any usage above Free Tier usage limits is automatically billed at standard rates.</a:t>
            </a:r>
          </a:p>
        </p:txBody>
      </p:sp>
    </p:spTree>
    <p:extLst>
      <p:ext uri="{BB962C8B-B14F-4D97-AF65-F5344CB8AC3E}">
        <p14:creationId xmlns:p14="http://schemas.microsoft.com/office/powerpoint/2010/main" val="2196182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GCP Regions</a:t>
            </a:r>
          </a:p>
        </p:txBody>
      </p:sp>
      <p:sp>
        <p:nvSpPr>
          <p:cNvPr id="3" name="Content Placeholder 2"/>
          <p:cNvSpPr>
            <a:spLocks noGrp="1"/>
          </p:cNvSpPr>
          <p:nvPr>
            <p:ph idx="1"/>
          </p:nvPr>
        </p:nvSpPr>
        <p:spPr>
          <a:xfrm>
            <a:off x="457200" y="1981199"/>
            <a:ext cx="8229600" cy="4349931"/>
          </a:xfrm>
        </p:spPr>
        <p:txBody>
          <a:bodyPr/>
          <a:lstStyle/>
          <a:p>
            <a:r>
              <a:rPr lang="en-US" dirty="0"/>
              <a:t>North America</a:t>
            </a:r>
          </a:p>
          <a:p>
            <a:r>
              <a:rPr lang="en-US" dirty="0"/>
              <a:t>South America</a:t>
            </a:r>
          </a:p>
          <a:p>
            <a:r>
              <a:rPr lang="en-US" dirty="0"/>
              <a:t>Europe</a:t>
            </a:r>
          </a:p>
          <a:p>
            <a:r>
              <a:rPr lang="en-US" dirty="0"/>
              <a:t>Middle East</a:t>
            </a:r>
          </a:p>
          <a:p>
            <a:r>
              <a:rPr lang="en-US" dirty="0"/>
              <a:t>Asia Pacific</a:t>
            </a:r>
          </a:p>
          <a:p>
            <a:r>
              <a:rPr lang="en-US" dirty="0"/>
              <a:t>Oceania</a:t>
            </a:r>
          </a:p>
          <a:p>
            <a:r>
              <a:rPr lang="en-US" dirty="0"/>
              <a:t>Africa</a:t>
            </a:r>
          </a:p>
        </p:txBody>
      </p:sp>
    </p:spTree>
    <p:extLst>
      <p:ext uri="{BB962C8B-B14F-4D97-AF65-F5344CB8AC3E}">
        <p14:creationId xmlns:p14="http://schemas.microsoft.com/office/powerpoint/2010/main" val="2102217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92629"/>
          </a:xfrm>
        </p:spPr>
        <p:txBody>
          <a:bodyPr/>
          <a:lstStyle/>
          <a:p>
            <a:r>
              <a:rPr lang="en-US" dirty="0"/>
              <a:t>GCP in Europe (17.04.2022)</a:t>
            </a:r>
          </a:p>
        </p:txBody>
      </p:sp>
      <p:sp>
        <p:nvSpPr>
          <p:cNvPr id="3" name="Content Placeholder 2"/>
          <p:cNvSpPr>
            <a:spLocks noGrp="1"/>
          </p:cNvSpPr>
          <p:nvPr>
            <p:ph idx="1"/>
          </p:nvPr>
        </p:nvSpPr>
        <p:spPr>
          <a:xfrm>
            <a:off x="248193" y="1611087"/>
            <a:ext cx="4959532" cy="4942114"/>
          </a:xfrm>
        </p:spPr>
        <p:txBody>
          <a:bodyPr/>
          <a:lstStyle/>
          <a:p>
            <a:r>
              <a:rPr lang="en-US" sz="2400" dirty="0"/>
              <a:t>Amsterdam, Netherlands (5)</a:t>
            </a:r>
          </a:p>
          <a:p>
            <a:r>
              <a:rPr lang="en-US" sz="2400" dirty="0"/>
              <a:t>Budapest, Hungary</a:t>
            </a:r>
          </a:p>
          <a:p>
            <a:r>
              <a:rPr lang="en-US" sz="2400" dirty="0"/>
              <a:t>Bucharest, Romania</a:t>
            </a:r>
          </a:p>
          <a:p>
            <a:r>
              <a:rPr lang="en-US" sz="2400" dirty="0"/>
              <a:t>Dublin, Ireland (2)</a:t>
            </a:r>
          </a:p>
          <a:p>
            <a:r>
              <a:rPr lang="en-US" sz="2400" dirty="0"/>
              <a:t>Frankfurt, Germany (2)</a:t>
            </a:r>
          </a:p>
          <a:p>
            <a:r>
              <a:rPr lang="en-US" sz="2400" dirty="0"/>
              <a:t>Hamburg, Germany (3)</a:t>
            </a:r>
          </a:p>
          <a:p>
            <a:r>
              <a:rPr lang="en-US" sz="2400" dirty="0"/>
              <a:t>Kiev, Ukraine (3)</a:t>
            </a:r>
          </a:p>
          <a:p>
            <a:r>
              <a:rPr lang="en-US" sz="2400" dirty="0"/>
              <a:t>Lisbon, Portugal</a:t>
            </a:r>
          </a:p>
          <a:p>
            <a:r>
              <a:rPr lang="en-US" sz="2400" dirty="0"/>
              <a:t>London, UK (7)</a:t>
            </a:r>
          </a:p>
          <a:p>
            <a:r>
              <a:rPr lang="en-US" sz="2400" dirty="0"/>
              <a:t>Madrid, Spain (2)</a:t>
            </a:r>
          </a:p>
          <a:p>
            <a:r>
              <a:rPr lang="en-US" sz="2400" dirty="0"/>
              <a:t>Marseille, France </a:t>
            </a:r>
          </a:p>
          <a:p>
            <a:pPr marL="0" indent="0">
              <a:buNone/>
            </a:pPr>
            <a:endParaRPr lang="en-US" sz="2400" dirty="0"/>
          </a:p>
        </p:txBody>
      </p:sp>
      <p:sp>
        <p:nvSpPr>
          <p:cNvPr id="4" name="Content Placeholder 2"/>
          <p:cNvSpPr txBox="1">
            <a:spLocks/>
          </p:cNvSpPr>
          <p:nvPr/>
        </p:nvSpPr>
        <p:spPr bwMode="auto">
          <a:xfrm>
            <a:off x="4667795" y="1611087"/>
            <a:ext cx="4476206" cy="4942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2971" indent="-228594"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160" indent="-228594"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349" indent="-228594"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537"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726"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8914"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103"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9pPr>
          </a:lstStyle>
          <a:p>
            <a:r>
              <a:rPr lang="en-US" sz="2400" kern="0" dirty="0"/>
              <a:t>Milan, Italy (2)</a:t>
            </a:r>
          </a:p>
          <a:p>
            <a:r>
              <a:rPr lang="en-US" sz="2400" kern="0" dirty="0"/>
              <a:t>Munich, Germany</a:t>
            </a:r>
          </a:p>
          <a:p>
            <a:r>
              <a:rPr lang="en-US" sz="2400" kern="0" dirty="0"/>
              <a:t>Moscow, Russia (3)</a:t>
            </a:r>
          </a:p>
          <a:p>
            <a:r>
              <a:rPr lang="en-US" sz="2400" kern="0" dirty="0"/>
              <a:t>Paris, France (8)</a:t>
            </a:r>
          </a:p>
          <a:p>
            <a:r>
              <a:rPr lang="en-US" sz="2400" kern="0" dirty="0"/>
              <a:t>Prague, Czech Republic</a:t>
            </a:r>
          </a:p>
          <a:p>
            <a:r>
              <a:rPr lang="en-US" sz="2400" kern="0" dirty="0"/>
              <a:t>Rome, Italy</a:t>
            </a:r>
          </a:p>
          <a:p>
            <a:r>
              <a:rPr lang="en-US" sz="2400" kern="0" dirty="0"/>
              <a:t>Saint Petersburg, Russia (2)</a:t>
            </a:r>
          </a:p>
          <a:p>
            <a:r>
              <a:rPr lang="en-US" sz="2400" b="1" kern="0" dirty="0"/>
              <a:t>Sofia, Bulgaria</a:t>
            </a:r>
          </a:p>
          <a:p>
            <a:r>
              <a:rPr lang="en-US" sz="2400" kern="0" dirty="0"/>
              <a:t>Stockholm, Sweden (3)</a:t>
            </a:r>
          </a:p>
          <a:p>
            <a:r>
              <a:rPr lang="en-US" sz="2400" kern="0" dirty="0"/>
              <a:t>Warsaw, Poland (2)</a:t>
            </a:r>
          </a:p>
          <a:p>
            <a:r>
              <a:rPr lang="en-US" sz="2400" kern="0" dirty="0"/>
              <a:t>Zagreb, Croatia</a:t>
            </a:r>
          </a:p>
          <a:p>
            <a:r>
              <a:rPr lang="en-US" sz="2400" kern="0" dirty="0"/>
              <a:t>Zürich, Switzerland (4)</a:t>
            </a:r>
          </a:p>
        </p:txBody>
      </p:sp>
    </p:spTree>
    <p:extLst>
      <p:ext uri="{BB962C8B-B14F-4D97-AF65-F5344CB8AC3E}">
        <p14:creationId xmlns:p14="http://schemas.microsoft.com/office/powerpoint/2010/main" val="1923920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49236"/>
          </a:xfrm>
        </p:spPr>
        <p:txBody>
          <a:bodyPr/>
          <a:lstStyle/>
          <a:p>
            <a:r>
              <a:rPr lang="en-US" dirty="0"/>
              <a:t>Google Data Centers</a:t>
            </a:r>
          </a:p>
        </p:txBody>
      </p:sp>
      <p:sp>
        <p:nvSpPr>
          <p:cNvPr id="5" name="Content Placeholder 4"/>
          <p:cNvSpPr>
            <a:spLocks noGrp="1"/>
          </p:cNvSpPr>
          <p:nvPr>
            <p:ph idx="1"/>
          </p:nvPr>
        </p:nvSpPr>
        <p:spPr>
          <a:xfrm>
            <a:off x="150222" y="1406436"/>
            <a:ext cx="8843555" cy="2662646"/>
          </a:xfrm>
        </p:spPr>
        <p:txBody>
          <a:bodyPr/>
          <a:lstStyle/>
          <a:p>
            <a:r>
              <a:rPr lang="en-US" sz="2200" dirty="0"/>
              <a:t>Google owns and operates data centers all over the world, helping to keep the internet humming 24/7. Learn how our relentless focus on innovation has made our data centers some of the most high-performing, secure, reliable, and efficient data centers in the world.</a:t>
            </a:r>
          </a:p>
          <a:p>
            <a:r>
              <a:rPr lang="en-US" sz="2200" dirty="0"/>
              <a:t>2007: We became the first major company to be carbon neutral for our operations.</a:t>
            </a:r>
          </a:p>
          <a:p>
            <a:r>
              <a:rPr lang="en-US" sz="2200" dirty="0"/>
              <a:t>2017: We became the first major company to match 100% of our annual electricity use with renewable energy, which we’ve achieved for four consecutive years.</a:t>
            </a:r>
          </a:p>
          <a:p>
            <a:r>
              <a:rPr lang="en-US" sz="2200" dirty="0"/>
              <a:t>2020: We issued $5.75 billion in sustainability bonds—the largest sustainability or green bond issuance by any company in history.</a:t>
            </a:r>
          </a:p>
          <a:p>
            <a:r>
              <a:rPr lang="en-US" sz="2200" dirty="0"/>
              <a:t>2020: We compensated for our legacy carbon footprint, making Google the first major company to be carbon neutral for its entire operating history</a:t>
            </a:r>
          </a:p>
        </p:txBody>
      </p:sp>
    </p:spTree>
    <p:extLst>
      <p:ext uri="{BB962C8B-B14F-4D97-AF65-F5344CB8AC3E}">
        <p14:creationId xmlns:p14="http://schemas.microsoft.com/office/powerpoint/2010/main" val="3979234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Locations</a:t>
            </a:r>
          </a:p>
        </p:txBody>
      </p:sp>
      <p:pic>
        <p:nvPicPr>
          <p:cNvPr id="4" name="Content Placeholder 3"/>
          <p:cNvPicPr>
            <a:picLocks noGrp="1" noChangeAspect="1"/>
          </p:cNvPicPr>
          <p:nvPr>
            <p:ph idx="1"/>
          </p:nvPr>
        </p:nvPicPr>
        <p:blipFill>
          <a:blip r:embed="rId2"/>
          <a:stretch>
            <a:fillRect/>
          </a:stretch>
        </p:blipFill>
        <p:spPr>
          <a:xfrm>
            <a:off x="273167" y="1828800"/>
            <a:ext cx="8755020" cy="4990441"/>
          </a:xfrm>
          <a:prstGeom prst="rect">
            <a:avLst/>
          </a:prstGeom>
        </p:spPr>
      </p:pic>
    </p:spTree>
    <p:extLst>
      <p:ext uri="{BB962C8B-B14F-4D97-AF65-F5344CB8AC3E}">
        <p14:creationId xmlns:p14="http://schemas.microsoft.com/office/powerpoint/2010/main" val="1419817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lstStyle/>
          <a:p>
            <a:r>
              <a:rPr lang="en-US" dirty="0"/>
              <a:t>Networks</a:t>
            </a:r>
          </a:p>
        </p:txBody>
      </p:sp>
      <p:sp>
        <p:nvSpPr>
          <p:cNvPr id="3" name="Content Placeholder 2"/>
          <p:cNvSpPr>
            <a:spLocks noGrp="1"/>
          </p:cNvSpPr>
          <p:nvPr>
            <p:ph idx="1"/>
          </p:nvPr>
        </p:nvSpPr>
        <p:spPr>
          <a:xfrm>
            <a:off x="137160" y="1088572"/>
            <a:ext cx="8869680" cy="3886200"/>
          </a:xfrm>
        </p:spPr>
        <p:txBody>
          <a:bodyPr/>
          <a:lstStyle/>
          <a:p>
            <a:r>
              <a:rPr lang="en-US" sz="2800" dirty="0"/>
              <a:t>14 Subsea cables</a:t>
            </a:r>
          </a:p>
          <a:p>
            <a:r>
              <a:rPr lang="en-US" sz="2800" dirty="0"/>
              <a:t>146 network edge locations and CDN to deliver the content. This is the same network that also powers Google Search, Maps, Gmail, and YouTube. </a:t>
            </a:r>
          </a:p>
          <a:p>
            <a:r>
              <a:rPr lang="en-US" sz="2800" dirty="0"/>
              <a:t>100s of 1000s of miles of fiber optic cable</a:t>
            </a:r>
          </a:p>
          <a:p>
            <a:r>
              <a:rPr lang="en-US" sz="2800" b="1" dirty="0"/>
              <a:t>Google network infrastructure consists of three main types of networks: </a:t>
            </a:r>
            <a:endParaRPr lang="en-US" sz="2800" dirty="0"/>
          </a:p>
          <a:p>
            <a:pPr lvl="1"/>
            <a:r>
              <a:rPr lang="en-US" sz="2400" dirty="0"/>
              <a:t>Data center network, which connects all the machines in the network together.</a:t>
            </a:r>
          </a:p>
          <a:p>
            <a:pPr lvl="1"/>
            <a:r>
              <a:rPr lang="en-US" sz="2400" dirty="0"/>
              <a:t>Software-based private network WAN connects all data centers together </a:t>
            </a:r>
          </a:p>
          <a:p>
            <a:pPr lvl="1"/>
            <a:r>
              <a:rPr lang="en-US" sz="2400" dirty="0"/>
              <a:t>Software defined public WAN for user-facing traffic entering the Google network </a:t>
            </a:r>
            <a:r>
              <a:rPr lang="en-US" dirty="0"/>
              <a:t> </a:t>
            </a:r>
          </a:p>
        </p:txBody>
      </p:sp>
    </p:spTree>
    <p:extLst>
      <p:ext uri="{BB962C8B-B14F-4D97-AF65-F5344CB8AC3E}">
        <p14:creationId xmlns:p14="http://schemas.microsoft.com/office/powerpoint/2010/main" val="2169271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57942"/>
          </a:xfrm>
        </p:spPr>
        <p:txBody>
          <a:bodyPr/>
          <a:lstStyle/>
          <a:p>
            <a:r>
              <a:rPr lang="en-US" dirty="0"/>
              <a:t>Categories</a:t>
            </a:r>
          </a:p>
        </p:txBody>
      </p:sp>
      <p:sp>
        <p:nvSpPr>
          <p:cNvPr id="3" name="Content Placeholder 2"/>
          <p:cNvSpPr>
            <a:spLocks noGrp="1"/>
          </p:cNvSpPr>
          <p:nvPr>
            <p:ph idx="1"/>
          </p:nvPr>
        </p:nvSpPr>
        <p:spPr>
          <a:xfrm>
            <a:off x="396240" y="1415142"/>
            <a:ext cx="3226526" cy="5342709"/>
          </a:xfrm>
        </p:spPr>
        <p:txBody>
          <a:bodyPr/>
          <a:lstStyle/>
          <a:p>
            <a:r>
              <a:rPr lang="en-US" sz="2400" dirty="0"/>
              <a:t>AI and Machine Learning</a:t>
            </a:r>
          </a:p>
          <a:p>
            <a:r>
              <a:rPr lang="en-US" sz="2400" dirty="0"/>
              <a:t>API Management</a:t>
            </a:r>
          </a:p>
          <a:p>
            <a:r>
              <a:rPr lang="en-US" sz="2400" dirty="0"/>
              <a:t>Compute</a:t>
            </a:r>
          </a:p>
          <a:p>
            <a:r>
              <a:rPr lang="en-US" sz="2400" dirty="0"/>
              <a:t>Containers</a:t>
            </a:r>
          </a:p>
          <a:p>
            <a:r>
              <a:rPr lang="en-US" sz="2400" dirty="0"/>
              <a:t>Data Analytics</a:t>
            </a:r>
          </a:p>
          <a:p>
            <a:r>
              <a:rPr lang="en-US" sz="2400" dirty="0"/>
              <a:t>Databases</a:t>
            </a:r>
          </a:p>
          <a:p>
            <a:r>
              <a:rPr lang="en-US" sz="2400" dirty="0"/>
              <a:t>Developer Tools</a:t>
            </a:r>
          </a:p>
          <a:p>
            <a:r>
              <a:rPr lang="en-US" sz="2400" dirty="0"/>
              <a:t>Healthcare and Life Sciences tools</a:t>
            </a:r>
          </a:p>
          <a:p>
            <a:endParaRPr lang="en-US" sz="2400" dirty="0"/>
          </a:p>
        </p:txBody>
      </p:sp>
      <p:sp>
        <p:nvSpPr>
          <p:cNvPr id="5" name="Content Placeholder 2"/>
          <p:cNvSpPr txBox="1">
            <a:spLocks/>
          </p:cNvSpPr>
          <p:nvPr/>
        </p:nvSpPr>
        <p:spPr bwMode="auto">
          <a:xfrm>
            <a:off x="4450081" y="1415141"/>
            <a:ext cx="4343400" cy="5342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2971" indent="-228594"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160" indent="-228594"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349" indent="-228594"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537"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726"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8914"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103"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9pPr>
          </a:lstStyle>
          <a:p>
            <a:r>
              <a:rPr lang="en-US" sz="2400" kern="0" dirty="0"/>
              <a:t>Hybrid and </a:t>
            </a:r>
            <a:r>
              <a:rPr lang="en-US" sz="2400" kern="0" dirty="0" err="1"/>
              <a:t>Multicloud</a:t>
            </a:r>
            <a:endParaRPr lang="en-US" sz="2400" kern="0" dirty="0"/>
          </a:p>
          <a:p>
            <a:r>
              <a:rPr lang="en-US" sz="2400" kern="0" dirty="0"/>
              <a:t>Internet of Things (</a:t>
            </a:r>
            <a:r>
              <a:rPr lang="en-US" sz="2400" kern="0" dirty="0" err="1"/>
              <a:t>IoT</a:t>
            </a:r>
            <a:r>
              <a:rPr lang="en-US" sz="2400" kern="0" dirty="0"/>
              <a:t>)</a:t>
            </a:r>
          </a:p>
          <a:p>
            <a:r>
              <a:rPr lang="en-US" sz="2400" kern="0" dirty="0"/>
              <a:t>Management Tools</a:t>
            </a:r>
          </a:p>
          <a:p>
            <a:r>
              <a:rPr lang="en-US" sz="2400" kern="0" dirty="0"/>
              <a:t>Media and Gaming</a:t>
            </a:r>
          </a:p>
          <a:p>
            <a:r>
              <a:rPr lang="en-US" sz="2400" kern="0" dirty="0"/>
              <a:t>Migration</a:t>
            </a:r>
          </a:p>
          <a:p>
            <a:r>
              <a:rPr lang="en-US" sz="2400" kern="0" dirty="0"/>
              <a:t>Networking</a:t>
            </a:r>
          </a:p>
          <a:p>
            <a:r>
              <a:rPr lang="en-US" sz="2400" kern="0" dirty="0"/>
              <a:t>Operations</a:t>
            </a:r>
          </a:p>
          <a:p>
            <a:r>
              <a:rPr lang="en-US" sz="2400" kern="0" dirty="0"/>
              <a:t>Security and Identity</a:t>
            </a:r>
          </a:p>
          <a:p>
            <a:r>
              <a:rPr lang="en-US" sz="2400" kern="0" dirty="0" err="1"/>
              <a:t>Serverless</a:t>
            </a:r>
            <a:r>
              <a:rPr lang="en-US" sz="2400" kern="0" dirty="0"/>
              <a:t> Computing</a:t>
            </a:r>
          </a:p>
          <a:p>
            <a:r>
              <a:rPr lang="en-US" sz="2400" kern="0" dirty="0"/>
              <a:t>Storage</a:t>
            </a:r>
          </a:p>
        </p:txBody>
      </p:sp>
    </p:spTree>
    <p:extLst>
      <p:ext uri="{BB962C8B-B14F-4D97-AF65-F5344CB8AC3E}">
        <p14:creationId xmlns:p14="http://schemas.microsoft.com/office/powerpoint/2010/main" val="56537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37672"/>
          </a:xfrm>
        </p:spPr>
        <p:txBody>
          <a:bodyPr/>
          <a:lstStyle/>
          <a:p>
            <a:r>
              <a:rPr lang="en-US" dirty="0"/>
              <a:t>Compute</a:t>
            </a:r>
          </a:p>
        </p:txBody>
      </p:sp>
      <p:pic>
        <p:nvPicPr>
          <p:cNvPr id="3" name="Picture 2"/>
          <p:cNvPicPr>
            <a:picLocks noChangeAspect="1"/>
          </p:cNvPicPr>
          <p:nvPr/>
        </p:nvPicPr>
        <p:blipFill>
          <a:blip r:embed="rId2"/>
          <a:stretch>
            <a:fillRect/>
          </a:stretch>
        </p:blipFill>
        <p:spPr>
          <a:xfrm>
            <a:off x="457200" y="1094872"/>
            <a:ext cx="8087814" cy="5763128"/>
          </a:xfrm>
          <a:prstGeom prst="rect">
            <a:avLst/>
          </a:prstGeom>
        </p:spPr>
      </p:pic>
    </p:spTree>
    <p:extLst>
      <p:ext uri="{BB962C8B-B14F-4D97-AF65-F5344CB8AC3E}">
        <p14:creationId xmlns:p14="http://schemas.microsoft.com/office/powerpoint/2010/main" val="2646502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40377"/>
          </a:xfrm>
        </p:spPr>
        <p:txBody>
          <a:bodyPr/>
          <a:lstStyle/>
          <a:p>
            <a:r>
              <a:rPr lang="en-US" dirty="0"/>
              <a:t>App Engine</a:t>
            </a:r>
          </a:p>
        </p:txBody>
      </p:sp>
      <p:sp>
        <p:nvSpPr>
          <p:cNvPr id="3" name="Content Placeholder 2"/>
          <p:cNvSpPr>
            <a:spLocks noGrp="1"/>
          </p:cNvSpPr>
          <p:nvPr>
            <p:ph idx="1"/>
          </p:nvPr>
        </p:nvSpPr>
        <p:spPr>
          <a:xfrm>
            <a:off x="152399" y="1449977"/>
            <a:ext cx="8800011" cy="3886200"/>
          </a:xfrm>
        </p:spPr>
        <p:txBody>
          <a:bodyPr/>
          <a:lstStyle/>
          <a:p>
            <a:r>
              <a:rPr lang="en-US" dirty="0"/>
              <a:t>Build monolithic server-side rendered websites and stay agile. App Engine supports popular development languages and offers a range of developer tools. </a:t>
            </a:r>
          </a:p>
          <a:p>
            <a:r>
              <a:rPr lang="en-US" dirty="0"/>
              <a:t> Popular programming languages - Build your application in Node.js, Java, Ruby, C#, Go, Python, or PHP.</a:t>
            </a:r>
          </a:p>
          <a:p>
            <a:r>
              <a:rPr lang="en-US" dirty="0"/>
              <a:t>Fully managed - A fully managed environment lets you focus on code while App Engine manages infrastructure concerns.</a:t>
            </a:r>
          </a:p>
        </p:txBody>
      </p:sp>
    </p:spTree>
    <p:extLst>
      <p:ext uri="{BB962C8B-B14F-4D97-AF65-F5344CB8AC3E}">
        <p14:creationId xmlns:p14="http://schemas.microsoft.com/office/powerpoint/2010/main" val="4289965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83920"/>
          </a:xfrm>
        </p:spPr>
        <p:txBody>
          <a:bodyPr/>
          <a:lstStyle/>
          <a:p>
            <a:r>
              <a:rPr lang="en-US" dirty="0"/>
              <a:t>App Engine environments</a:t>
            </a:r>
          </a:p>
        </p:txBody>
      </p:sp>
      <p:sp>
        <p:nvSpPr>
          <p:cNvPr id="3" name="Content Placeholder 2"/>
          <p:cNvSpPr>
            <a:spLocks noGrp="1"/>
          </p:cNvSpPr>
          <p:nvPr>
            <p:ph idx="1"/>
          </p:nvPr>
        </p:nvSpPr>
        <p:spPr>
          <a:xfrm>
            <a:off x="126273" y="1510936"/>
            <a:ext cx="8721635" cy="5255623"/>
          </a:xfrm>
        </p:spPr>
        <p:txBody>
          <a:bodyPr/>
          <a:lstStyle/>
          <a:p>
            <a:r>
              <a:rPr lang="en-US" sz="2800" dirty="0"/>
              <a:t>Standard environment. Application instances run in a sandbox, using the runtime environment of a supported language listed below. Applications that need to deal with rapid scaling.</a:t>
            </a:r>
          </a:p>
          <a:p>
            <a:r>
              <a:rPr lang="en-US" sz="2800" dirty="0"/>
              <a:t>Flexible environment. Application instances run within Docker containers on Compute Engine virtual machines (VM). Applications that receive consistent traffic, experience regular traffic fluctuations, or meet the parameters for scaling up and down gradually.</a:t>
            </a:r>
          </a:p>
        </p:txBody>
      </p:sp>
    </p:spTree>
    <p:extLst>
      <p:ext uri="{BB962C8B-B14F-4D97-AF65-F5344CB8AC3E}">
        <p14:creationId xmlns:p14="http://schemas.microsoft.com/office/powerpoint/2010/main" val="904645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lstStyle/>
          <a:p>
            <a:r>
              <a:rPr lang="en-US" dirty="0"/>
              <a:t>Standard environment</a:t>
            </a:r>
          </a:p>
        </p:txBody>
      </p:sp>
      <p:sp>
        <p:nvSpPr>
          <p:cNvPr id="3" name="Content Placeholder 2"/>
          <p:cNvSpPr>
            <a:spLocks noGrp="1"/>
          </p:cNvSpPr>
          <p:nvPr>
            <p:ph idx="1"/>
          </p:nvPr>
        </p:nvSpPr>
        <p:spPr>
          <a:xfrm>
            <a:off x="113212" y="1441268"/>
            <a:ext cx="8943702" cy="3886200"/>
          </a:xfrm>
        </p:spPr>
        <p:txBody>
          <a:bodyPr/>
          <a:lstStyle/>
          <a:p>
            <a:r>
              <a:rPr lang="en-US" sz="2400" dirty="0"/>
              <a:t>Source code is written in </a:t>
            </a:r>
            <a:r>
              <a:rPr lang="en-US" sz="2400" b="1" dirty="0"/>
              <a:t>specific versions of the supported programming languages</a:t>
            </a:r>
            <a:r>
              <a:rPr lang="en-US" sz="2400" dirty="0"/>
              <a:t>:</a:t>
            </a:r>
          </a:p>
          <a:p>
            <a:pPr lvl="1"/>
            <a:r>
              <a:rPr lang="en-US" sz="2000" dirty="0"/>
              <a:t>Python 2.7, Python 3.7, Python 3.8, Python 3.9</a:t>
            </a:r>
          </a:p>
          <a:p>
            <a:pPr lvl="1"/>
            <a:r>
              <a:rPr lang="en-US" sz="2000" dirty="0"/>
              <a:t>Java 8, Java 11, and Java 17 (preview)</a:t>
            </a:r>
          </a:p>
          <a:p>
            <a:pPr lvl="1"/>
            <a:r>
              <a:rPr lang="en-US" sz="2000" dirty="0"/>
              <a:t>Node.js 10, Node.js 12, Node.js 14, Node.js 16</a:t>
            </a:r>
          </a:p>
          <a:p>
            <a:pPr lvl="1"/>
            <a:r>
              <a:rPr lang="en-US" sz="2000" dirty="0"/>
              <a:t>PHP 5.5, PHP 7.2, PHP 7.3, and PHP 7.4</a:t>
            </a:r>
          </a:p>
          <a:p>
            <a:pPr lvl="1"/>
            <a:r>
              <a:rPr lang="en-US" sz="2000" dirty="0"/>
              <a:t>Ruby 2.5, Ruby 2.6, Ruby 2.7, and Ruby 3.0 (preview)</a:t>
            </a:r>
          </a:p>
          <a:p>
            <a:pPr lvl="1"/>
            <a:r>
              <a:rPr lang="en-US" sz="2000" dirty="0"/>
              <a:t>Go 1.11, Go 1.12, Go 1.13, Go 1.14, Go 1.15, and Go 1.16</a:t>
            </a:r>
          </a:p>
          <a:p>
            <a:r>
              <a:rPr lang="en-US" sz="2400" dirty="0"/>
              <a:t>Intended to </a:t>
            </a:r>
            <a:r>
              <a:rPr lang="en-US" sz="2400" b="1" dirty="0"/>
              <a:t>run for free or at very low cost</a:t>
            </a:r>
            <a:r>
              <a:rPr lang="en-US" sz="2400" dirty="0"/>
              <a:t>, where you pay only for what you need and when you need it. For example, your application can scale to 0 instances when there is no traffic.</a:t>
            </a:r>
          </a:p>
          <a:p>
            <a:r>
              <a:rPr lang="en-US" sz="2400" dirty="0"/>
              <a:t>Experiences </a:t>
            </a:r>
            <a:r>
              <a:rPr lang="en-US" sz="2400" b="1" dirty="0"/>
              <a:t>sudden and extreme spikes of traffic</a:t>
            </a:r>
            <a:r>
              <a:rPr lang="en-US" sz="2400" dirty="0"/>
              <a:t> which require immediate scaling.</a:t>
            </a:r>
          </a:p>
        </p:txBody>
      </p:sp>
    </p:spTree>
    <p:extLst>
      <p:ext uri="{BB962C8B-B14F-4D97-AF65-F5344CB8AC3E}">
        <p14:creationId xmlns:p14="http://schemas.microsoft.com/office/powerpoint/2010/main" val="2285873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14251"/>
          </a:xfrm>
        </p:spPr>
        <p:txBody>
          <a:bodyPr/>
          <a:lstStyle/>
          <a:p>
            <a:r>
              <a:rPr lang="en-US" dirty="0"/>
              <a:t>Flexible environment</a:t>
            </a:r>
          </a:p>
        </p:txBody>
      </p:sp>
      <p:sp>
        <p:nvSpPr>
          <p:cNvPr id="3" name="Content Placeholder 2"/>
          <p:cNvSpPr>
            <a:spLocks noGrp="1"/>
          </p:cNvSpPr>
          <p:nvPr>
            <p:ph idx="1"/>
          </p:nvPr>
        </p:nvSpPr>
        <p:spPr>
          <a:xfrm>
            <a:off x="250371" y="1349828"/>
            <a:ext cx="8643257" cy="3886200"/>
          </a:xfrm>
        </p:spPr>
        <p:txBody>
          <a:bodyPr/>
          <a:lstStyle/>
          <a:p>
            <a:r>
              <a:rPr lang="en-US" sz="2800" dirty="0"/>
              <a:t>Source code that is written in a version of any of the supported programming languages:</a:t>
            </a:r>
            <a:r>
              <a:rPr lang="bg-BG" sz="2800" dirty="0"/>
              <a:t> </a:t>
            </a:r>
            <a:r>
              <a:rPr lang="en-US" sz="2800" dirty="0"/>
              <a:t>Python, Java, Node.js, Go, Ruby, PHP, or .NET</a:t>
            </a:r>
          </a:p>
          <a:p>
            <a:r>
              <a:rPr lang="en-US" sz="2800" dirty="0"/>
              <a:t>Runs in a Docker container that includes a custom runtime or source code written in other programming languages.</a:t>
            </a:r>
          </a:p>
          <a:p>
            <a:r>
              <a:rPr lang="en-US" sz="2800" dirty="0"/>
              <a:t>Uses or depends on frameworks that include native code.</a:t>
            </a:r>
          </a:p>
          <a:p>
            <a:r>
              <a:rPr lang="en-US" sz="2800" dirty="0"/>
              <a:t>Accesses the resources or services of your Google Cloud project that reside in the Compute Engine network.</a:t>
            </a:r>
          </a:p>
        </p:txBody>
      </p:sp>
    </p:spTree>
    <p:extLst>
      <p:ext uri="{BB962C8B-B14F-4D97-AF65-F5344CB8AC3E}">
        <p14:creationId xmlns:p14="http://schemas.microsoft.com/office/powerpoint/2010/main" val="2700708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44286"/>
          </a:xfrm>
        </p:spPr>
        <p:txBody>
          <a:bodyPr/>
          <a:lstStyle/>
          <a:p>
            <a:r>
              <a:rPr lang="en-US" dirty="0" err="1"/>
              <a:t>Comparizon</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560927012"/>
              </p:ext>
            </p:extLst>
          </p:nvPr>
        </p:nvGraphicFramePr>
        <p:xfrm>
          <a:off x="130627" y="1071151"/>
          <a:ext cx="8908870" cy="5771791"/>
        </p:xfrm>
        <a:graphic>
          <a:graphicData uri="http://schemas.openxmlformats.org/drawingml/2006/table">
            <a:tbl>
              <a:tblPr/>
              <a:tblGrid>
                <a:gridCol w="1826043">
                  <a:extLst>
                    <a:ext uri="{9D8B030D-6E8A-4147-A177-3AD203B41FA5}">
                      <a16:colId xmlns:a16="http://schemas.microsoft.com/office/drawing/2014/main" val="3851906530"/>
                    </a:ext>
                  </a:extLst>
                </a:gridCol>
                <a:gridCol w="3512313">
                  <a:extLst>
                    <a:ext uri="{9D8B030D-6E8A-4147-A177-3AD203B41FA5}">
                      <a16:colId xmlns:a16="http://schemas.microsoft.com/office/drawing/2014/main" val="2276604801"/>
                    </a:ext>
                  </a:extLst>
                </a:gridCol>
                <a:gridCol w="3570514">
                  <a:extLst>
                    <a:ext uri="{9D8B030D-6E8A-4147-A177-3AD203B41FA5}">
                      <a16:colId xmlns:a16="http://schemas.microsoft.com/office/drawing/2014/main" val="2339699057"/>
                    </a:ext>
                  </a:extLst>
                </a:gridCol>
              </a:tblGrid>
              <a:tr h="371612">
                <a:tc>
                  <a:txBody>
                    <a:bodyPr/>
                    <a:lstStyle/>
                    <a:p>
                      <a:pPr algn="l" fontAlgn="ctr"/>
                      <a:r>
                        <a:rPr lang="en-US" sz="1800" b="1" i="0" u="none" strike="noStrike">
                          <a:solidFill>
                            <a:srgbClr val="202124"/>
                          </a:solidFill>
                          <a:effectLst/>
                          <a:latin typeface="Arial" panose="020B0604020202020204" pitchFamily="34" charset="0"/>
                        </a:rPr>
                        <a:t>Feature</a:t>
                      </a:r>
                    </a:p>
                  </a:txBody>
                  <a:tcPr marL="5592" marR="5592" marT="55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800" b="1" i="0" u="none" strike="noStrike">
                          <a:solidFill>
                            <a:srgbClr val="202124"/>
                          </a:solidFill>
                          <a:effectLst/>
                          <a:latin typeface="Arial" panose="020B0604020202020204" pitchFamily="34" charset="0"/>
                        </a:rPr>
                        <a:t>Standard environment</a:t>
                      </a:r>
                    </a:p>
                  </a:txBody>
                  <a:tcPr marL="5592" marR="5592" marT="55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800" b="1" i="0" u="none" strike="noStrike">
                          <a:solidFill>
                            <a:srgbClr val="202124"/>
                          </a:solidFill>
                          <a:effectLst/>
                          <a:latin typeface="Arial" panose="020B0604020202020204" pitchFamily="34" charset="0"/>
                        </a:rPr>
                        <a:t>Flexible environment</a:t>
                      </a:r>
                    </a:p>
                  </a:txBody>
                  <a:tcPr marL="5592" marR="5592" marT="55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04273030"/>
                  </a:ext>
                </a:extLst>
              </a:tr>
              <a:tr h="307660">
                <a:tc>
                  <a:txBody>
                    <a:bodyPr/>
                    <a:lstStyle/>
                    <a:p>
                      <a:pPr algn="l" fontAlgn="t"/>
                      <a:r>
                        <a:rPr lang="en-US" sz="1800" b="0" i="0" u="none" strike="noStrike" dirty="0">
                          <a:solidFill>
                            <a:srgbClr val="202124"/>
                          </a:solidFill>
                          <a:effectLst/>
                          <a:latin typeface="Arial" panose="020B0604020202020204" pitchFamily="34" charset="0"/>
                        </a:rPr>
                        <a:t>Instance startup</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Seconds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Minutes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84484242"/>
                  </a:ext>
                </a:extLst>
              </a:tr>
              <a:tr h="545557">
                <a:tc>
                  <a:txBody>
                    <a:bodyPr/>
                    <a:lstStyle/>
                    <a:p>
                      <a:pPr algn="l" fontAlgn="t"/>
                      <a:r>
                        <a:rPr lang="en-US" sz="1800" b="0" i="0" u="none" strike="noStrike">
                          <a:solidFill>
                            <a:srgbClr val="202124"/>
                          </a:solidFill>
                          <a:effectLst/>
                          <a:latin typeface="Arial" panose="020B0604020202020204" pitchFamily="34" charset="0"/>
                        </a:rPr>
                        <a:t>Maximum request timeout</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sng" strike="noStrike">
                          <a:solidFill>
                            <a:srgbClr val="0563C1"/>
                          </a:solidFill>
                          <a:effectLst/>
                          <a:latin typeface="Calibri" panose="020F0502020204030204" pitchFamily="34" charset="0"/>
                          <a:hlinkClick r:id="rId2"/>
                        </a:rPr>
                        <a:t>Depends on the runtime and type of scaling.</a:t>
                      </a:r>
                      <a:endParaRPr lang="en-US" sz="1800" b="0" i="0" u="sng" strike="noStrike">
                        <a:solidFill>
                          <a:srgbClr val="0563C1"/>
                        </a:solidFill>
                        <a:effectLst/>
                        <a:latin typeface="Calibri" panose="020F0502020204030204" pitchFamily="34" charset="0"/>
                      </a:endParaRP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60 minutes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61423497"/>
                  </a:ext>
                </a:extLst>
              </a:tr>
              <a:tr h="363706">
                <a:tc>
                  <a:txBody>
                    <a:bodyPr/>
                    <a:lstStyle/>
                    <a:p>
                      <a:pPr algn="l" fontAlgn="t"/>
                      <a:r>
                        <a:rPr lang="en-US" sz="1800" b="0" i="0" u="none" strike="noStrike">
                          <a:solidFill>
                            <a:srgbClr val="202124"/>
                          </a:solidFill>
                          <a:effectLst/>
                          <a:latin typeface="Arial" panose="020B0604020202020204" pitchFamily="34" charset="0"/>
                        </a:rPr>
                        <a:t>Background threads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Yes, with restrictions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Yes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6155439"/>
                  </a:ext>
                </a:extLst>
              </a:tr>
              <a:tr h="363706">
                <a:tc>
                  <a:txBody>
                    <a:bodyPr/>
                    <a:lstStyle/>
                    <a:p>
                      <a:pPr algn="l" fontAlgn="t"/>
                      <a:r>
                        <a:rPr lang="en-US" sz="1800" b="0" i="0" u="none" strike="noStrike">
                          <a:solidFill>
                            <a:srgbClr val="202124"/>
                          </a:solidFill>
                          <a:effectLst/>
                          <a:latin typeface="Arial" panose="020B0604020202020204" pitchFamily="34" charset="0"/>
                        </a:rPr>
                        <a:t>Background processes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No</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Yes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04835956"/>
                  </a:ext>
                </a:extLst>
              </a:tr>
              <a:tr h="189760">
                <a:tc>
                  <a:txBody>
                    <a:bodyPr/>
                    <a:lstStyle/>
                    <a:p>
                      <a:pPr algn="l" fontAlgn="t"/>
                      <a:r>
                        <a:rPr lang="en-US" sz="1800" b="0" i="0" u="none" strike="noStrike" dirty="0">
                          <a:solidFill>
                            <a:srgbClr val="202124"/>
                          </a:solidFill>
                          <a:effectLst/>
                          <a:latin typeface="Arial" panose="020B0604020202020204" pitchFamily="34" charset="0"/>
                        </a:rPr>
                        <a:t>Scaling</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Manual, Basic, Automatic</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Manual, Automatic</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1485144"/>
                  </a:ext>
                </a:extLst>
              </a:tr>
              <a:tr h="266637">
                <a:tc>
                  <a:txBody>
                    <a:bodyPr/>
                    <a:lstStyle/>
                    <a:p>
                      <a:pPr algn="l" fontAlgn="t"/>
                      <a:r>
                        <a:rPr lang="en-US" sz="1800" b="0" i="0" u="none" strike="noStrike" dirty="0">
                          <a:solidFill>
                            <a:srgbClr val="202124"/>
                          </a:solidFill>
                          <a:effectLst/>
                          <a:latin typeface="Arial" panose="020B0604020202020204" pitchFamily="34" charset="0"/>
                        </a:rPr>
                        <a:t>Scale to zero</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Yes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No, minimum 1 instance</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55482389"/>
                  </a:ext>
                </a:extLst>
              </a:tr>
              <a:tr h="363706">
                <a:tc>
                  <a:txBody>
                    <a:bodyPr/>
                    <a:lstStyle/>
                    <a:p>
                      <a:pPr algn="l" fontAlgn="t"/>
                      <a:r>
                        <a:rPr lang="en-US" sz="1800" b="0" i="0" u="none" strike="noStrike">
                          <a:solidFill>
                            <a:srgbClr val="202124"/>
                          </a:solidFill>
                          <a:effectLst/>
                          <a:latin typeface="Arial" panose="020B0604020202020204" pitchFamily="34" charset="0"/>
                        </a:rPr>
                        <a:t>Modifying the runtime</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No</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Yes (through Dockerfile)</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70732306"/>
                  </a:ext>
                </a:extLst>
              </a:tr>
              <a:tr h="363706">
                <a:tc>
                  <a:txBody>
                    <a:bodyPr/>
                    <a:lstStyle/>
                    <a:p>
                      <a:pPr algn="l" fontAlgn="t"/>
                      <a:r>
                        <a:rPr lang="en-US" sz="1800" b="0" i="0" u="none" strike="noStrike">
                          <a:solidFill>
                            <a:srgbClr val="202124"/>
                          </a:solidFill>
                          <a:effectLst/>
                          <a:latin typeface="Arial" panose="020B0604020202020204" pitchFamily="34" charset="0"/>
                        </a:rPr>
                        <a:t>Deployment time</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Seconds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Minutes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49780072"/>
                  </a:ext>
                </a:extLst>
              </a:tr>
              <a:tr h="727410">
                <a:tc>
                  <a:txBody>
                    <a:bodyPr/>
                    <a:lstStyle/>
                    <a:p>
                      <a:pPr algn="l" fontAlgn="t"/>
                      <a:r>
                        <a:rPr lang="en-US" sz="1800" b="0" i="0" u="none" strike="noStrike">
                          <a:solidFill>
                            <a:srgbClr val="202124"/>
                          </a:solidFill>
                          <a:effectLst/>
                          <a:latin typeface="Arial" panose="020B0604020202020204" pitchFamily="34" charset="0"/>
                        </a:rPr>
                        <a:t>Automatic in-place security patches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Yes</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fr-FR" sz="1800" b="0" i="0" u="none" strike="noStrike">
                          <a:solidFill>
                            <a:srgbClr val="202124"/>
                          </a:solidFill>
                          <a:effectLst/>
                          <a:latin typeface="Arial" panose="020B0604020202020204" pitchFamily="34" charset="0"/>
                        </a:rPr>
                        <a:t>Yes (excludes container image runtime)</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1915429"/>
                  </a:ext>
                </a:extLst>
              </a:tr>
              <a:tr h="363706">
                <a:tc>
                  <a:txBody>
                    <a:bodyPr/>
                    <a:lstStyle/>
                    <a:p>
                      <a:pPr algn="l" fontAlgn="t"/>
                      <a:r>
                        <a:rPr lang="en-US" sz="1800" b="0" i="0" u="none" strike="noStrike">
                          <a:solidFill>
                            <a:srgbClr val="202124"/>
                          </a:solidFill>
                          <a:effectLst/>
                          <a:latin typeface="Arial" panose="020B0604020202020204" pitchFamily="34" charset="0"/>
                        </a:rPr>
                        <a:t>Location</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North America, Asia Pacific, or Europe</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none" strike="noStrike">
                          <a:solidFill>
                            <a:srgbClr val="202124"/>
                          </a:solidFill>
                          <a:effectLst/>
                          <a:latin typeface="Arial" panose="020B0604020202020204" pitchFamily="34" charset="0"/>
                        </a:rPr>
                        <a:t>North America, Asia Pacific, or Europe</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28713161"/>
                  </a:ext>
                </a:extLst>
              </a:tr>
              <a:tr h="569277">
                <a:tc>
                  <a:txBody>
                    <a:bodyPr/>
                    <a:lstStyle/>
                    <a:p>
                      <a:pPr algn="l" fontAlgn="t"/>
                      <a:r>
                        <a:rPr lang="en-US" sz="1800" b="0" i="0" u="none" strike="noStrike">
                          <a:solidFill>
                            <a:srgbClr val="202124"/>
                          </a:solidFill>
                          <a:effectLst/>
                          <a:latin typeface="Arial" panose="020B0604020202020204" pitchFamily="34" charset="0"/>
                        </a:rPr>
                        <a:t>Pricing</a:t>
                      </a: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sng" strike="noStrike" dirty="0">
                          <a:solidFill>
                            <a:srgbClr val="0563C1"/>
                          </a:solidFill>
                          <a:effectLst/>
                          <a:latin typeface="Calibri" panose="020F0502020204030204" pitchFamily="34" charset="0"/>
                          <a:hlinkClick r:id="rId3"/>
                        </a:rPr>
                        <a:t>Based on instance hours</a:t>
                      </a:r>
                      <a:endParaRPr lang="en-US" sz="1800" b="0" i="0" u="sng" strike="noStrike" dirty="0">
                        <a:solidFill>
                          <a:srgbClr val="0563C1"/>
                        </a:solidFill>
                        <a:effectLst/>
                        <a:latin typeface="Calibri" panose="020F0502020204030204" pitchFamily="34" charset="0"/>
                      </a:endParaRP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800" b="0" i="0" u="sng" strike="noStrike" dirty="0">
                          <a:solidFill>
                            <a:srgbClr val="0563C1"/>
                          </a:solidFill>
                          <a:effectLst/>
                          <a:latin typeface="Calibri" panose="020F0502020204030204" pitchFamily="34" charset="0"/>
                          <a:hlinkClick r:id="rId4"/>
                        </a:rPr>
                        <a:t>Based on usage of vCPU, memory, and persistent disks</a:t>
                      </a:r>
                      <a:endParaRPr lang="en-US" sz="1800" b="0" i="0" u="sng" strike="noStrike" dirty="0">
                        <a:solidFill>
                          <a:srgbClr val="0563C1"/>
                        </a:solidFill>
                        <a:effectLst/>
                        <a:latin typeface="Calibri" panose="020F0502020204030204" pitchFamily="34" charset="0"/>
                      </a:endParaRPr>
                    </a:p>
                  </a:txBody>
                  <a:tcPr marL="5592" marR="5592" marT="55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2049350"/>
                  </a:ext>
                </a:extLst>
              </a:tr>
            </a:tbl>
          </a:graphicData>
        </a:graphic>
      </p:graphicFrame>
    </p:spTree>
    <p:extLst>
      <p:ext uri="{BB962C8B-B14F-4D97-AF65-F5344CB8AC3E}">
        <p14:creationId xmlns:p14="http://schemas.microsoft.com/office/powerpoint/2010/main" val="3489930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14251"/>
          </a:xfrm>
        </p:spPr>
        <p:txBody>
          <a:bodyPr/>
          <a:lstStyle/>
          <a:p>
            <a:r>
              <a:rPr lang="en-US" dirty="0"/>
              <a:t>Bare Metal Solution for Oracle</a:t>
            </a:r>
          </a:p>
        </p:txBody>
      </p:sp>
      <p:sp>
        <p:nvSpPr>
          <p:cNvPr id="3" name="Content Placeholder 2"/>
          <p:cNvSpPr>
            <a:spLocks noGrp="1"/>
          </p:cNvSpPr>
          <p:nvPr>
            <p:ph idx="1"/>
          </p:nvPr>
        </p:nvSpPr>
        <p:spPr>
          <a:xfrm>
            <a:off x="152400" y="1645919"/>
            <a:ext cx="8721634" cy="3511731"/>
          </a:xfrm>
        </p:spPr>
        <p:txBody>
          <a:bodyPr/>
          <a:lstStyle/>
          <a:p>
            <a:r>
              <a:rPr lang="en-US" sz="2800" dirty="0"/>
              <a:t>State-of-the-art certified infrastructure, precision tuned to meet all your performance needs</a:t>
            </a:r>
          </a:p>
          <a:p>
            <a:r>
              <a:rPr lang="en-US" sz="2800" dirty="0"/>
              <a:t>Deploy Oracle capabilities like clustered databases, replication, and all performance features</a:t>
            </a:r>
          </a:p>
          <a:p>
            <a:r>
              <a:rPr lang="en-US" sz="2800" dirty="0"/>
              <a:t>Seamlessly take advantage of all Google Cloud services with less than 2 </a:t>
            </a:r>
            <a:r>
              <a:rPr lang="en-US" sz="2800" dirty="0" err="1"/>
              <a:t>ms</a:t>
            </a:r>
            <a:r>
              <a:rPr lang="en-US" sz="2800" dirty="0"/>
              <a:t> latency</a:t>
            </a:r>
          </a:p>
          <a:p>
            <a:r>
              <a:rPr lang="en-US" sz="2800" dirty="0"/>
              <a:t>Leverage your on-premises licensing, run books, database administrators, and system integrators</a:t>
            </a:r>
          </a:p>
          <a:p>
            <a:r>
              <a:rPr lang="en-US" sz="2800" dirty="0"/>
              <a:t>Billing, support, and SLA provided by Google Cloud</a:t>
            </a:r>
            <a:endParaRPr lang="en-US" dirty="0"/>
          </a:p>
        </p:txBody>
      </p:sp>
    </p:spTree>
    <p:extLst>
      <p:ext uri="{BB962C8B-B14F-4D97-AF65-F5344CB8AC3E}">
        <p14:creationId xmlns:p14="http://schemas.microsoft.com/office/powerpoint/2010/main" val="863992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131" y="457200"/>
            <a:ext cx="8673737" cy="892629"/>
          </a:xfrm>
        </p:spPr>
        <p:txBody>
          <a:bodyPr/>
          <a:lstStyle/>
          <a:p>
            <a:r>
              <a:rPr lang="en-US" dirty="0"/>
              <a:t>Cloud GPUs</a:t>
            </a:r>
          </a:p>
        </p:txBody>
      </p:sp>
      <p:sp>
        <p:nvSpPr>
          <p:cNvPr id="3" name="Content Placeholder 2"/>
          <p:cNvSpPr>
            <a:spLocks noGrp="1"/>
          </p:cNvSpPr>
          <p:nvPr>
            <p:ph idx="1"/>
          </p:nvPr>
        </p:nvSpPr>
        <p:spPr>
          <a:xfrm>
            <a:off x="152399" y="1184366"/>
            <a:ext cx="8839200" cy="3886200"/>
          </a:xfrm>
        </p:spPr>
        <p:txBody>
          <a:bodyPr/>
          <a:lstStyle/>
          <a:p>
            <a:r>
              <a:rPr lang="en-US" sz="2400" dirty="0"/>
              <a:t>High-performance GPUs on Google Cloud for machine learning, scientific computing, and 3D visualization.</a:t>
            </a:r>
          </a:p>
          <a:p>
            <a:r>
              <a:rPr lang="en-US" sz="2400" dirty="0"/>
              <a:t>Speed up compute jobs like machine learning and HPC</a:t>
            </a:r>
          </a:p>
          <a:p>
            <a:r>
              <a:rPr lang="en-US" sz="2400" dirty="0"/>
              <a:t>A wide selection of GPUs to match a range of performance and price points</a:t>
            </a:r>
          </a:p>
          <a:p>
            <a:r>
              <a:rPr lang="en-US" sz="2400" dirty="0"/>
              <a:t>Flexible pricing and machine customizations to optimize for your workload</a:t>
            </a:r>
          </a:p>
          <a:p>
            <a:r>
              <a:rPr lang="en-US" sz="2400" dirty="0"/>
              <a:t>A range of GPU types - NVIDIA K80, P100, P4, T4, V100, and A100 GPUs provide a range of compute options to cover your workload for each cost and performance need.</a:t>
            </a:r>
          </a:p>
          <a:p>
            <a:r>
              <a:rPr lang="en-US" sz="2400" dirty="0"/>
              <a:t>Flexible performance - Optimally balance the processor, memory, high performance disk, and up to 8 GPUs per instance for your individual workload. All with the per-second billing.</a:t>
            </a:r>
          </a:p>
          <a:p>
            <a:endParaRPr lang="en-US" sz="2400" dirty="0"/>
          </a:p>
        </p:txBody>
      </p:sp>
    </p:spTree>
    <p:extLst>
      <p:ext uri="{BB962C8B-B14F-4D97-AF65-F5344CB8AC3E}">
        <p14:creationId xmlns:p14="http://schemas.microsoft.com/office/powerpoint/2010/main" val="1658119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13954"/>
          </a:xfrm>
        </p:spPr>
        <p:txBody>
          <a:bodyPr/>
          <a:lstStyle/>
          <a:p>
            <a:pPr fontAlgn="ctr"/>
            <a:r>
              <a:rPr lang="en-US" dirty="0"/>
              <a:t>Cloud Run</a:t>
            </a:r>
          </a:p>
        </p:txBody>
      </p:sp>
      <p:sp>
        <p:nvSpPr>
          <p:cNvPr id="3" name="Content Placeholder 2"/>
          <p:cNvSpPr>
            <a:spLocks noGrp="1"/>
          </p:cNvSpPr>
          <p:nvPr>
            <p:ph idx="1"/>
          </p:nvPr>
        </p:nvSpPr>
        <p:spPr>
          <a:xfrm>
            <a:off x="34834" y="1375954"/>
            <a:ext cx="9074331" cy="3886200"/>
          </a:xfrm>
        </p:spPr>
        <p:txBody>
          <a:bodyPr/>
          <a:lstStyle/>
          <a:p>
            <a:r>
              <a:rPr lang="en-US" sz="2400" dirty="0"/>
              <a:t>Develop and deploy highly scalable containerized applications using your favorite language or framework (Go, Python, Java, Node.js, .NET, and more) on a fully managed </a:t>
            </a:r>
            <a:r>
              <a:rPr lang="en-US" sz="2400" dirty="0" err="1"/>
              <a:t>serverless</a:t>
            </a:r>
            <a:r>
              <a:rPr lang="en-US" sz="2400" dirty="0"/>
              <a:t> platform.</a:t>
            </a:r>
          </a:p>
          <a:p>
            <a:r>
              <a:rPr lang="en-US" sz="2400" dirty="0"/>
              <a:t>All Google Cloud customers get 2 million requests per month completely free of charge.</a:t>
            </a:r>
          </a:p>
          <a:p>
            <a:r>
              <a:rPr lang="en-US" sz="2400" dirty="0"/>
              <a:t>Any language, any library, any binary - Use the programming language of your choice, any language or operating system libraries, or even bring your own binaries.</a:t>
            </a:r>
          </a:p>
          <a:p>
            <a:r>
              <a:rPr lang="en-US" sz="2400" dirty="0"/>
              <a:t>Cloud Run pairs great with the container ecosystem: Cloud Build, Cloud Code, Artifact Registry, and Docker.</a:t>
            </a:r>
          </a:p>
          <a:p>
            <a:r>
              <a:rPr lang="en-US" sz="2400" dirty="0"/>
              <a:t>Only pay when your code is running, billed to the nearest 100 milliseconds.</a:t>
            </a:r>
          </a:p>
        </p:txBody>
      </p:sp>
    </p:spTree>
    <p:extLst>
      <p:ext uri="{BB962C8B-B14F-4D97-AF65-F5344CB8AC3E}">
        <p14:creationId xmlns:p14="http://schemas.microsoft.com/office/powerpoint/2010/main" val="3831475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27165"/>
          </a:xfrm>
        </p:spPr>
        <p:txBody>
          <a:bodyPr/>
          <a:lstStyle/>
          <a:p>
            <a:pPr fontAlgn="ctr"/>
            <a:r>
              <a:rPr lang="en-US" dirty="0"/>
              <a:t>Compute Engine</a:t>
            </a:r>
          </a:p>
        </p:txBody>
      </p:sp>
      <p:sp>
        <p:nvSpPr>
          <p:cNvPr id="3" name="Content Placeholder 2"/>
          <p:cNvSpPr>
            <a:spLocks noGrp="1"/>
          </p:cNvSpPr>
          <p:nvPr>
            <p:ph idx="1"/>
          </p:nvPr>
        </p:nvSpPr>
        <p:spPr>
          <a:xfrm>
            <a:off x="0" y="1184365"/>
            <a:ext cx="9022080" cy="3886200"/>
          </a:xfrm>
        </p:spPr>
        <p:txBody>
          <a:bodyPr/>
          <a:lstStyle/>
          <a:p>
            <a:r>
              <a:rPr lang="en-US" sz="2400" dirty="0"/>
              <a:t>Secure and customizable compute service that lets you create and run virtual machines on Google’s infrastructure. </a:t>
            </a:r>
          </a:p>
          <a:p>
            <a:r>
              <a:rPr lang="en-US" sz="2400" dirty="0"/>
              <a:t>New customers get $300 in free credits to spend on Google Cloud. All customers get a general purpose machine (e2-micro instance) per month for free, not charged against your credits.</a:t>
            </a:r>
          </a:p>
          <a:p>
            <a:r>
              <a:rPr lang="en-US" sz="2400" u="sng" dirty="0">
                <a:hlinkClick r:id="rId2"/>
              </a:rPr>
              <a:t>Predefined machine types:</a:t>
            </a:r>
            <a:r>
              <a:rPr lang="en-US" sz="2400" dirty="0"/>
              <a:t> Start running quickly with pre-built and ready-to-go configurations</a:t>
            </a:r>
          </a:p>
          <a:p>
            <a:r>
              <a:rPr lang="en-US" sz="2400" u="sng" dirty="0">
                <a:hlinkClick r:id="rId3"/>
              </a:rPr>
              <a:t>Custom machine types</a:t>
            </a:r>
            <a:r>
              <a:rPr lang="en-US" sz="2400" dirty="0"/>
              <a:t>: Create VMs with optimal amounts of vCPU and memory, while balancing cost</a:t>
            </a:r>
          </a:p>
          <a:p>
            <a:r>
              <a:rPr lang="en-US" sz="2400" u="sng" dirty="0">
                <a:hlinkClick r:id="rId4"/>
              </a:rPr>
              <a:t>Spot machines:</a:t>
            </a:r>
            <a:r>
              <a:rPr lang="en-US" sz="2400" dirty="0"/>
              <a:t> Reduce computing costs by up to 91%.</a:t>
            </a:r>
          </a:p>
          <a:p>
            <a:r>
              <a:rPr lang="en-US" sz="2400" u="sng" dirty="0">
                <a:hlinkClick r:id="rId5"/>
              </a:rPr>
              <a:t>Confidential computing</a:t>
            </a:r>
            <a:r>
              <a:rPr lang="en-US" sz="2400" dirty="0"/>
              <a:t>: Encrypt your most sensitive data while it’s being processed</a:t>
            </a:r>
          </a:p>
          <a:p>
            <a:r>
              <a:rPr lang="en-US" sz="2400" u="sng" dirty="0">
                <a:hlinkClick r:id="rId6"/>
              </a:rPr>
              <a:t>Rightsizing recommendations:</a:t>
            </a:r>
            <a:r>
              <a:rPr lang="en-US" sz="2400" dirty="0"/>
              <a:t> Optimize resource utilization with automatic recommendations</a:t>
            </a:r>
            <a:br>
              <a:rPr lang="en-US" sz="2400" dirty="0"/>
            </a:br>
            <a:endParaRPr lang="en-US" sz="2400" dirty="0"/>
          </a:p>
        </p:txBody>
      </p:sp>
    </p:spTree>
    <p:extLst>
      <p:ext uri="{BB962C8B-B14F-4D97-AF65-F5344CB8AC3E}">
        <p14:creationId xmlns:p14="http://schemas.microsoft.com/office/powerpoint/2010/main" val="15710001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1"/>
            <a:ext cx="8229600" cy="796834"/>
          </a:xfrm>
        </p:spPr>
        <p:txBody>
          <a:bodyPr/>
          <a:lstStyle/>
          <a:p>
            <a:r>
              <a:rPr lang="en-US" dirty="0"/>
              <a:t>Virtual machine types</a:t>
            </a:r>
          </a:p>
        </p:txBody>
      </p:sp>
      <p:sp>
        <p:nvSpPr>
          <p:cNvPr id="3" name="Content Placeholder 2"/>
          <p:cNvSpPr>
            <a:spLocks noGrp="1"/>
          </p:cNvSpPr>
          <p:nvPr>
            <p:ph idx="1"/>
          </p:nvPr>
        </p:nvSpPr>
        <p:spPr>
          <a:xfrm>
            <a:off x="0" y="1336766"/>
            <a:ext cx="8934994" cy="3886200"/>
          </a:xfrm>
        </p:spPr>
        <p:txBody>
          <a:bodyPr/>
          <a:lstStyle/>
          <a:p>
            <a:r>
              <a:rPr lang="en-US" sz="2000" b="1" dirty="0"/>
              <a:t>Scale-out workloads (T2D) </a:t>
            </a:r>
            <a:r>
              <a:rPr lang="en-US" sz="2000" dirty="0"/>
              <a:t>T2D offers the best price-performance compared to general-purpose VMs from any of the leading public cloud vendors. It is the first instance type in the Tau VM family and comes in predefined shapes, with up to 60vCPUs per VM and 4GB of memory per vCPU. T2D is ideal for scale-out workloads like web servers, containerized </a:t>
            </a:r>
            <a:r>
              <a:rPr lang="en-US" sz="2000" dirty="0" err="1"/>
              <a:t>microservices</a:t>
            </a:r>
            <a:r>
              <a:rPr lang="en-US" sz="2000" dirty="0"/>
              <a:t>, media transcoding, and large scale java applications.</a:t>
            </a:r>
          </a:p>
          <a:p>
            <a:r>
              <a:rPr lang="en-US" sz="2000" b="1" dirty="0"/>
              <a:t>General purpose workloads (E2, N2, N2D, N1) </a:t>
            </a:r>
            <a:r>
              <a:rPr lang="en-US" sz="2000" dirty="0"/>
              <a:t>E2, N2, N2D, and N1 are general-purpose machines offering a good balance of price and performance, and are suitable for a wide variety of common workloads including databases, development and testing environments, web applications, and mobile gaming. They support up to 224 vCPUs and 896 GB of memory.</a:t>
            </a:r>
          </a:p>
          <a:p>
            <a:r>
              <a:rPr lang="en-US" sz="2000" b="1" dirty="0"/>
              <a:t>Ultra-high memory (M2, M1) </a:t>
            </a:r>
            <a:r>
              <a:rPr lang="en-US" sz="2000" dirty="0"/>
              <a:t>Memory-optimized machines offer the highest memory configurations with up to 12 TB for a single instance. They are well suited to memory-intensive workloads such as large in-memory databases like SAP HANA, and in-memory data analytics workloads.</a:t>
            </a:r>
          </a:p>
        </p:txBody>
      </p:sp>
    </p:spTree>
    <p:extLst>
      <p:ext uri="{BB962C8B-B14F-4D97-AF65-F5344CB8AC3E}">
        <p14:creationId xmlns:p14="http://schemas.microsoft.com/office/powerpoint/2010/main" val="29985501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81598" y="457201"/>
            <a:ext cx="6588185" cy="6293592"/>
          </a:xfrm>
          <a:prstGeom prst="rect">
            <a:avLst/>
          </a:prstGeom>
        </p:spPr>
      </p:pic>
    </p:spTree>
    <p:extLst>
      <p:ext uri="{BB962C8B-B14F-4D97-AF65-F5344CB8AC3E}">
        <p14:creationId xmlns:p14="http://schemas.microsoft.com/office/powerpoint/2010/main" val="37277607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344394" y="479780"/>
            <a:ext cx="6432360" cy="6260654"/>
          </a:xfrm>
          <a:prstGeom prst="rect">
            <a:avLst/>
          </a:prstGeom>
        </p:spPr>
      </p:pic>
    </p:spTree>
    <p:extLst>
      <p:ext uri="{BB962C8B-B14F-4D97-AF65-F5344CB8AC3E}">
        <p14:creationId xmlns:p14="http://schemas.microsoft.com/office/powerpoint/2010/main" val="2521425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9782"/>
            <a:ext cx="8229600" cy="814251"/>
          </a:xfrm>
        </p:spPr>
        <p:txBody>
          <a:bodyPr/>
          <a:lstStyle/>
          <a:p>
            <a:r>
              <a:rPr lang="en-US" dirty="0"/>
              <a:t>Typical application</a:t>
            </a:r>
          </a:p>
        </p:txBody>
      </p:sp>
      <p:pic>
        <p:nvPicPr>
          <p:cNvPr id="5" name="Content Placeholder 4"/>
          <p:cNvPicPr>
            <a:picLocks noGrp="1" noChangeAspect="1"/>
          </p:cNvPicPr>
          <p:nvPr>
            <p:ph idx="1"/>
          </p:nvPr>
        </p:nvPicPr>
        <p:blipFill>
          <a:blip r:embed="rId2"/>
          <a:stretch>
            <a:fillRect/>
          </a:stretch>
        </p:blipFill>
        <p:spPr>
          <a:xfrm>
            <a:off x="121105" y="2037806"/>
            <a:ext cx="8886433" cy="3779520"/>
          </a:xfrm>
          <a:prstGeom prst="rect">
            <a:avLst/>
          </a:prstGeom>
        </p:spPr>
      </p:pic>
    </p:spTree>
    <p:extLst>
      <p:ext uri="{BB962C8B-B14F-4D97-AF65-F5344CB8AC3E}">
        <p14:creationId xmlns:p14="http://schemas.microsoft.com/office/powerpoint/2010/main" val="18597376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1"/>
            <a:ext cx="8229600" cy="674914"/>
          </a:xfrm>
        </p:spPr>
        <p:txBody>
          <a:bodyPr/>
          <a:lstStyle/>
          <a:p>
            <a:r>
              <a:rPr lang="en-US" dirty="0"/>
              <a:t>Other features</a:t>
            </a:r>
          </a:p>
        </p:txBody>
      </p:sp>
      <p:graphicFrame>
        <p:nvGraphicFramePr>
          <p:cNvPr id="6" name="Table 5"/>
          <p:cNvGraphicFramePr>
            <a:graphicFrameLocks noGrp="1"/>
          </p:cNvGraphicFramePr>
          <p:nvPr>
            <p:extLst>
              <p:ext uri="{D42A27DB-BD31-4B8C-83A1-F6EECF244321}">
                <p14:modId xmlns:p14="http://schemas.microsoft.com/office/powerpoint/2010/main" val="2961035412"/>
              </p:ext>
            </p:extLst>
          </p:nvPr>
        </p:nvGraphicFramePr>
        <p:xfrm>
          <a:off x="169817" y="1245326"/>
          <a:ext cx="8804366" cy="5524226"/>
        </p:xfrm>
        <a:graphic>
          <a:graphicData uri="http://schemas.openxmlformats.org/drawingml/2006/table">
            <a:tbl>
              <a:tblPr/>
              <a:tblGrid>
                <a:gridCol w="2381794">
                  <a:extLst>
                    <a:ext uri="{9D8B030D-6E8A-4147-A177-3AD203B41FA5}">
                      <a16:colId xmlns:a16="http://schemas.microsoft.com/office/drawing/2014/main" val="3942187409"/>
                    </a:ext>
                  </a:extLst>
                </a:gridCol>
                <a:gridCol w="6422572">
                  <a:extLst>
                    <a:ext uri="{9D8B030D-6E8A-4147-A177-3AD203B41FA5}">
                      <a16:colId xmlns:a16="http://schemas.microsoft.com/office/drawing/2014/main" val="2880476478"/>
                    </a:ext>
                  </a:extLst>
                </a:gridCol>
              </a:tblGrid>
              <a:tr h="1061292">
                <a:tc>
                  <a:txBody>
                    <a:bodyPr/>
                    <a:lstStyle/>
                    <a:p>
                      <a:pPr algn="l" fontAlgn="t"/>
                      <a:r>
                        <a:rPr lang="en-US" sz="1800" b="0" dirty="0">
                          <a:solidFill>
                            <a:srgbClr val="202124"/>
                          </a:solidFill>
                          <a:effectLst/>
                          <a:latin typeface="Google Sans"/>
                        </a:rPr>
                        <a:t>VM Manager</a:t>
                      </a:r>
                      <a:endParaRPr lang="en-US" sz="1800" dirty="0">
                        <a:solidFill>
                          <a:srgbClr val="5F6368"/>
                        </a:solidFill>
                        <a:effectLst/>
                      </a:endParaRPr>
                    </a:p>
                  </a:txBody>
                  <a:tcPr marL="46822" marR="46822" marT="109251" marB="109251">
                    <a:lnL>
                      <a:noFill/>
                    </a:lnL>
                    <a:lnR>
                      <a:noFill/>
                    </a:lnR>
                    <a:lnT>
                      <a:noFill/>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u="sng">
                          <a:solidFill>
                            <a:srgbClr val="1967D2"/>
                          </a:solidFill>
                          <a:effectLst/>
                          <a:latin typeface="Roboto"/>
                          <a:hlinkClick r:id="rId2"/>
                        </a:rPr>
                        <a:t>VM Manager</a:t>
                      </a:r>
                      <a:r>
                        <a:rPr lang="en-US" sz="1800" b="0">
                          <a:solidFill>
                            <a:srgbClr val="5F6368"/>
                          </a:solidFill>
                          <a:effectLst/>
                          <a:latin typeface="Roboto"/>
                        </a:rPr>
                        <a:t> is a suite of tools that can be used to manage operating systems for large virtual machine (VM) fleets running Windows and Linux on Compute Engine.</a:t>
                      </a:r>
                      <a:endParaRPr lang="en-US" sz="1800">
                        <a:solidFill>
                          <a:srgbClr val="5F6368"/>
                        </a:solidFill>
                        <a:effectLst/>
                      </a:endParaRPr>
                    </a:p>
                  </a:txBody>
                  <a:tcPr marL="93643" marR="46822" marT="109251" marB="109251">
                    <a:lnL>
                      <a:noFill/>
                    </a:lnL>
                    <a:lnR>
                      <a:noFill/>
                    </a:lnR>
                    <a:lnT>
                      <a:noFill/>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2339165338"/>
                  </a:ext>
                </a:extLst>
              </a:tr>
              <a:tr h="1623152">
                <a:tc>
                  <a:txBody>
                    <a:bodyPr/>
                    <a:lstStyle/>
                    <a:p>
                      <a:pPr algn="l" fontAlgn="t"/>
                      <a:r>
                        <a:rPr lang="en-US" sz="1800" b="0" dirty="0">
                          <a:solidFill>
                            <a:srgbClr val="202124"/>
                          </a:solidFill>
                          <a:effectLst/>
                          <a:latin typeface="Google Sans"/>
                        </a:rPr>
                        <a:t>Confidential VMs</a:t>
                      </a:r>
                      <a:endParaRPr lang="en-US" sz="1800" dirty="0">
                        <a:solidFill>
                          <a:srgbClr val="5F6368"/>
                        </a:solidFill>
                        <a:effectLst/>
                      </a:endParaRPr>
                    </a:p>
                  </a:txBody>
                  <a:tcPr marL="46822" marR="46822" marT="109251" marB="109251">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u="sng" dirty="0">
                          <a:solidFill>
                            <a:srgbClr val="1967D2"/>
                          </a:solidFill>
                          <a:effectLst/>
                          <a:latin typeface="Roboto"/>
                          <a:hlinkClick r:id="rId3"/>
                        </a:rPr>
                        <a:t>Confidential VMs</a:t>
                      </a:r>
                      <a:r>
                        <a:rPr lang="en-US" sz="1800" b="0" dirty="0">
                          <a:solidFill>
                            <a:srgbClr val="5F6368"/>
                          </a:solidFill>
                          <a:effectLst/>
                          <a:latin typeface="Roboto"/>
                        </a:rPr>
                        <a:t> are a breakthrough technology that allows you to encrypt data in use—while it’s being processed. It is a simple, easy-to-use deployment that doesn't compromise on performance. You can collaborate with anyone, all while preserving the confidentiality of your data.</a:t>
                      </a:r>
                      <a:endParaRPr lang="en-US" sz="1800" dirty="0">
                        <a:solidFill>
                          <a:srgbClr val="5F6368"/>
                        </a:solidFill>
                        <a:effectLst/>
                      </a:endParaRPr>
                    </a:p>
                  </a:txBody>
                  <a:tcPr marL="93643" marR="46822" marT="109251" marB="109251">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3586220397"/>
                  </a:ext>
                </a:extLst>
              </a:tr>
              <a:tr h="1201757">
                <a:tc>
                  <a:txBody>
                    <a:bodyPr/>
                    <a:lstStyle/>
                    <a:p>
                      <a:pPr algn="l" fontAlgn="t"/>
                      <a:r>
                        <a:rPr lang="en-US" sz="1800" b="0">
                          <a:solidFill>
                            <a:srgbClr val="202124"/>
                          </a:solidFill>
                          <a:effectLst/>
                          <a:latin typeface="Google Sans"/>
                        </a:rPr>
                        <a:t>Live migration for VMs</a:t>
                      </a:r>
                      <a:endParaRPr lang="en-US" sz="1800">
                        <a:solidFill>
                          <a:srgbClr val="5F6368"/>
                        </a:solidFill>
                        <a:effectLst/>
                      </a:endParaRPr>
                    </a:p>
                  </a:txBody>
                  <a:tcPr marL="46822" marR="46822" marT="109251" marB="109251">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dirty="0">
                          <a:solidFill>
                            <a:srgbClr val="5F6368"/>
                          </a:solidFill>
                          <a:effectLst/>
                          <a:latin typeface="Roboto"/>
                        </a:rPr>
                        <a:t>Compute Engine virtual machines can </a:t>
                      </a:r>
                      <a:r>
                        <a:rPr lang="en-US" sz="1800" b="0" u="sng" dirty="0">
                          <a:solidFill>
                            <a:srgbClr val="1967D2"/>
                          </a:solidFill>
                          <a:effectLst/>
                          <a:latin typeface="Roboto"/>
                          <a:hlinkClick r:id="rId4"/>
                        </a:rPr>
                        <a:t>live-migrate</a:t>
                      </a:r>
                      <a:r>
                        <a:rPr lang="en-US" sz="1800" b="0" dirty="0">
                          <a:solidFill>
                            <a:srgbClr val="5F6368"/>
                          </a:solidFill>
                          <a:effectLst/>
                          <a:latin typeface="Roboto"/>
                        </a:rPr>
                        <a:t> between host systems without rebooting, which keeps your applications running even when host systems require maintenance.</a:t>
                      </a:r>
                      <a:endParaRPr lang="en-US" sz="1800" dirty="0">
                        <a:solidFill>
                          <a:srgbClr val="5F6368"/>
                        </a:solidFill>
                        <a:effectLst/>
                      </a:endParaRPr>
                    </a:p>
                  </a:txBody>
                  <a:tcPr marL="93643" marR="46822" marT="109251" marB="109251">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2502952801"/>
                  </a:ext>
                </a:extLst>
              </a:tr>
              <a:tr h="1201757">
                <a:tc>
                  <a:txBody>
                    <a:bodyPr/>
                    <a:lstStyle/>
                    <a:p>
                      <a:pPr algn="l" fontAlgn="t"/>
                      <a:r>
                        <a:rPr lang="en-US" sz="1800" b="0">
                          <a:solidFill>
                            <a:srgbClr val="202124"/>
                          </a:solidFill>
                          <a:effectLst/>
                          <a:latin typeface="Google Sans"/>
                        </a:rPr>
                        <a:t>Spot VMs</a:t>
                      </a:r>
                      <a:endParaRPr lang="en-US" sz="1800">
                        <a:solidFill>
                          <a:srgbClr val="5F6368"/>
                        </a:solidFill>
                        <a:effectLst/>
                      </a:endParaRPr>
                    </a:p>
                  </a:txBody>
                  <a:tcPr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dirty="0">
                          <a:solidFill>
                            <a:srgbClr val="5F6368"/>
                          </a:solidFill>
                          <a:effectLst/>
                          <a:latin typeface="Roboto"/>
                        </a:rPr>
                        <a:t>Affordable compute instances suitable for batch jobs and fault-tolerant workloads. </a:t>
                      </a:r>
                      <a:r>
                        <a:rPr lang="en-US" sz="1800" b="0" u="sng" dirty="0">
                          <a:solidFill>
                            <a:srgbClr val="1967D2"/>
                          </a:solidFill>
                          <a:effectLst/>
                          <a:latin typeface="Roboto"/>
                          <a:hlinkClick r:id="rId5"/>
                        </a:rPr>
                        <a:t>Spot VMs</a:t>
                      </a:r>
                      <a:r>
                        <a:rPr lang="en-US" sz="1800" b="0" dirty="0">
                          <a:solidFill>
                            <a:srgbClr val="5F6368"/>
                          </a:solidFill>
                          <a:effectLst/>
                          <a:latin typeface="Roboto"/>
                        </a:rPr>
                        <a:t> provide significant savings of up to 91%, while still getting the same performance and capabilities as regular VMs.</a:t>
                      </a:r>
                      <a:endParaRPr lang="en-US" sz="1800" dirty="0">
                        <a:solidFill>
                          <a:srgbClr val="5F6368"/>
                        </a:solidFill>
                        <a:effectLst/>
                      </a:endParaRPr>
                    </a:p>
                  </a:txBody>
                  <a:tcPr marL="182880"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173403222"/>
                  </a:ext>
                </a:extLst>
              </a:tr>
            </a:tbl>
          </a:graphicData>
        </a:graphic>
      </p:graphicFrame>
    </p:spTree>
    <p:extLst>
      <p:ext uri="{BB962C8B-B14F-4D97-AF65-F5344CB8AC3E}">
        <p14:creationId xmlns:p14="http://schemas.microsoft.com/office/powerpoint/2010/main" val="177424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86230247"/>
              </p:ext>
            </p:extLst>
          </p:nvPr>
        </p:nvGraphicFramePr>
        <p:xfrm>
          <a:off x="169817" y="757645"/>
          <a:ext cx="8904514" cy="6031645"/>
        </p:xfrm>
        <a:graphic>
          <a:graphicData uri="http://schemas.openxmlformats.org/drawingml/2006/table">
            <a:tbl>
              <a:tblPr/>
              <a:tblGrid>
                <a:gridCol w="2024743">
                  <a:extLst>
                    <a:ext uri="{9D8B030D-6E8A-4147-A177-3AD203B41FA5}">
                      <a16:colId xmlns:a16="http://schemas.microsoft.com/office/drawing/2014/main" val="3942187409"/>
                    </a:ext>
                  </a:extLst>
                </a:gridCol>
                <a:gridCol w="6879771">
                  <a:extLst>
                    <a:ext uri="{9D8B030D-6E8A-4147-A177-3AD203B41FA5}">
                      <a16:colId xmlns:a16="http://schemas.microsoft.com/office/drawing/2014/main" val="2880476478"/>
                    </a:ext>
                  </a:extLst>
                </a:gridCol>
              </a:tblGrid>
              <a:tr h="1375954">
                <a:tc>
                  <a:txBody>
                    <a:bodyPr/>
                    <a:lstStyle/>
                    <a:p>
                      <a:pPr algn="l" fontAlgn="t"/>
                      <a:r>
                        <a:rPr lang="en-US" b="0" dirty="0">
                          <a:solidFill>
                            <a:srgbClr val="202124"/>
                          </a:solidFill>
                          <a:effectLst/>
                          <a:latin typeface="Google Sans"/>
                        </a:rPr>
                        <a:t>Instance groups</a:t>
                      </a:r>
                      <a:endParaRPr lang="en-US" dirty="0">
                        <a:solidFill>
                          <a:srgbClr val="5F6368"/>
                        </a:solidFill>
                        <a:effectLst/>
                      </a:endParaRPr>
                    </a:p>
                  </a:txBody>
                  <a:tcPr marT="213360" marB="213360">
                    <a:lnL>
                      <a:noFill/>
                    </a:lnL>
                    <a:lnR>
                      <a:noFill/>
                    </a:lnR>
                    <a:lnT>
                      <a:noFill/>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b="0" u="sng" dirty="0">
                          <a:solidFill>
                            <a:srgbClr val="1967D2"/>
                          </a:solidFill>
                          <a:effectLst/>
                          <a:latin typeface="Roboto"/>
                          <a:hlinkClick r:id="rId2"/>
                        </a:rPr>
                        <a:t>An instance group</a:t>
                      </a:r>
                      <a:r>
                        <a:rPr lang="en-US" b="0" dirty="0">
                          <a:solidFill>
                            <a:srgbClr val="5F6368"/>
                          </a:solidFill>
                          <a:effectLst/>
                          <a:latin typeface="Roboto"/>
                        </a:rPr>
                        <a:t> is a collection of virtual machines running a single application. It automatically creates and deletes virtual machines to meet the demand, repairs workload from failures, and runs updates.</a:t>
                      </a:r>
                      <a:endParaRPr lang="en-US" dirty="0">
                        <a:solidFill>
                          <a:srgbClr val="5F6368"/>
                        </a:solidFill>
                        <a:effectLst/>
                      </a:endParaRPr>
                    </a:p>
                  </a:txBody>
                  <a:tcPr marL="182880" marT="213360" marB="213360">
                    <a:lnL>
                      <a:noFill/>
                    </a:lnL>
                    <a:lnR>
                      <a:noFill/>
                    </a:lnR>
                    <a:lnT>
                      <a:noFill/>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2339165338"/>
                  </a:ext>
                </a:extLst>
              </a:tr>
              <a:tr h="906436">
                <a:tc>
                  <a:txBody>
                    <a:bodyPr/>
                    <a:lstStyle/>
                    <a:p>
                      <a:pPr algn="l" fontAlgn="t"/>
                      <a:r>
                        <a:rPr lang="en-US" b="0">
                          <a:solidFill>
                            <a:srgbClr val="202124"/>
                          </a:solidFill>
                          <a:effectLst/>
                          <a:latin typeface="Google Sans"/>
                        </a:rPr>
                        <a:t>Per-second billing</a:t>
                      </a:r>
                      <a:endParaRPr lang="en-US">
                        <a:solidFill>
                          <a:srgbClr val="5F6368"/>
                        </a:solidFill>
                        <a:effectLst/>
                      </a:endParaRPr>
                    </a:p>
                  </a:txBody>
                  <a:tcPr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b="0">
                          <a:solidFill>
                            <a:srgbClr val="5F6368"/>
                          </a:solidFill>
                          <a:effectLst/>
                          <a:latin typeface="Roboto"/>
                        </a:rPr>
                        <a:t>Google bills in second-level increments. You pay only for the compute time that you use.</a:t>
                      </a:r>
                      <a:endParaRPr lang="en-US">
                        <a:solidFill>
                          <a:srgbClr val="5F6368"/>
                        </a:solidFill>
                        <a:effectLst/>
                      </a:endParaRPr>
                    </a:p>
                  </a:txBody>
                  <a:tcPr marL="182880"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3586220397"/>
                  </a:ext>
                </a:extLst>
              </a:tr>
              <a:tr h="906436">
                <a:tc>
                  <a:txBody>
                    <a:bodyPr/>
                    <a:lstStyle/>
                    <a:p>
                      <a:pPr algn="l" fontAlgn="t"/>
                      <a:r>
                        <a:rPr lang="en-US" b="0">
                          <a:solidFill>
                            <a:srgbClr val="202124"/>
                          </a:solidFill>
                          <a:effectLst/>
                          <a:latin typeface="Google Sans"/>
                        </a:rPr>
                        <a:t>Commitment savings</a:t>
                      </a:r>
                      <a:endParaRPr lang="en-US">
                        <a:solidFill>
                          <a:srgbClr val="5F6368"/>
                        </a:solidFill>
                        <a:effectLst/>
                      </a:endParaRPr>
                    </a:p>
                  </a:txBody>
                  <a:tcPr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b="0">
                          <a:solidFill>
                            <a:srgbClr val="5F6368"/>
                          </a:solidFill>
                          <a:effectLst/>
                          <a:latin typeface="Roboto"/>
                        </a:rPr>
                        <a:t>With committed-use discounts, you can save up to 57% with no up-front costs or instance-type lock-in.</a:t>
                      </a:r>
                      <a:endParaRPr lang="en-US">
                        <a:solidFill>
                          <a:srgbClr val="5F6368"/>
                        </a:solidFill>
                        <a:effectLst/>
                      </a:endParaRPr>
                    </a:p>
                  </a:txBody>
                  <a:tcPr marL="182880"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2502952801"/>
                  </a:ext>
                </a:extLst>
              </a:tr>
              <a:tr h="906436">
                <a:tc>
                  <a:txBody>
                    <a:bodyPr/>
                    <a:lstStyle/>
                    <a:p>
                      <a:pPr algn="l" fontAlgn="t"/>
                      <a:r>
                        <a:rPr lang="en-US" b="0">
                          <a:solidFill>
                            <a:srgbClr val="202124"/>
                          </a:solidFill>
                          <a:effectLst/>
                          <a:latin typeface="Google Sans"/>
                        </a:rPr>
                        <a:t>Container support</a:t>
                      </a:r>
                      <a:endParaRPr lang="en-US">
                        <a:solidFill>
                          <a:srgbClr val="5F6368"/>
                        </a:solidFill>
                        <a:effectLst/>
                      </a:endParaRPr>
                    </a:p>
                  </a:txBody>
                  <a:tcPr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b="0" dirty="0">
                          <a:solidFill>
                            <a:srgbClr val="5F6368"/>
                          </a:solidFill>
                          <a:effectLst/>
                          <a:latin typeface="Roboto"/>
                        </a:rPr>
                        <a:t>Run, manage, and orchestrate Docker containers on Compute Engine VMs with Google Kubernetes Engine.</a:t>
                      </a:r>
                      <a:endParaRPr lang="en-US" dirty="0">
                        <a:solidFill>
                          <a:srgbClr val="5F6368"/>
                        </a:solidFill>
                        <a:effectLst/>
                      </a:endParaRPr>
                    </a:p>
                  </a:txBody>
                  <a:tcPr marL="182880"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173403222"/>
                  </a:ext>
                </a:extLst>
              </a:tr>
              <a:tr h="1581565">
                <a:tc>
                  <a:txBody>
                    <a:bodyPr/>
                    <a:lstStyle/>
                    <a:p>
                      <a:pPr algn="l" fontAlgn="t"/>
                      <a:r>
                        <a:rPr lang="en-US" b="0">
                          <a:solidFill>
                            <a:srgbClr val="202124"/>
                          </a:solidFill>
                          <a:effectLst/>
                          <a:latin typeface="Google Sans"/>
                        </a:rPr>
                        <a:t>Reservations</a:t>
                      </a:r>
                      <a:endParaRPr lang="en-US">
                        <a:solidFill>
                          <a:srgbClr val="5F6368"/>
                        </a:solidFill>
                        <a:effectLst/>
                      </a:endParaRPr>
                    </a:p>
                  </a:txBody>
                  <a:tcPr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b="0" dirty="0">
                          <a:solidFill>
                            <a:srgbClr val="5F6368"/>
                          </a:solidFill>
                          <a:effectLst/>
                          <a:latin typeface="Roboto"/>
                        </a:rPr>
                        <a:t>Create reservations for VM instances in a specific zone. Use reservations to ensure that your project has resources for future increases in demand. When you no longer need a reservation, delete the reservation to stop incurring charges for it.</a:t>
                      </a:r>
                      <a:endParaRPr lang="en-US" dirty="0">
                        <a:solidFill>
                          <a:srgbClr val="5F6368"/>
                        </a:solidFill>
                        <a:effectLst/>
                      </a:endParaRPr>
                    </a:p>
                  </a:txBody>
                  <a:tcPr marL="182880"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616301313"/>
                  </a:ext>
                </a:extLst>
              </a:tr>
            </a:tbl>
          </a:graphicData>
        </a:graphic>
      </p:graphicFrame>
    </p:spTree>
    <p:extLst>
      <p:ext uri="{BB962C8B-B14F-4D97-AF65-F5344CB8AC3E}">
        <p14:creationId xmlns:p14="http://schemas.microsoft.com/office/powerpoint/2010/main" val="31239012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ctr"/>
            <a:r>
              <a:rPr lang="en-US" dirty="0"/>
              <a:t>Migrate for Compute Engine</a:t>
            </a:r>
          </a:p>
        </p:txBody>
      </p:sp>
      <p:sp>
        <p:nvSpPr>
          <p:cNvPr id="3" name="Content Placeholder 2"/>
          <p:cNvSpPr>
            <a:spLocks noGrp="1"/>
          </p:cNvSpPr>
          <p:nvPr>
            <p:ph idx="1"/>
          </p:nvPr>
        </p:nvSpPr>
        <p:spPr>
          <a:xfrm>
            <a:off x="309154" y="1563189"/>
            <a:ext cx="8564880" cy="3886200"/>
          </a:xfrm>
        </p:spPr>
        <p:txBody>
          <a:bodyPr/>
          <a:lstStyle/>
          <a:p>
            <a:r>
              <a:rPr lang="en-US" sz="2400" dirty="0"/>
              <a:t> Whether you’re looking to migrate one application from on-premises or one thousand enterprise-grade applications across multiple data centers, Migrate for Compute Engine gives any IT team, large or small, the power to migrate their workloads to Google Cloud.</a:t>
            </a:r>
          </a:p>
          <a:p>
            <a:r>
              <a:rPr lang="en-US" sz="2400" dirty="0"/>
              <a:t>With Migrate for Compute Engine’s simple “as a service” interface within Cloud Console and flexible migration options, it’s easy for anyone to reduce the time and toil that typically goes into a migration. Avoid complex deployments, setup, and configurations. Eliminate confusing and troublesome client-side migration tool agents. By using the right migration tool, you can save your migration team’s valuable time for what matters most: migrating workloads. </a:t>
            </a:r>
          </a:p>
          <a:p>
            <a:endParaRPr lang="en-US" sz="2400" dirty="0"/>
          </a:p>
          <a:p>
            <a:endParaRPr lang="en-US" sz="2400" dirty="0"/>
          </a:p>
        </p:txBody>
      </p:sp>
    </p:spTree>
    <p:extLst>
      <p:ext uri="{BB962C8B-B14F-4D97-AF65-F5344CB8AC3E}">
        <p14:creationId xmlns:p14="http://schemas.microsoft.com/office/powerpoint/2010/main" val="8263296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70709"/>
          </a:xfrm>
        </p:spPr>
        <p:txBody>
          <a:bodyPr/>
          <a:lstStyle/>
          <a:p>
            <a:pPr fontAlgn="ctr"/>
            <a:r>
              <a:rPr lang="en-US" dirty="0"/>
              <a:t>Spot VMs</a:t>
            </a:r>
          </a:p>
        </p:txBody>
      </p:sp>
      <p:sp>
        <p:nvSpPr>
          <p:cNvPr id="3" name="Content Placeholder 2"/>
          <p:cNvSpPr>
            <a:spLocks noGrp="1"/>
          </p:cNvSpPr>
          <p:nvPr>
            <p:ph idx="1"/>
          </p:nvPr>
        </p:nvSpPr>
        <p:spPr>
          <a:xfrm>
            <a:off x="239485" y="1362891"/>
            <a:ext cx="8704218" cy="3886200"/>
          </a:xfrm>
        </p:spPr>
        <p:txBody>
          <a:bodyPr/>
          <a:lstStyle/>
          <a:p>
            <a:r>
              <a:rPr lang="en-US" sz="2400" dirty="0"/>
              <a:t>Spot VMs are highly affordable compute instances suitable for batch jobs and fault-tolerant workloads. Spot VMs offer the same machine types, options, and performance as regular compute instances. If your applications are fault tolerant and can withstand possible instance preemptions, then Spot instances can reduce your </a:t>
            </a:r>
            <a:r>
              <a:rPr lang="en-US" sz="2400" u="sng" dirty="0">
                <a:hlinkClick r:id="rId2"/>
              </a:rPr>
              <a:t>Compute Engine</a:t>
            </a:r>
            <a:r>
              <a:rPr lang="en-US" sz="2400" dirty="0"/>
              <a:t> costs by up to 91%! ( at least a 60% off guarantee.)</a:t>
            </a:r>
          </a:p>
          <a:p>
            <a:r>
              <a:rPr lang="en-US" sz="2400" dirty="0"/>
              <a:t>Supplement your regular VMs with lower-cost Spot instances to finish your compute-intensive work faster, saving you time and money. Throw Spot VMs at fault-tolerant workloads such as high performance computing, big data and analytics, continuous integration/continuous delivery (CI/CD), rendering/transcoding, and testing.</a:t>
            </a:r>
          </a:p>
        </p:txBody>
      </p:sp>
    </p:spTree>
    <p:extLst>
      <p:ext uri="{BB962C8B-B14F-4D97-AF65-F5344CB8AC3E}">
        <p14:creationId xmlns:p14="http://schemas.microsoft.com/office/powerpoint/2010/main" val="12074832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75509"/>
          </a:xfrm>
        </p:spPr>
        <p:txBody>
          <a:bodyPr/>
          <a:lstStyle/>
          <a:p>
            <a:r>
              <a:rPr lang="en-US" dirty="0"/>
              <a:t>Shielded VMs</a:t>
            </a:r>
          </a:p>
        </p:txBody>
      </p:sp>
      <p:sp>
        <p:nvSpPr>
          <p:cNvPr id="3" name="Content Placeholder 2"/>
          <p:cNvSpPr>
            <a:spLocks noGrp="1"/>
          </p:cNvSpPr>
          <p:nvPr>
            <p:ph idx="1"/>
          </p:nvPr>
        </p:nvSpPr>
        <p:spPr>
          <a:xfrm>
            <a:off x="291737" y="1693817"/>
            <a:ext cx="8229600" cy="3886200"/>
          </a:xfrm>
        </p:spPr>
        <p:txBody>
          <a:bodyPr/>
          <a:lstStyle/>
          <a:p>
            <a:r>
              <a:rPr lang="en-US" sz="2800" dirty="0"/>
              <a:t>Shielded VMs are virtual machines (VMs) on Google Cloud hardened by a set of security controls that help defend against rootkits and </a:t>
            </a:r>
            <a:r>
              <a:rPr lang="en-US" sz="2800" dirty="0" err="1"/>
              <a:t>bootkits</a:t>
            </a:r>
            <a:r>
              <a:rPr lang="en-US" sz="2800" dirty="0"/>
              <a:t>. Using Shielded VMs helps protect enterprise workloads from threats like remote attacks, privilege escalation, and malicious insiders. Shielded VMs leverage advanced platform security capabilities such as secure and measured boot, a virtual trusted platform module (</a:t>
            </a:r>
            <a:r>
              <a:rPr lang="en-US" sz="2800" dirty="0" err="1"/>
              <a:t>vTPM</a:t>
            </a:r>
            <a:r>
              <a:rPr lang="en-US" sz="2800" dirty="0"/>
              <a:t>), UEFI firmware, and integrity monitoring.</a:t>
            </a:r>
          </a:p>
          <a:p>
            <a:endParaRPr lang="en-US" sz="2800" dirty="0"/>
          </a:p>
        </p:txBody>
      </p:sp>
    </p:spTree>
    <p:extLst>
      <p:ext uri="{BB962C8B-B14F-4D97-AF65-F5344CB8AC3E}">
        <p14:creationId xmlns:p14="http://schemas.microsoft.com/office/powerpoint/2010/main" val="19350025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ctr"/>
            <a:r>
              <a:rPr lang="en-US" dirty="0"/>
              <a:t>Sole-tenant nodes</a:t>
            </a:r>
          </a:p>
        </p:txBody>
      </p:sp>
      <p:sp>
        <p:nvSpPr>
          <p:cNvPr id="3" name="Content Placeholder 2"/>
          <p:cNvSpPr>
            <a:spLocks noGrp="1"/>
          </p:cNvSpPr>
          <p:nvPr>
            <p:ph idx="1"/>
          </p:nvPr>
        </p:nvSpPr>
        <p:spPr>
          <a:xfrm>
            <a:off x="343988" y="1580606"/>
            <a:ext cx="8678092" cy="3886200"/>
          </a:xfrm>
        </p:spPr>
        <p:txBody>
          <a:bodyPr/>
          <a:lstStyle/>
          <a:p>
            <a:r>
              <a:rPr lang="en-US" sz="2800" dirty="0"/>
              <a:t>Sole-tenancy lets you have exclusive access to a </a:t>
            </a:r>
            <a:r>
              <a:rPr lang="en-US" sz="2800" i="1" dirty="0"/>
              <a:t>sole-tenant node</a:t>
            </a:r>
            <a:r>
              <a:rPr lang="en-US" sz="2800" dirty="0"/>
              <a:t>, which is a physical Compute Engine server that is dedicated to hosting only your project's VMs. </a:t>
            </a:r>
          </a:p>
        </p:txBody>
      </p:sp>
      <p:pic>
        <p:nvPicPr>
          <p:cNvPr id="7" name="Picture 6"/>
          <p:cNvPicPr>
            <a:picLocks noChangeAspect="1"/>
          </p:cNvPicPr>
          <p:nvPr/>
        </p:nvPicPr>
        <p:blipFill>
          <a:blip r:embed="rId2"/>
          <a:stretch>
            <a:fillRect/>
          </a:stretch>
        </p:blipFill>
        <p:spPr>
          <a:xfrm>
            <a:off x="2211977" y="3361098"/>
            <a:ext cx="5320937" cy="3419589"/>
          </a:xfrm>
          <a:prstGeom prst="rect">
            <a:avLst/>
          </a:prstGeom>
        </p:spPr>
      </p:pic>
    </p:spTree>
    <p:extLst>
      <p:ext uri="{BB962C8B-B14F-4D97-AF65-F5344CB8AC3E}">
        <p14:creationId xmlns:p14="http://schemas.microsoft.com/office/powerpoint/2010/main" val="33318959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Server on Google Cloud</a:t>
            </a:r>
          </a:p>
        </p:txBody>
      </p:sp>
      <p:sp>
        <p:nvSpPr>
          <p:cNvPr id="3" name="Content Placeholder 2"/>
          <p:cNvSpPr>
            <a:spLocks noGrp="1"/>
          </p:cNvSpPr>
          <p:nvPr>
            <p:ph idx="1"/>
          </p:nvPr>
        </p:nvSpPr>
        <p:spPr>
          <a:xfrm>
            <a:off x="457200" y="1711235"/>
            <a:ext cx="8425543" cy="3886200"/>
          </a:xfrm>
        </p:spPr>
        <p:txBody>
          <a:bodyPr/>
          <a:lstStyle/>
          <a:p>
            <a:r>
              <a:rPr lang="en-US" sz="2800" dirty="0"/>
              <a:t>Migrate and run Microsoft SQL Server on Compute Engine or use managed Cloud SQL for SQL Server</a:t>
            </a:r>
          </a:p>
          <a:p>
            <a:r>
              <a:rPr lang="en-US" sz="2800" dirty="0"/>
              <a:t>Bring your existing SQL Server licenses and run them on Compute Engine</a:t>
            </a:r>
          </a:p>
          <a:p>
            <a:r>
              <a:rPr lang="en-US" sz="2800" dirty="0"/>
              <a:t>Run license-included SQL Server VM images on Compute Engine</a:t>
            </a:r>
          </a:p>
          <a:p>
            <a:r>
              <a:rPr lang="en-US" sz="2800" dirty="0"/>
              <a:t>Use fully managed Cloud SQL for SQL Server to reduce operational overhead</a:t>
            </a:r>
          </a:p>
          <a:p>
            <a:r>
              <a:rPr lang="en-US" sz="2800" dirty="0"/>
              <a:t>Full compatibility and configurable custom VM shapes help you optimize cost</a:t>
            </a:r>
          </a:p>
        </p:txBody>
      </p:sp>
    </p:spTree>
    <p:extLst>
      <p:ext uri="{BB962C8B-B14F-4D97-AF65-F5344CB8AC3E}">
        <p14:creationId xmlns:p14="http://schemas.microsoft.com/office/powerpoint/2010/main" val="31047490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ctr"/>
            <a:r>
              <a:rPr lang="en-US" dirty="0"/>
              <a:t>Google Cloud VMware Engine</a:t>
            </a:r>
          </a:p>
        </p:txBody>
      </p:sp>
      <p:sp>
        <p:nvSpPr>
          <p:cNvPr id="3" name="Content Placeholder 2"/>
          <p:cNvSpPr>
            <a:spLocks noGrp="1"/>
          </p:cNvSpPr>
          <p:nvPr>
            <p:ph idx="1"/>
          </p:nvPr>
        </p:nvSpPr>
        <p:spPr>
          <a:xfrm>
            <a:off x="300446" y="1693818"/>
            <a:ext cx="8843554" cy="3886200"/>
          </a:xfrm>
        </p:spPr>
        <p:txBody>
          <a:bodyPr/>
          <a:lstStyle/>
          <a:p>
            <a:r>
              <a:rPr lang="en-US" sz="2800" dirty="0"/>
              <a:t>Easily lift and shift your VMware-based applications to Google Cloud without changes to your apps, tools, or processes. Includes all the hardware and VMware licenses to run in a dedicated VMware SDDC in Google Cloud.  </a:t>
            </a:r>
          </a:p>
          <a:p>
            <a:r>
              <a:rPr lang="en-US" sz="2800" dirty="0"/>
              <a:t>VMware Engine is built on Google Cloud’s highly performant, scalable infrastructure with fully redundant and dedicated 100 </a:t>
            </a:r>
            <a:r>
              <a:rPr lang="en-US" sz="2800" dirty="0" err="1"/>
              <a:t>Gbps</a:t>
            </a:r>
            <a:r>
              <a:rPr lang="en-US" sz="2800" dirty="0"/>
              <a:t> networking, providing </a:t>
            </a:r>
            <a:r>
              <a:rPr lang="en-US" sz="2800" u="sng" dirty="0">
                <a:hlinkClick r:id="rId2"/>
              </a:rPr>
              <a:t>99.99% availability</a:t>
            </a:r>
            <a:r>
              <a:rPr lang="en-US" sz="2800" dirty="0"/>
              <a:t> to meet the needs of your most demanding enterprise workloads.</a:t>
            </a:r>
          </a:p>
          <a:p>
            <a:pPr marL="0" indent="0">
              <a:buNone/>
            </a:pPr>
            <a:endParaRPr lang="en-US" sz="2800" dirty="0"/>
          </a:p>
          <a:p>
            <a:endParaRPr lang="en-US" sz="2800" dirty="0"/>
          </a:p>
        </p:txBody>
      </p:sp>
    </p:spTree>
    <p:extLst>
      <p:ext uri="{BB962C8B-B14F-4D97-AF65-F5344CB8AC3E}">
        <p14:creationId xmlns:p14="http://schemas.microsoft.com/office/powerpoint/2010/main" val="27264714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a:t>
            </a:r>
          </a:p>
        </p:txBody>
      </p:sp>
      <p:pic>
        <p:nvPicPr>
          <p:cNvPr id="5" name="Content Placeholder 4"/>
          <p:cNvPicPr>
            <a:picLocks noGrp="1" noChangeAspect="1"/>
          </p:cNvPicPr>
          <p:nvPr>
            <p:ph idx="1"/>
          </p:nvPr>
        </p:nvPicPr>
        <p:blipFill>
          <a:blip r:embed="rId2"/>
          <a:stretch>
            <a:fillRect/>
          </a:stretch>
        </p:blipFill>
        <p:spPr>
          <a:xfrm>
            <a:off x="320083" y="1963782"/>
            <a:ext cx="8503833" cy="4428264"/>
          </a:xfrm>
          <a:prstGeom prst="rect">
            <a:avLst/>
          </a:prstGeom>
        </p:spPr>
      </p:pic>
    </p:spTree>
    <p:extLst>
      <p:ext uri="{BB962C8B-B14F-4D97-AF65-F5344CB8AC3E}">
        <p14:creationId xmlns:p14="http://schemas.microsoft.com/office/powerpoint/2010/main" val="20861573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ctr"/>
            <a:r>
              <a:rPr lang="en-US" dirty="0"/>
              <a:t>Storage Transfer Service</a:t>
            </a:r>
          </a:p>
        </p:txBody>
      </p:sp>
      <p:sp>
        <p:nvSpPr>
          <p:cNvPr id="3" name="Content Placeholder 2"/>
          <p:cNvSpPr>
            <a:spLocks noGrp="1"/>
          </p:cNvSpPr>
          <p:nvPr>
            <p:ph idx="1"/>
          </p:nvPr>
        </p:nvSpPr>
        <p:spPr>
          <a:xfrm>
            <a:off x="174171" y="1624149"/>
            <a:ext cx="8865325" cy="4541520"/>
          </a:xfrm>
        </p:spPr>
        <p:txBody>
          <a:bodyPr/>
          <a:lstStyle/>
          <a:p>
            <a:r>
              <a:rPr lang="en-US" sz="2800" dirty="0"/>
              <a:t>Secure, low-cost services for transferring data from cloud or on-premises sources.</a:t>
            </a:r>
          </a:p>
          <a:p>
            <a:r>
              <a:rPr lang="en-US" sz="2800" dirty="0"/>
              <a:t>Complete transfers without writing a single line of code</a:t>
            </a:r>
          </a:p>
          <a:p>
            <a:r>
              <a:rPr lang="en-US" sz="2800" dirty="0"/>
              <a:t>Centralized job management to monitor transfer status</a:t>
            </a:r>
          </a:p>
          <a:p>
            <a:r>
              <a:rPr lang="en-US" sz="2800" dirty="0"/>
              <a:t>Security and reliability built in, every step of the way</a:t>
            </a:r>
          </a:p>
          <a:p>
            <a:r>
              <a:rPr lang="en-US" sz="2800" dirty="0"/>
              <a:t>Configure your data transfer to meet your business needs: manage cost, time, and schedule</a:t>
            </a:r>
          </a:p>
        </p:txBody>
      </p:sp>
    </p:spTree>
    <p:extLst>
      <p:ext uri="{BB962C8B-B14F-4D97-AF65-F5344CB8AC3E}">
        <p14:creationId xmlns:p14="http://schemas.microsoft.com/office/powerpoint/2010/main" val="8295165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171" y="457200"/>
            <a:ext cx="8778239" cy="1136469"/>
          </a:xfrm>
        </p:spPr>
        <p:txBody>
          <a:bodyPr/>
          <a:lstStyle/>
          <a:p>
            <a:r>
              <a:rPr lang="en-US" dirty="0"/>
              <a:t>Explore common use cases for Storage Transfer Service</a:t>
            </a:r>
          </a:p>
        </p:txBody>
      </p:sp>
      <p:sp>
        <p:nvSpPr>
          <p:cNvPr id="3" name="Content Placeholder 2"/>
          <p:cNvSpPr>
            <a:spLocks noGrp="1"/>
          </p:cNvSpPr>
          <p:nvPr>
            <p:ph idx="1"/>
          </p:nvPr>
        </p:nvSpPr>
        <p:spPr>
          <a:xfrm>
            <a:off x="174171" y="1811383"/>
            <a:ext cx="8229600" cy="3315788"/>
          </a:xfrm>
        </p:spPr>
        <p:txBody>
          <a:bodyPr/>
          <a:lstStyle/>
          <a:p>
            <a:r>
              <a:rPr lang="en-US" dirty="0"/>
              <a:t>Data center migration</a:t>
            </a:r>
          </a:p>
          <a:p>
            <a:r>
              <a:rPr lang="en-US" dirty="0"/>
              <a:t>Content storage and delivery</a:t>
            </a:r>
          </a:p>
          <a:p>
            <a:r>
              <a:rPr lang="en-US" dirty="0"/>
              <a:t>Disaster recovery, backup, and archival</a:t>
            </a:r>
          </a:p>
          <a:p>
            <a:r>
              <a:rPr lang="en-US" dirty="0"/>
              <a:t>Analytics and machine learning</a:t>
            </a:r>
          </a:p>
          <a:p>
            <a:pPr marL="0" indent="0">
              <a:buNone/>
            </a:pPr>
            <a:br>
              <a:rPr lang="en-US" dirty="0"/>
            </a:b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25203999"/>
              </p:ext>
            </p:extLst>
          </p:nvPr>
        </p:nvGraphicFramePr>
        <p:xfrm>
          <a:off x="954638" y="4337957"/>
          <a:ext cx="6668666" cy="2377440"/>
        </p:xfrm>
        <a:graphic>
          <a:graphicData uri="http://schemas.openxmlformats.org/drawingml/2006/table">
            <a:tbl>
              <a:tblPr/>
              <a:tblGrid>
                <a:gridCol w="3101705">
                  <a:extLst>
                    <a:ext uri="{9D8B030D-6E8A-4147-A177-3AD203B41FA5}">
                      <a16:colId xmlns:a16="http://schemas.microsoft.com/office/drawing/2014/main" val="3891237804"/>
                    </a:ext>
                  </a:extLst>
                </a:gridCol>
                <a:gridCol w="3566961">
                  <a:extLst>
                    <a:ext uri="{9D8B030D-6E8A-4147-A177-3AD203B41FA5}">
                      <a16:colId xmlns:a16="http://schemas.microsoft.com/office/drawing/2014/main" val="1707983962"/>
                    </a:ext>
                  </a:extLst>
                </a:gridCol>
              </a:tblGrid>
              <a:tr h="0">
                <a:tc>
                  <a:txBody>
                    <a:bodyPr/>
                    <a:lstStyle/>
                    <a:p>
                      <a:pPr algn="l" fontAlgn="t"/>
                      <a:r>
                        <a:rPr lang="en-US" b="0" cap="all">
                          <a:solidFill>
                            <a:srgbClr val="202124"/>
                          </a:solidFill>
                          <a:effectLst/>
                          <a:latin typeface="Roboto"/>
                        </a:rPr>
                        <a:t>PRODUCT</a:t>
                      </a:r>
                      <a:endParaRPr lang="en-US" b="0" cap="all">
                        <a:solidFill>
                          <a:srgbClr val="5F6368"/>
                        </a:solidFill>
                        <a:effectLst/>
                        <a:latin typeface="Roboto"/>
                      </a:endParaRPr>
                    </a:p>
                  </a:txBody>
                  <a:tcPr marT="213360" marB="213360">
                    <a:lnL>
                      <a:noFill/>
                    </a:lnL>
                    <a:lnR>
                      <a:noFill/>
                    </a:lnR>
                    <a:lnT>
                      <a:noFill/>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b="0" cap="all">
                          <a:solidFill>
                            <a:srgbClr val="202124"/>
                          </a:solidFill>
                          <a:effectLst/>
                          <a:latin typeface="Roboto"/>
                        </a:rPr>
                        <a:t>PRICING</a:t>
                      </a:r>
                      <a:endParaRPr lang="en-US" b="0" cap="all">
                        <a:solidFill>
                          <a:srgbClr val="5F6368"/>
                        </a:solidFill>
                        <a:effectLst/>
                        <a:latin typeface="Roboto"/>
                      </a:endParaRPr>
                    </a:p>
                  </a:txBody>
                  <a:tcPr marL="182880" marT="213360" marB="213360">
                    <a:lnL>
                      <a:noFill/>
                    </a:lnL>
                    <a:lnR>
                      <a:noFill/>
                    </a:lnR>
                    <a:lnT>
                      <a:noFill/>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999675418"/>
                  </a:ext>
                </a:extLst>
              </a:tr>
              <a:tr h="0">
                <a:tc>
                  <a:txBody>
                    <a:bodyPr/>
                    <a:lstStyle/>
                    <a:p>
                      <a:pPr algn="l" fontAlgn="t"/>
                      <a:r>
                        <a:rPr lang="en-US" b="0">
                          <a:solidFill>
                            <a:srgbClr val="5F6368"/>
                          </a:solidFill>
                          <a:effectLst/>
                          <a:latin typeface="Roboto"/>
                        </a:rPr>
                        <a:t>Storage Transfer Service</a:t>
                      </a:r>
                      <a:endParaRPr lang="en-US">
                        <a:solidFill>
                          <a:srgbClr val="5F6368"/>
                        </a:solidFill>
                        <a:effectLst/>
                      </a:endParaRPr>
                    </a:p>
                  </a:txBody>
                  <a:tcPr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b="0">
                          <a:solidFill>
                            <a:srgbClr val="5F6368"/>
                          </a:solidFill>
                          <a:effectLst/>
                          <a:latin typeface="Roboto"/>
                        </a:rPr>
                        <a:t>Free</a:t>
                      </a:r>
                      <a:endParaRPr lang="en-US">
                        <a:solidFill>
                          <a:srgbClr val="5F6368"/>
                        </a:solidFill>
                        <a:effectLst/>
                      </a:endParaRPr>
                    </a:p>
                  </a:txBody>
                  <a:tcPr marL="182880" marT="213360" marB="2133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4152962295"/>
                  </a:ext>
                </a:extLst>
              </a:tr>
              <a:tr h="0">
                <a:tc>
                  <a:txBody>
                    <a:bodyPr/>
                    <a:lstStyle/>
                    <a:p>
                      <a:pPr algn="l" fontAlgn="t"/>
                      <a:r>
                        <a:rPr lang="en-US" b="0">
                          <a:solidFill>
                            <a:srgbClr val="5F6368"/>
                          </a:solidFill>
                          <a:effectLst/>
                          <a:latin typeface="Roboto"/>
                        </a:rPr>
                        <a:t>Storage Transfer Service for on-premises data</a:t>
                      </a:r>
                      <a:endParaRPr lang="en-US">
                        <a:solidFill>
                          <a:srgbClr val="5F6368"/>
                        </a:solidFill>
                        <a:effectLst/>
                      </a:endParaRPr>
                    </a:p>
                  </a:txBody>
                  <a:tcPr marT="213360" marB="213360">
                    <a:lnL>
                      <a:noFill/>
                    </a:lnL>
                    <a:lnR>
                      <a:noFill/>
                    </a:lnR>
                    <a:lnT w="7620" cap="flat" cmpd="sng" algn="ctr">
                      <a:solidFill>
                        <a:srgbClr val="DADCE0"/>
                      </a:solidFill>
                      <a:prstDash val="solid"/>
                      <a:round/>
                      <a:headEnd type="none" w="med" len="med"/>
                      <a:tailEnd type="none" w="med" len="med"/>
                    </a:lnT>
                    <a:lnB>
                      <a:noFill/>
                    </a:lnB>
                    <a:solidFill>
                      <a:srgbClr val="F8F9FA"/>
                    </a:solidFill>
                  </a:tcPr>
                </a:tc>
                <a:tc>
                  <a:txBody>
                    <a:bodyPr/>
                    <a:lstStyle/>
                    <a:p>
                      <a:pPr algn="l" fontAlgn="t"/>
                      <a:r>
                        <a:rPr lang="en-US" b="0" dirty="0">
                          <a:solidFill>
                            <a:srgbClr val="5F6368"/>
                          </a:solidFill>
                          <a:effectLst/>
                          <a:latin typeface="Roboto"/>
                        </a:rPr>
                        <a:t>$0.0125/GB</a:t>
                      </a:r>
                      <a:endParaRPr lang="en-US" dirty="0">
                        <a:solidFill>
                          <a:srgbClr val="5F6368"/>
                        </a:solidFill>
                        <a:effectLst/>
                      </a:endParaRPr>
                    </a:p>
                  </a:txBody>
                  <a:tcPr marL="182880" marT="213360" marB="213360">
                    <a:lnL>
                      <a:noFill/>
                    </a:lnL>
                    <a:lnR>
                      <a:noFill/>
                    </a:lnR>
                    <a:lnT w="7620" cap="flat" cmpd="sng" algn="ctr">
                      <a:solidFill>
                        <a:srgbClr val="DADCE0"/>
                      </a:solidFill>
                      <a:prstDash val="solid"/>
                      <a:round/>
                      <a:headEnd type="none" w="med" len="med"/>
                      <a:tailEnd type="none" w="med" len="med"/>
                    </a:lnT>
                    <a:lnB>
                      <a:noFill/>
                    </a:lnB>
                    <a:solidFill>
                      <a:srgbClr val="F8F9FA"/>
                    </a:solidFill>
                  </a:tcPr>
                </a:tc>
                <a:extLst>
                  <a:ext uri="{0D108BD9-81ED-4DB2-BD59-A6C34878D82A}">
                    <a16:rowId xmlns:a16="http://schemas.microsoft.com/office/drawing/2014/main" val="2260595679"/>
                  </a:ext>
                </a:extLst>
              </a:tr>
            </a:tbl>
          </a:graphicData>
        </a:graphic>
      </p:graphicFrame>
    </p:spTree>
    <p:extLst>
      <p:ext uri="{BB962C8B-B14F-4D97-AF65-F5344CB8AC3E}">
        <p14:creationId xmlns:p14="http://schemas.microsoft.com/office/powerpoint/2010/main" val="217798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71006"/>
          </a:xfrm>
        </p:spPr>
        <p:txBody>
          <a:bodyPr/>
          <a:lstStyle/>
          <a:p>
            <a:pPr fontAlgn="ctr"/>
            <a:r>
              <a:rPr lang="en-US" dirty="0"/>
              <a:t>Cloud Storage</a:t>
            </a:r>
          </a:p>
        </p:txBody>
      </p:sp>
      <p:sp>
        <p:nvSpPr>
          <p:cNvPr id="3" name="Content Placeholder 2"/>
          <p:cNvSpPr>
            <a:spLocks noGrp="1"/>
          </p:cNvSpPr>
          <p:nvPr>
            <p:ph idx="1"/>
          </p:nvPr>
        </p:nvSpPr>
        <p:spPr>
          <a:xfrm>
            <a:off x="200297" y="1428206"/>
            <a:ext cx="8778239" cy="3886200"/>
          </a:xfrm>
        </p:spPr>
        <p:txBody>
          <a:bodyPr/>
          <a:lstStyle/>
          <a:p>
            <a:r>
              <a:rPr lang="en-US" sz="2800" dirty="0"/>
              <a:t>Reliable and secure object storage</a:t>
            </a:r>
          </a:p>
          <a:p>
            <a:r>
              <a:rPr lang="en-US" sz="2800" dirty="0"/>
              <a:t>multiple automatic redundancy options</a:t>
            </a:r>
          </a:p>
          <a:p>
            <a:r>
              <a:rPr lang="en-US" sz="2800" dirty="0"/>
              <a:t>Object storage for companies of all sizes. Store any amount of data. Retrieve it as often as you’d like.</a:t>
            </a:r>
          </a:p>
          <a:p>
            <a:r>
              <a:rPr lang="en-US" sz="2800" dirty="0"/>
              <a:t>Deploy new storage capacity 99% faster than with on-premises environments. </a:t>
            </a:r>
          </a:p>
          <a:p>
            <a:r>
              <a:rPr lang="en-US" sz="2800" dirty="0"/>
              <a:t>Replicate 100% of your data between regions in 15 </a:t>
            </a:r>
            <a:r>
              <a:rPr lang="en-US" sz="2800" dirty="0" err="1"/>
              <a:t>mins</a:t>
            </a:r>
            <a:r>
              <a:rPr lang="en-US" sz="2800" dirty="0"/>
              <a:t> or less. </a:t>
            </a:r>
          </a:p>
          <a:p>
            <a:r>
              <a:rPr lang="en-US" sz="2800" dirty="0"/>
              <a:t>Understand what it means to have 99.999999999% annual storage durability.</a:t>
            </a:r>
          </a:p>
        </p:txBody>
      </p:sp>
    </p:spTree>
    <p:extLst>
      <p:ext uri="{BB962C8B-B14F-4D97-AF65-F5344CB8AC3E}">
        <p14:creationId xmlns:p14="http://schemas.microsoft.com/office/powerpoint/2010/main" val="37180121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457200"/>
            <a:ext cx="8486503" cy="910046"/>
          </a:xfrm>
        </p:spPr>
        <p:txBody>
          <a:bodyPr/>
          <a:lstStyle/>
          <a:p>
            <a:r>
              <a:rPr lang="en-US" dirty="0"/>
              <a:t>Storage classes for any workload</a:t>
            </a:r>
          </a:p>
        </p:txBody>
      </p:sp>
      <p:sp>
        <p:nvSpPr>
          <p:cNvPr id="3" name="Content Placeholder 2"/>
          <p:cNvSpPr>
            <a:spLocks noGrp="1"/>
          </p:cNvSpPr>
          <p:nvPr>
            <p:ph idx="1"/>
          </p:nvPr>
        </p:nvSpPr>
        <p:spPr>
          <a:xfrm>
            <a:off x="139337" y="1236618"/>
            <a:ext cx="8804365" cy="3886200"/>
          </a:xfrm>
        </p:spPr>
        <p:txBody>
          <a:bodyPr/>
          <a:lstStyle/>
          <a:p>
            <a:r>
              <a:rPr lang="en-US" sz="2400" dirty="0"/>
              <a:t>Save costs without sacrificing performance by storing data across different storage classes. You can start with a class that matches your current use, then reconfigure for cost savings.</a:t>
            </a:r>
          </a:p>
          <a:p>
            <a:r>
              <a:rPr lang="en-US" sz="2400" b="1" dirty="0"/>
              <a:t>Standard Storage</a:t>
            </a:r>
            <a:r>
              <a:rPr lang="en-US" sz="2400" dirty="0"/>
              <a:t>: Good for “hot” data that’s accessed frequently, including websites, streaming videos, and mobile apps.</a:t>
            </a:r>
          </a:p>
          <a:p>
            <a:r>
              <a:rPr lang="en-US" sz="2400" b="1" dirty="0" err="1"/>
              <a:t>Nearline</a:t>
            </a:r>
            <a:r>
              <a:rPr lang="en-US" sz="2400" b="1" dirty="0"/>
              <a:t> Storage</a:t>
            </a:r>
            <a:r>
              <a:rPr lang="en-US" sz="2400" dirty="0"/>
              <a:t>: Low cost. Good for data that can be stored for at least 30 days, including data backup and long-tail multimedia content.</a:t>
            </a:r>
          </a:p>
          <a:p>
            <a:r>
              <a:rPr lang="en-US" sz="2400" b="1" dirty="0" err="1"/>
              <a:t>Coldline</a:t>
            </a:r>
            <a:r>
              <a:rPr lang="en-US" sz="2400" b="1" dirty="0"/>
              <a:t> Storage</a:t>
            </a:r>
            <a:r>
              <a:rPr lang="en-US" sz="2400" dirty="0"/>
              <a:t>: Very low cost. Good for data that can be stored for at least 90 days, including disaster recovery.</a:t>
            </a:r>
          </a:p>
          <a:p>
            <a:r>
              <a:rPr lang="en-US" sz="2400" b="1" dirty="0"/>
              <a:t>Archive Storage</a:t>
            </a:r>
            <a:r>
              <a:rPr lang="en-US" sz="2400" dirty="0"/>
              <a:t>: Lowest cost. Good for data that can be stored for at least 365 days, including regulatory archives.</a:t>
            </a:r>
          </a:p>
        </p:txBody>
      </p:sp>
    </p:spTree>
    <p:extLst>
      <p:ext uri="{BB962C8B-B14F-4D97-AF65-F5344CB8AC3E}">
        <p14:creationId xmlns:p14="http://schemas.microsoft.com/office/powerpoint/2010/main" val="6604680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9857" y="422366"/>
            <a:ext cx="8229600" cy="605246"/>
          </a:xfrm>
        </p:spPr>
        <p:txBody>
          <a:bodyPr/>
          <a:lstStyle/>
          <a:p>
            <a:r>
              <a:rPr lang="en-US" dirty="0" err="1"/>
              <a:t>Filestore</a:t>
            </a:r>
            <a:endParaRPr lang="en-US" dirty="0"/>
          </a:p>
        </p:txBody>
      </p:sp>
      <p:sp>
        <p:nvSpPr>
          <p:cNvPr id="3" name="Content Placeholder 2"/>
          <p:cNvSpPr>
            <a:spLocks noGrp="1"/>
          </p:cNvSpPr>
          <p:nvPr>
            <p:ph idx="1"/>
          </p:nvPr>
        </p:nvSpPr>
        <p:spPr>
          <a:xfrm>
            <a:off x="65314" y="1027612"/>
            <a:ext cx="9078686" cy="3886200"/>
          </a:xfrm>
        </p:spPr>
        <p:txBody>
          <a:bodyPr/>
          <a:lstStyle/>
          <a:p>
            <a:r>
              <a:rPr lang="en-US" sz="2400" dirty="0"/>
              <a:t>High-performance, fully managed file storage.</a:t>
            </a:r>
          </a:p>
          <a:p>
            <a:r>
              <a:rPr lang="en-US" sz="2400" dirty="0"/>
              <a:t>Scales to meet needs of high performance workloads - For workloads that are latency sensitive, like high performance computing, data analytics, or other metadata intensive applications, </a:t>
            </a:r>
            <a:r>
              <a:rPr lang="en-US" sz="2400" dirty="0" err="1"/>
              <a:t>Filestore</a:t>
            </a:r>
            <a:r>
              <a:rPr lang="en-US" sz="2400" dirty="0"/>
              <a:t> supports capacity up to 100 TB and throughput of 25 GB/s and 920K IOPS.</a:t>
            </a:r>
          </a:p>
          <a:p>
            <a:r>
              <a:rPr lang="en-US" sz="2400" dirty="0"/>
              <a:t>99.99% regional availability SLA - built for critical applications (e.g., SAP) requiring regional availability to ensure the applications are </a:t>
            </a:r>
            <a:r>
              <a:rPr lang="en-US" sz="2400" dirty="0" err="1"/>
              <a:t>unphased</a:t>
            </a:r>
            <a:r>
              <a:rPr lang="en-US" sz="2400" dirty="0"/>
              <a:t> in a zonal outage.</a:t>
            </a:r>
          </a:p>
          <a:p>
            <a:r>
              <a:rPr lang="en-US" sz="2400" dirty="0"/>
              <a:t>Protect your data with backups and snapshots - </a:t>
            </a:r>
            <a:r>
              <a:rPr lang="en-US" sz="2400" dirty="0" err="1"/>
              <a:t>Filestore</a:t>
            </a:r>
            <a:r>
              <a:rPr lang="en-US" sz="2400" dirty="0"/>
              <a:t> offers instantaneous </a:t>
            </a:r>
            <a:r>
              <a:rPr lang="en-US" sz="2400" u="sng" dirty="0">
                <a:hlinkClick r:id="rId2"/>
              </a:rPr>
              <a:t>backups</a:t>
            </a:r>
            <a:r>
              <a:rPr lang="en-US" sz="2400" dirty="0"/>
              <a:t> and snapshots to help you protect your data easily. Back up data and metadata of the file share, set up a regular backup schedule, or take snapshots of your instances anytime you need. Recovering some or all of your data from a prior snapshot recovery point in 10 minutes or less.</a:t>
            </a:r>
          </a:p>
          <a:p>
            <a:endParaRPr lang="en-US" sz="2400" dirty="0"/>
          </a:p>
        </p:txBody>
      </p:sp>
    </p:spTree>
    <p:extLst>
      <p:ext uri="{BB962C8B-B14F-4D97-AF65-F5344CB8AC3E}">
        <p14:creationId xmlns:p14="http://schemas.microsoft.com/office/powerpoint/2010/main" val="37763437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88126"/>
          </a:xfrm>
        </p:spPr>
        <p:txBody>
          <a:bodyPr/>
          <a:lstStyle/>
          <a:p>
            <a:r>
              <a:rPr lang="en-US" dirty="0" err="1"/>
              <a:t>Filestore</a:t>
            </a:r>
            <a:r>
              <a:rPr lang="en-US" dirty="0"/>
              <a:t> Use cases</a:t>
            </a:r>
          </a:p>
        </p:txBody>
      </p:sp>
      <p:sp>
        <p:nvSpPr>
          <p:cNvPr id="3" name="Content Placeholder 2"/>
          <p:cNvSpPr>
            <a:spLocks noGrp="1"/>
          </p:cNvSpPr>
          <p:nvPr>
            <p:ph idx="1"/>
          </p:nvPr>
        </p:nvSpPr>
        <p:spPr>
          <a:xfrm>
            <a:off x="291736" y="1341120"/>
            <a:ext cx="8573590" cy="3886200"/>
          </a:xfrm>
        </p:spPr>
        <p:txBody>
          <a:bodyPr/>
          <a:lstStyle/>
          <a:p>
            <a:r>
              <a:rPr lang="en-US" sz="2400" dirty="0"/>
              <a:t>Enterprise application migrations (SAP). Many on-premises applications require a file system interface. We've made it easy to migrate your enterprise applications to the cloud with our fully managed storage service. </a:t>
            </a:r>
            <a:r>
              <a:rPr lang="en-US" sz="2400" dirty="0" err="1"/>
              <a:t>Filestore</a:t>
            </a:r>
            <a:r>
              <a:rPr lang="en-US" sz="2400" dirty="0"/>
              <a:t> Enterprise is built for critical applications requiring regional availability and having unstructured NFS data requirements.</a:t>
            </a:r>
          </a:p>
          <a:p>
            <a:r>
              <a:rPr lang="en-US" sz="2400" dirty="0"/>
              <a:t>Financial services and technology - Quantitative researchers and modelers require ready access to powerful compute and storage resources to deliver useful, time-to-value trading insights. </a:t>
            </a:r>
            <a:r>
              <a:rPr lang="en-US" sz="2400" dirty="0" err="1"/>
              <a:t>Filestore</a:t>
            </a:r>
            <a:r>
              <a:rPr lang="en-US" sz="2400" dirty="0"/>
              <a:t> High Scale is built for high performance computing (HPC) applications to access, sort, process, model, and deliver the right information to the right decision-maker at the right time.</a:t>
            </a:r>
          </a:p>
        </p:txBody>
      </p:sp>
    </p:spTree>
    <p:extLst>
      <p:ext uri="{BB962C8B-B14F-4D97-AF65-F5344CB8AC3E}">
        <p14:creationId xmlns:p14="http://schemas.microsoft.com/office/powerpoint/2010/main" val="9010017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22960"/>
          </a:xfrm>
        </p:spPr>
        <p:txBody>
          <a:bodyPr/>
          <a:lstStyle/>
          <a:p>
            <a:r>
              <a:rPr lang="en-US" dirty="0" err="1"/>
              <a:t>Filestore</a:t>
            </a:r>
            <a:r>
              <a:rPr lang="en-US" dirty="0"/>
              <a:t> Use cases (Cont.)</a:t>
            </a:r>
          </a:p>
        </p:txBody>
      </p:sp>
      <p:sp>
        <p:nvSpPr>
          <p:cNvPr id="3" name="Content Placeholder 2"/>
          <p:cNvSpPr>
            <a:spLocks noGrp="1"/>
          </p:cNvSpPr>
          <p:nvPr>
            <p:ph idx="1"/>
          </p:nvPr>
        </p:nvSpPr>
        <p:spPr>
          <a:xfrm>
            <a:off x="0" y="1166949"/>
            <a:ext cx="9143999" cy="3886200"/>
          </a:xfrm>
        </p:spPr>
        <p:txBody>
          <a:bodyPr/>
          <a:lstStyle/>
          <a:p>
            <a:r>
              <a:rPr lang="en-US" sz="2400" dirty="0"/>
              <a:t>Web content management - Web developers and large hosting providers rely on </a:t>
            </a:r>
            <a:r>
              <a:rPr lang="en-US" sz="2400" dirty="0" err="1"/>
              <a:t>Filestore</a:t>
            </a:r>
            <a:r>
              <a:rPr lang="en-US" sz="2400" dirty="0"/>
              <a:t> to manage and serve web content, including needs such as </a:t>
            </a:r>
            <a:r>
              <a:rPr lang="en-US" sz="2400" u="sng" dirty="0">
                <a:hlinkClick r:id="rId2"/>
              </a:rPr>
              <a:t>WordPress hosting</a:t>
            </a:r>
            <a:r>
              <a:rPr lang="en-US" sz="2400" dirty="0"/>
              <a:t>.</a:t>
            </a:r>
          </a:p>
          <a:p>
            <a:r>
              <a:rPr lang="en-US" sz="2400" dirty="0"/>
              <a:t>Media rendering - You can easily mount </a:t>
            </a:r>
            <a:r>
              <a:rPr lang="en-US" sz="2400" dirty="0" err="1"/>
              <a:t>Filestore</a:t>
            </a:r>
            <a:r>
              <a:rPr lang="en-US" sz="2400" dirty="0"/>
              <a:t> file shares on Compute Engine instances, enabling visual effects artists to collaborate on the same file share. As rendering workflows typically run across fleets (“</a:t>
            </a:r>
            <a:r>
              <a:rPr lang="en-US" sz="2400" u="sng" dirty="0">
                <a:hlinkClick r:id="rId3"/>
              </a:rPr>
              <a:t>render farms</a:t>
            </a:r>
            <a:r>
              <a:rPr lang="en-US" sz="2400" dirty="0"/>
              <a:t>”) of compute machines, all of which mount a shared </a:t>
            </a:r>
            <a:r>
              <a:rPr lang="en-US" sz="2400" dirty="0" err="1"/>
              <a:t>filesystem</a:t>
            </a:r>
            <a:r>
              <a:rPr lang="en-US" sz="2400" dirty="0"/>
              <a:t>, </a:t>
            </a:r>
            <a:r>
              <a:rPr lang="en-US" sz="2400" dirty="0" err="1"/>
              <a:t>Filestore</a:t>
            </a:r>
            <a:r>
              <a:rPr lang="en-US" sz="2400" dirty="0"/>
              <a:t> and Compute Engine can scale to meet your job’s rendering needs.</a:t>
            </a:r>
          </a:p>
          <a:p>
            <a:r>
              <a:rPr lang="en-US" sz="2400" dirty="0"/>
              <a:t>Data analytics - Compute complex financial models or analyze environmental data with </a:t>
            </a:r>
            <a:r>
              <a:rPr lang="en-US" sz="2400" dirty="0" err="1"/>
              <a:t>Filestore</a:t>
            </a:r>
            <a:r>
              <a:rPr lang="en-US" sz="2400" dirty="0"/>
              <a:t>. As capacity or performance needs change, easily grow or shrink your instances as needed. As a persistent and shareable storage layer, </a:t>
            </a:r>
            <a:r>
              <a:rPr lang="en-US" sz="2400" dirty="0" err="1"/>
              <a:t>Filestore</a:t>
            </a:r>
            <a:r>
              <a:rPr lang="en-US" sz="2400" dirty="0"/>
              <a:t> enables immediate access to data for high-performance, smart analytics.</a:t>
            </a:r>
            <a:endParaRPr lang="en-US" dirty="0"/>
          </a:p>
        </p:txBody>
      </p:sp>
    </p:spTree>
    <p:extLst>
      <p:ext uri="{BB962C8B-B14F-4D97-AF65-F5344CB8AC3E}">
        <p14:creationId xmlns:p14="http://schemas.microsoft.com/office/powerpoint/2010/main" val="28687394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83" y="457200"/>
            <a:ext cx="8621485" cy="733785"/>
          </a:xfrm>
        </p:spPr>
        <p:txBody>
          <a:bodyPr/>
          <a:lstStyle/>
          <a:p>
            <a:r>
              <a:rPr lang="en-US" dirty="0" err="1"/>
              <a:t>Filestore</a:t>
            </a:r>
            <a:r>
              <a:rPr lang="en-US" dirty="0"/>
              <a:t> performance tiers:</a:t>
            </a:r>
          </a:p>
        </p:txBody>
      </p:sp>
      <p:pic>
        <p:nvPicPr>
          <p:cNvPr id="6" name="Content Placeholder 5"/>
          <p:cNvPicPr>
            <a:picLocks noGrp="1" noChangeAspect="1"/>
          </p:cNvPicPr>
          <p:nvPr>
            <p:ph idx="1"/>
          </p:nvPr>
        </p:nvPicPr>
        <p:blipFill>
          <a:blip r:embed="rId2"/>
          <a:stretch>
            <a:fillRect/>
          </a:stretch>
        </p:blipFill>
        <p:spPr>
          <a:xfrm>
            <a:off x="253304" y="1190985"/>
            <a:ext cx="8446559" cy="5592992"/>
          </a:xfrm>
          <a:prstGeom prst="rect">
            <a:avLst/>
          </a:prstGeom>
        </p:spPr>
      </p:pic>
    </p:spTree>
    <p:extLst>
      <p:ext uri="{BB962C8B-B14F-4D97-AF65-F5344CB8AC3E}">
        <p14:creationId xmlns:p14="http://schemas.microsoft.com/office/powerpoint/2010/main" val="32185556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SSD</a:t>
            </a:r>
          </a:p>
        </p:txBody>
      </p:sp>
      <p:sp>
        <p:nvSpPr>
          <p:cNvPr id="3" name="Content Placeholder 2"/>
          <p:cNvSpPr>
            <a:spLocks noGrp="1"/>
          </p:cNvSpPr>
          <p:nvPr>
            <p:ph idx="1"/>
          </p:nvPr>
        </p:nvSpPr>
        <p:spPr>
          <a:xfrm>
            <a:off x="335280" y="1658983"/>
            <a:ext cx="8229600" cy="3886200"/>
          </a:xfrm>
        </p:spPr>
        <p:txBody>
          <a:bodyPr/>
          <a:lstStyle/>
          <a:p>
            <a:r>
              <a:rPr lang="en-US" sz="2800" dirty="0"/>
              <a:t>High-performance, ephemeral storage</a:t>
            </a:r>
          </a:p>
          <a:p>
            <a:r>
              <a:rPr lang="en-US" sz="2800" dirty="0"/>
              <a:t>Local SSDs are physically attached to the server that hosts your VM instance. This tight coupling offers superior performance, very high input/output operations per second (IOPS), and very low latency compared to other block storage options. Local SSDs are designed for temporary storage use cases such as caches or scratch processing space. Which makes them suitable for workloads like media rendering, data analytics, or high-performance computing.</a:t>
            </a:r>
          </a:p>
        </p:txBody>
      </p:sp>
    </p:spTree>
    <p:extLst>
      <p:ext uri="{BB962C8B-B14F-4D97-AF65-F5344CB8AC3E}">
        <p14:creationId xmlns:p14="http://schemas.microsoft.com/office/powerpoint/2010/main" val="21478980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ctr"/>
            <a:r>
              <a:rPr lang="en-US" dirty="0"/>
              <a:t>Persistent Disk</a:t>
            </a:r>
          </a:p>
        </p:txBody>
      </p:sp>
      <p:sp>
        <p:nvSpPr>
          <p:cNvPr id="3" name="Content Placeholder 2"/>
          <p:cNvSpPr>
            <a:spLocks noGrp="1"/>
          </p:cNvSpPr>
          <p:nvPr>
            <p:ph idx="1"/>
          </p:nvPr>
        </p:nvSpPr>
        <p:spPr/>
        <p:txBody>
          <a:bodyPr/>
          <a:lstStyle/>
          <a:p>
            <a:r>
              <a:rPr lang="en-US" dirty="0"/>
              <a:t>Reliable, high-performance block storage for virtual machine instances.</a:t>
            </a:r>
          </a:p>
          <a:p>
            <a:r>
              <a:rPr lang="en-US" dirty="0"/>
              <a:t>Industry-leading price and performance, including SSD and HDD</a:t>
            </a:r>
          </a:p>
          <a:p>
            <a:r>
              <a:rPr lang="en-US" dirty="0"/>
              <a:t>Attach to virtual machine instances running in Compute Engine or Google Kubernetes Engine</a:t>
            </a:r>
          </a:p>
          <a:p>
            <a:r>
              <a:rPr lang="en-US" dirty="0"/>
              <a:t>Transparently resize, quickly back up, and support simultaneous readers</a:t>
            </a:r>
          </a:p>
        </p:txBody>
      </p:sp>
    </p:spTree>
    <p:extLst>
      <p:ext uri="{BB962C8B-B14F-4D97-AF65-F5344CB8AC3E}">
        <p14:creationId xmlns:p14="http://schemas.microsoft.com/office/powerpoint/2010/main" val="27863364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features</a:t>
            </a:r>
          </a:p>
        </p:txBody>
      </p:sp>
      <p:sp>
        <p:nvSpPr>
          <p:cNvPr id="3" name="Content Placeholder 2"/>
          <p:cNvSpPr>
            <a:spLocks noGrp="1"/>
          </p:cNvSpPr>
          <p:nvPr>
            <p:ph idx="1"/>
          </p:nvPr>
        </p:nvSpPr>
        <p:spPr>
          <a:xfrm>
            <a:off x="169818" y="1493520"/>
            <a:ext cx="8852262" cy="3886200"/>
          </a:xfrm>
        </p:spPr>
        <p:txBody>
          <a:bodyPr/>
          <a:lstStyle/>
          <a:p>
            <a:r>
              <a:rPr lang="en-US" sz="2400" dirty="0"/>
              <a:t>Seamless backup and restore - For maximum flexibility and minimal effort, snapshots are geo-replicated and available for restore in all regions by default. Snapshots of a block device can take place in minutes rather than hours.</a:t>
            </a:r>
          </a:p>
          <a:p>
            <a:r>
              <a:rPr lang="en-US" sz="2400" dirty="0"/>
              <a:t>Automatic encryption - Persistent Disks are automatically encrypted to protect your data, in transit or at rest. You can supply your own key, or we will automatically generate one for you.</a:t>
            </a:r>
          </a:p>
          <a:p>
            <a:r>
              <a:rPr lang="en-US" sz="2400" dirty="0"/>
              <a:t>Independent volumes - Your storage is located independently from your virtual machine instances, so you can detach or move your disks to keep your data even after you delete your instances.</a:t>
            </a:r>
          </a:p>
        </p:txBody>
      </p:sp>
    </p:spTree>
    <p:extLst>
      <p:ext uri="{BB962C8B-B14F-4D97-AF65-F5344CB8AC3E}">
        <p14:creationId xmlns:p14="http://schemas.microsoft.com/office/powerpoint/2010/main" val="40875325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33210"/>
          </a:xfrm>
        </p:spPr>
        <p:txBody>
          <a:bodyPr/>
          <a:lstStyle/>
          <a:p>
            <a:r>
              <a:rPr lang="en-US" dirty="0"/>
              <a:t>Features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40321369"/>
              </p:ext>
            </p:extLst>
          </p:nvPr>
        </p:nvGraphicFramePr>
        <p:xfrm>
          <a:off x="209005" y="1090410"/>
          <a:ext cx="8934995" cy="5767590"/>
        </p:xfrm>
        <a:graphic>
          <a:graphicData uri="http://schemas.openxmlformats.org/drawingml/2006/table">
            <a:tbl>
              <a:tblPr>
                <a:tableStyleId>{5C22544A-7EE6-4342-B048-85BDC9FD1C3A}</a:tableStyleId>
              </a:tblPr>
              <a:tblGrid>
                <a:gridCol w="1314994">
                  <a:extLst>
                    <a:ext uri="{9D8B030D-6E8A-4147-A177-3AD203B41FA5}">
                      <a16:colId xmlns:a16="http://schemas.microsoft.com/office/drawing/2014/main" val="4135689037"/>
                    </a:ext>
                  </a:extLst>
                </a:gridCol>
                <a:gridCol w="7620001">
                  <a:extLst>
                    <a:ext uri="{9D8B030D-6E8A-4147-A177-3AD203B41FA5}">
                      <a16:colId xmlns:a16="http://schemas.microsoft.com/office/drawing/2014/main" val="272455345"/>
                    </a:ext>
                  </a:extLst>
                </a:gridCol>
              </a:tblGrid>
              <a:tr h="504954">
                <a:tc>
                  <a:txBody>
                    <a:bodyPr/>
                    <a:lstStyle/>
                    <a:p>
                      <a:pPr algn="l" fontAlgn="b"/>
                      <a:r>
                        <a:rPr lang="en-US" sz="1800" u="none" strike="noStrike">
                          <a:effectLst/>
                        </a:rPr>
                        <a:t>Disk Clones</a:t>
                      </a:r>
                      <a:endParaRPr lang="en-US" sz="1800" b="0" i="0" u="none" strike="noStrike">
                        <a:solidFill>
                          <a:srgbClr val="000000"/>
                        </a:solidFill>
                        <a:effectLst/>
                        <a:latin typeface="Calibri" panose="020F0502020204030204" pitchFamily="34" charset="0"/>
                      </a:endParaRPr>
                    </a:p>
                  </a:txBody>
                  <a:tcPr marL="1145" marR="1145" marT="1145" marB="0" anchor="b"/>
                </a:tc>
                <a:tc>
                  <a:txBody>
                    <a:bodyPr/>
                    <a:lstStyle/>
                    <a:p>
                      <a:pPr algn="l" fontAlgn="b"/>
                      <a:r>
                        <a:rPr lang="en-US" sz="1800" u="none" strike="noStrike" dirty="0">
                          <a:effectLst/>
                        </a:rPr>
                        <a:t>Use Disk Clones to quickly bring up staging environments from production, create new disks for backup verification or data export jobs, and create disks in a different project.</a:t>
                      </a:r>
                      <a:endParaRPr lang="en-US" sz="1800" b="0" i="0" u="none" strike="noStrike" dirty="0">
                        <a:solidFill>
                          <a:srgbClr val="000000"/>
                        </a:solidFill>
                        <a:effectLst/>
                        <a:latin typeface="Calibri" panose="020F0502020204030204" pitchFamily="34" charset="0"/>
                      </a:endParaRPr>
                    </a:p>
                  </a:txBody>
                  <a:tcPr marL="1145" marR="1145" marT="1145" marB="0" anchor="b"/>
                </a:tc>
                <a:extLst>
                  <a:ext uri="{0D108BD9-81ED-4DB2-BD59-A6C34878D82A}">
                    <a16:rowId xmlns:a16="http://schemas.microsoft.com/office/drawing/2014/main" val="869546490"/>
                  </a:ext>
                </a:extLst>
              </a:tr>
              <a:tr h="303430">
                <a:tc>
                  <a:txBody>
                    <a:bodyPr/>
                    <a:lstStyle/>
                    <a:p>
                      <a:pPr algn="l" fontAlgn="b"/>
                      <a:r>
                        <a:rPr lang="en-US" sz="1800" u="none" strike="noStrike">
                          <a:effectLst/>
                        </a:rPr>
                        <a:t>High durability</a:t>
                      </a:r>
                      <a:endParaRPr lang="en-US" sz="1800" b="0" i="0" u="none" strike="noStrike">
                        <a:solidFill>
                          <a:srgbClr val="000000"/>
                        </a:solidFill>
                        <a:effectLst/>
                        <a:latin typeface="Calibri" panose="020F0502020204030204" pitchFamily="34" charset="0"/>
                      </a:endParaRPr>
                    </a:p>
                  </a:txBody>
                  <a:tcPr marL="1145" marR="1145" marT="1145" marB="0" anchor="b"/>
                </a:tc>
                <a:tc>
                  <a:txBody>
                    <a:bodyPr/>
                    <a:lstStyle/>
                    <a:p>
                      <a:pPr algn="l" fontAlgn="b"/>
                      <a:r>
                        <a:rPr lang="en-US" sz="1800" u="none" strike="noStrike" dirty="0">
                          <a:effectLst/>
                        </a:rPr>
                        <a:t>Persistent Disk is designed for high durability. It stores data redundantly to ensure data integrity.</a:t>
                      </a:r>
                      <a:endParaRPr lang="en-US" sz="1800" b="0" i="0" u="none" strike="noStrike" dirty="0">
                        <a:solidFill>
                          <a:srgbClr val="000000"/>
                        </a:solidFill>
                        <a:effectLst/>
                        <a:latin typeface="Calibri" panose="020F0502020204030204" pitchFamily="34" charset="0"/>
                      </a:endParaRPr>
                    </a:p>
                  </a:txBody>
                  <a:tcPr marL="1145" marR="1145" marT="1145" marB="0" anchor="b"/>
                </a:tc>
                <a:extLst>
                  <a:ext uri="{0D108BD9-81ED-4DB2-BD59-A6C34878D82A}">
                    <a16:rowId xmlns:a16="http://schemas.microsoft.com/office/drawing/2014/main" val="4047531823"/>
                  </a:ext>
                </a:extLst>
              </a:tr>
              <a:tr h="1033954">
                <a:tc>
                  <a:txBody>
                    <a:bodyPr/>
                    <a:lstStyle/>
                    <a:p>
                      <a:pPr algn="l" fontAlgn="b"/>
                      <a:r>
                        <a:rPr lang="en-US" sz="1800" u="none" strike="noStrike">
                          <a:effectLst/>
                        </a:rPr>
                        <a:t>Resizeable volumes</a:t>
                      </a:r>
                      <a:endParaRPr lang="en-US" sz="1800" b="0" i="0" u="none" strike="noStrike">
                        <a:solidFill>
                          <a:srgbClr val="000000"/>
                        </a:solidFill>
                        <a:effectLst/>
                        <a:latin typeface="Calibri" panose="020F0502020204030204" pitchFamily="34" charset="0"/>
                      </a:endParaRPr>
                    </a:p>
                  </a:txBody>
                  <a:tcPr marL="1145" marR="1145" marT="1145" marB="0" anchor="b"/>
                </a:tc>
                <a:tc>
                  <a:txBody>
                    <a:bodyPr/>
                    <a:lstStyle/>
                    <a:p>
                      <a:pPr algn="l" fontAlgn="b"/>
                      <a:r>
                        <a:rPr lang="en-US" sz="1800" u="none" strike="noStrike">
                          <a:effectLst/>
                        </a:rPr>
                        <a:t>Persistent disk performance scales automatically with size, so you can resize your existing persistent disks or add more persistent disks to an instance to meet your performance and storage space requirements. Each persistent disk can be up to 64 TB in size, so there is no need to manage arrays of disks to create large logical volumes.</a:t>
                      </a:r>
                      <a:endParaRPr lang="en-US" sz="1800" b="0" i="0" u="none" strike="noStrike">
                        <a:solidFill>
                          <a:srgbClr val="000000"/>
                        </a:solidFill>
                        <a:effectLst/>
                        <a:latin typeface="Calibri" panose="020F0502020204030204" pitchFamily="34" charset="0"/>
                      </a:endParaRPr>
                    </a:p>
                  </a:txBody>
                  <a:tcPr marL="1145" marR="1145" marT="1145" marB="0" anchor="b"/>
                </a:tc>
                <a:extLst>
                  <a:ext uri="{0D108BD9-81ED-4DB2-BD59-A6C34878D82A}">
                    <a16:rowId xmlns:a16="http://schemas.microsoft.com/office/drawing/2014/main" val="2539721435"/>
                  </a:ext>
                </a:extLst>
              </a:tr>
              <a:tr h="530145">
                <a:tc>
                  <a:txBody>
                    <a:bodyPr/>
                    <a:lstStyle/>
                    <a:p>
                      <a:pPr algn="l" fontAlgn="b"/>
                      <a:r>
                        <a:rPr lang="en-US" sz="1800" u="none" strike="noStrike">
                          <a:effectLst/>
                        </a:rPr>
                        <a:t>Independent volumes</a:t>
                      </a:r>
                      <a:endParaRPr lang="en-US" sz="1800" b="0" i="0" u="none" strike="noStrike">
                        <a:solidFill>
                          <a:srgbClr val="000000"/>
                        </a:solidFill>
                        <a:effectLst/>
                        <a:latin typeface="Calibri" panose="020F0502020204030204" pitchFamily="34" charset="0"/>
                      </a:endParaRPr>
                    </a:p>
                  </a:txBody>
                  <a:tcPr marL="1145" marR="1145" marT="1145" marB="0" anchor="b"/>
                </a:tc>
                <a:tc>
                  <a:txBody>
                    <a:bodyPr/>
                    <a:lstStyle/>
                    <a:p>
                      <a:pPr algn="l" fontAlgn="b"/>
                      <a:r>
                        <a:rPr lang="en-US" sz="1800" u="none" strike="noStrike" dirty="0">
                          <a:effectLst/>
                        </a:rPr>
                        <a:t>Your storage is located independently from your virtual machine instances, so you can detach or move your disks to keep your data even after you delete your instances.</a:t>
                      </a:r>
                      <a:endParaRPr lang="en-US" sz="1800" b="0" i="0" u="none" strike="noStrike" dirty="0">
                        <a:solidFill>
                          <a:srgbClr val="000000"/>
                        </a:solidFill>
                        <a:effectLst/>
                        <a:latin typeface="Calibri" panose="020F0502020204030204" pitchFamily="34" charset="0"/>
                      </a:endParaRPr>
                    </a:p>
                  </a:txBody>
                  <a:tcPr marL="1145" marR="1145" marT="1145" marB="0" anchor="b"/>
                </a:tc>
                <a:extLst>
                  <a:ext uri="{0D108BD9-81ED-4DB2-BD59-A6C34878D82A}">
                    <a16:rowId xmlns:a16="http://schemas.microsoft.com/office/drawing/2014/main" val="1979477570"/>
                  </a:ext>
                </a:extLst>
              </a:tr>
              <a:tr h="731668">
                <a:tc>
                  <a:txBody>
                    <a:bodyPr/>
                    <a:lstStyle/>
                    <a:p>
                      <a:pPr algn="l" fontAlgn="b"/>
                      <a:r>
                        <a:rPr lang="en-US" sz="1800" u="none" strike="noStrike">
                          <a:effectLst/>
                        </a:rPr>
                        <a:t>Snapshots</a:t>
                      </a:r>
                      <a:endParaRPr lang="en-US" sz="1800" b="0" i="0" u="none" strike="noStrike">
                        <a:solidFill>
                          <a:srgbClr val="000000"/>
                        </a:solidFill>
                        <a:effectLst/>
                        <a:latin typeface="Calibri" panose="020F0502020204030204" pitchFamily="34" charset="0"/>
                      </a:endParaRPr>
                    </a:p>
                  </a:txBody>
                  <a:tcPr marL="1145" marR="1145" marT="1145" marB="0" anchor="b"/>
                </a:tc>
                <a:tc>
                  <a:txBody>
                    <a:bodyPr/>
                    <a:lstStyle/>
                    <a:p>
                      <a:pPr algn="l" fontAlgn="b"/>
                      <a:r>
                        <a:rPr lang="en-US" sz="1800" u="none" strike="noStrike">
                          <a:effectLst/>
                        </a:rPr>
                        <a:t>Create snapshots to periodically back up data from your zonal persistent disks or regional persistent disks. To reduce the risk of unexpected data loss, consider the best practice of setting up a snapshot schedule to ensure your data is backed up on a regular schedule.</a:t>
                      </a:r>
                      <a:endParaRPr lang="en-US" sz="1800" b="0" i="0" u="none" strike="noStrike">
                        <a:solidFill>
                          <a:srgbClr val="000000"/>
                        </a:solidFill>
                        <a:effectLst/>
                        <a:latin typeface="Calibri" panose="020F0502020204030204" pitchFamily="34" charset="0"/>
                      </a:endParaRPr>
                    </a:p>
                  </a:txBody>
                  <a:tcPr marL="1145" marR="1145" marT="1145" marB="0" anchor="b"/>
                </a:tc>
                <a:extLst>
                  <a:ext uri="{0D108BD9-81ED-4DB2-BD59-A6C34878D82A}">
                    <a16:rowId xmlns:a16="http://schemas.microsoft.com/office/drawing/2014/main" val="2991396289"/>
                  </a:ext>
                </a:extLst>
              </a:tr>
              <a:tr h="782049">
                <a:tc>
                  <a:txBody>
                    <a:bodyPr/>
                    <a:lstStyle/>
                    <a:p>
                      <a:pPr algn="l" fontAlgn="b"/>
                      <a:r>
                        <a:rPr lang="en-US" sz="1800" u="none" strike="noStrike">
                          <a:effectLst/>
                        </a:rPr>
                        <a:t>Machine Images</a:t>
                      </a:r>
                      <a:endParaRPr lang="en-US" sz="1800" b="0" i="0" u="none" strike="noStrike">
                        <a:solidFill>
                          <a:srgbClr val="000000"/>
                        </a:solidFill>
                        <a:effectLst/>
                        <a:latin typeface="Calibri" panose="020F0502020204030204" pitchFamily="34" charset="0"/>
                      </a:endParaRPr>
                    </a:p>
                  </a:txBody>
                  <a:tcPr marL="1145" marR="1145" marT="1145" marB="0" anchor="b"/>
                </a:tc>
                <a:tc>
                  <a:txBody>
                    <a:bodyPr/>
                    <a:lstStyle/>
                    <a:p>
                      <a:pPr algn="l" fontAlgn="b"/>
                      <a:r>
                        <a:rPr lang="en-US" sz="1800" u="none" strike="noStrike" dirty="0">
                          <a:effectLst/>
                        </a:rPr>
                        <a:t>Use a machine image to store all the configuration, metadata, permissions, and data from one or more disks for a VM instance running on Compute Engine. The VM instance that you use to create a machine image is referred to as a source instance.</a:t>
                      </a:r>
                      <a:endParaRPr lang="en-US" sz="1800" b="0" i="0" u="none" strike="noStrike" dirty="0">
                        <a:solidFill>
                          <a:srgbClr val="000000"/>
                        </a:solidFill>
                        <a:effectLst/>
                        <a:latin typeface="Calibri" panose="020F0502020204030204" pitchFamily="34" charset="0"/>
                      </a:endParaRPr>
                    </a:p>
                  </a:txBody>
                  <a:tcPr marL="1145" marR="1145" marT="1145" marB="0" anchor="b"/>
                </a:tc>
                <a:extLst>
                  <a:ext uri="{0D108BD9-81ED-4DB2-BD59-A6C34878D82A}">
                    <a16:rowId xmlns:a16="http://schemas.microsoft.com/office/drawing/2014/main" val="235429964"/>
                  </a:ext>
                </a:extLst>
              </a:tr>
            </a:tbl>
          </a:graphicData>
        </a:graphic>
      </p:graphicFrame>
    </p:spTree>
    <p:extLst>
      <p:ext uri="{BB962C8B-B14F-4D97-AF65-F5344CB8AC3E}">
        <p14:creationId xmlns:p14="http://schemas.microsoft.com/office/powerpoint/2010/main" val="41876387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49086"/>
          </a:xfrm>
        </p:spPr>
        <p:txBody>
          <a:bodyPr/>
          <a:lstStyle/>
          <a:p>
            <a:r>
              <a:rPr lang="en-US" dirty="0"/>
              <a:t>Pricing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24824546"/>
              </p:ext>
            </p:extLst>
          </p:nvPr>
        </p:nvGraphicFramePr>
        <p:xfrm>
          <a:off x="387531" y="1513119"/>
          <a:ext cx="8530046" cy="4931223"/>
        </p:xfrm>
        <a:graphic>
          <a:graphicData uri="http://schemas.openxmlformats.org/drawingml/2006/table">
            <a:tbl>
              <a:tblPr>
                <a:tableStyleId>{5C22544A-7EE6-4342-B048-85BDC9FD1C3A}</a:tableStyleId>
              </a:tblPr>
              <a:tblGrid>
                <a:gridCol w="4156896">
                  <a:extLst>
                    <a:ext uri="{9D8B030D-6E8A-4147-A177-3AD203B41FA5}">
                      <a16:colId xmlns:a16="http://schemas.microsoft.com/office/drawing/2014/main" val="3114540574"/>
                    </a:ext>
                  </a:extLst>
                </a:gridCol>
                <a:gridCol w="4373150">
                  <a:extLst>
                    <a:ext uri="{9D8B030D-6E8A-4147-A177-3AD203B41FA5}">
                      <a16:colId xmlns:a16="http://schemas.microsoft.com/office/drawing/2014/main" val="2437843007"/>
                    </a:ext>
                  </a:extLst>
                </a:gridCol>
              </a:tblGrid>
              <a:tr h="402766">
                <a:tc>
                  <a:txBody>
                    <a:bodyPr/>
                    <a:lstStyle/>
                    <a:p>
                      <a:pPr algn="l" fontAlgn="t"/>
                      <a:r>
                        <a:rPr lang="en-US" sz="2000" u="none" strike="noStrike">
                          <a:effectLst/>
                        </a:rPr>
                        <a:t>TYPE</a:t>
                      </a:r>
                      <a:endParaRPr lang="en-US" sz="2000" b="0" i="0" u="none" strike="noStrike">
                        <a:solidFill>
                          <a:srgbClr val="202124"/>
                        </a:solidFill>
                        <a:effectLst/>
                        <a:latin typeface="Arial" panose="020B0604020202020204" pitchFamily="34" charset="0"/>
                      </a:endParaRPr>
                    </a:p>
                  </a:txBody>
                  <a:tcPr marL="7620" marR="7620" marT="7620" marB="0"/>
                </a:tc>
                <a:tc>
                  <a:txBody>
                    <a:bodyPr/>
                    <a:lstStyle/>
                    <a:p>
                      <a:pPr algn="l" fontAlgn="t"/>
                      <a:r>
                        <a:rPr lang="en-US" sz="2000" u="none" strike="noStrike">
                          <a:effectLst/>
                        </a:rPr>
                        <a:t>PRICE (MONTHLY IN USD)</a:t>
                      </a:r>
                      <a:endParaRPr lang="en-US" sz="2000" b="0" i="0" u="none" strike="noStrike">
                        <a:solidFill>
                          <a:srgbClr val="202124"/>
                        </a:solidFill>
                        <a:effectLst/>
                        <a:latin typeface="Arial" panose="020B0604020202020204" pitchFamily="34" charset="0"/>
                      </a:endParaRPr>
                    </a:p>
                  </a:txBody>
                  <a:tcPr marL="182880" marR="7620" marT="7620" marB="0"/>
                </a:tc>
                <a:extLst>
                  <a:ext uri="{0D108BD9-81ED-4DB2-BD59-A6C34878D82A}">
                    <a16:rowId xmlns:a16="http://schemas.microsoft.com/office/drawing/2014/main" val="4063666795"/>
                  </a:ext>
                </a:extLst>
              </a:tr>
              <a:tr h="376641">
                <a:tc>
                  <a:txBody>
                    <a:bodyPr/>
                    <a:lstStyle/>
                    <a:p>
                      <a:pPr algn="l" fontAlgn="t"/>
                      <a:r>
                        <a:rPr lang="en-US" sz="2000" u="none" strike="noStrike">
                          <a:effectLst/>
                        </a:rPr>
                        <a:t>Standard provisioned space</a:t>
                      </a:r>
                      <a:endParaRPr lang="en-US" sz="20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000" u="none" strike="noStrike">
                          <a:effectLst/>
                        </a:rPr>
                        <a:t>$0.040   PER GB</a:t>
                      </a:r>
                      <a:endParaRPr lang="en-US" sz="20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2372160878"/>
                  </a:ext>
                </a:extLst>
              </a:tr>
              <a:tr h="389714">
                <a:tc>
                  <a:txBody>
                    <a:bodyPr/>
                    <a:lstStyle/>
                    <a:p>
                      <a:pPr algn="l" fontAlgn="t"/>
                      <a:r>
                        <a:rPr lang="en-US" sz="2000" u="none" strike="noStrike">
                          <a:effectLst/>
                        </a:rPr>
                        <a:t>SSD provisioned space</a:t>
                      </a:r>
                      <a:endParaRPr lang="en-US" sz="20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000" u="none" strike="noStrike">
                          <a:effectLst/>
                        </a:rPr>
                        <a:t>$0.170   PER GB</a:t>
                      </a:r>
                      <a:endParaRPr lang="en-US" sz="20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3335315399"/>
                  </a:ext>
                </a:extLst>
              </a:tr>
              <a:tr h="391885">
                <a:tc>
                  <a:txBody>
                    <a:bodyPr/>
                    <a:lstStyle/>
                    <a:p>
                      <a:pPr algn="l" fontAlgn="t"/>
                      <a:r>
                        <a:rPr lang="en-US" sz="2000" u="none" strike="noStrike">
                          <a:effectLst/>
                        </a:rPr>
                        <a:t>Balanced provisioned space</a:t>
                      </a:r>
                      <a:endParaRPr lang="en-US" sz="20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000" u="none" strike="noStrike">
                          <a:effectLst/>
                        </a:rPr>
                        <a:t>$0.100   PER GB</a:t>
                      </a:r>
                      <a:endParaRPr lang="en-US" sz="20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3867485472"/>
                  </a:ext>
                </a:extLst>
              </a:tr>
              <a:tr h="418012">
                <a:tc>
                  <a:txBody>
                    <a:bodyPr/>
                    <a:lstStyle/>
                    <a:p>
                      <a:pPr algn="l" fontAlgn="t"/>
                      <a:r>
                        <a:rPr lang="en-US" sz="2000" u="none" strike="noStrike">
                          <a:effectLst/>
                        </a:rPr>
                        <a:t>Extreme provisioned space</a:t>
                      </a:r>
                      <a:endParaRPr lang="en-US" sz="20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000" u="none" strike="noStrike">
                          <a:effectLst/>
                        </a:rPr>
                        <a:t>$0.125   PER GB</a:t>
                      </a:r>
                      <a:endParaRPr lang="en-US" sz="20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249406200"/>
                  </a:ext>
                </a:extLst>
              </a:tr>
              <a:tr h="426720">
                <a:tc>
                  <a:txBody>
                    <a:bodyPr/>
                    <a:lstStyle/>
                    <a:p>
                      <a:pPr algn="l" fontAlgn="t"/>
                      <a:r>
                        <a:rPr lang="en-US" sz="2000" u="none" strike="noStrike">
                          <a:effectLst/>
                        </a:rPr>
                        <a:t>Extreme provisioned IOPS</a:t>
                      </a:r>
                      <a:endParaRPr lang="en-US" sz="20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000" u="none" strike="noStrike">
                          <a:effectLst/>
                        </a:rPr>
                        <a:t>$0.065  PER IOPS PROVISIONED</a:t>
                      </a:r>
                      <a:endParaRPr lang="en-US" sz="20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735719731"/>
                  </a:ext>
                </a:extLst>
              </a:tr>
              <a:tr h="496388">
                <a:tc>
                  <a:txBody>
                    <a:bodyPr/>
                    <a:lstStyle/>
                    <a:p>
                      <a:pPr algn="l" fontAlgn="t"/>
                      <a:r>
                        <a:rPr lang="en-US" sz="2000" u="none" strike="noStrike">
                          <a:effectLst/>
                        </a:rPr>
                        <a:t>Regional standard provisioned space</a:t>
                      </a:r>
                      <a:endParaRPr lang="en-US" sz="20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000" u="none" strike="noStrike">
                          <a:effectLst/>
                        </a:rPr>
                        <a:t>$0.080   PER GB</a:t>
                      </a:r>
                      <a:endParaRPr lang="en-US" sz="20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3725994895"/>
                  </a:ext>
                </a:extLst>
              </a:tr>
              <a:tr h="392974">
                <a:tc>
                  <a:txBody>
                    <a:bodyPr/>
                    <a:lstStyle/>
                    <a:p>
                      <a:pPr algn="l" fontAlgn="t"/>
                      <a:r>
                        <a:rPr lang="en-US" sz="2000" u="none" strike="noStrike">
                          <a:effectLst/>
                        </a:rPr>
                        <a:t>Regional SSD provisioned space</a:t>
                      </a:r>
                      <a:endParaRPr lang="en-US" sz="20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000" u="none" strike="noStrike">
                          <a:effectLst/>
                        </a:rPr>
                        <a:t>$0.340   PER GB</a:t>
                      </a:r>
                      <a:endParaRPr lang="en-US" sz="20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3896963537"/>
                  </a:ext>
                </a:extLst>
              </a:tr>
              <a:tr h="496388">
                <a:tc>
                  <a:txBody>
                    <a:bodyPr/>
                    <a:lstStyle/>
                    <a:p>
                      <a:pPr algn="l" fontAlgn="t"/>
                      <a:r>
                        <a:rPr lang="en-US" sz="2000" u="none" strike="noStrike">
                          <a:effectLst/>
                        </a:rPr>
                        <a:t>Regional balanced provisioned space</a:t>
                      </a:r>
                      <a:endParaRPr lang="en-US" sz="20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000" u="none" strike="noStrike">
                          <a:effectLst/>
                        </a:rPr>
                        <a:t>$0.200   PER GB</a:t>
                      </a:r>
                      <a:endParaRPr lang="en-US" sz="20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977524781"/>
                  </a:ext>
                </a:extLst>
              </a:tr>
              <a:tr h="401683">
                <a:tc>
                  <a:txBody>
                    <a:bodyPr/>
                    <a:lstStyle/>
                    <a:p>
                      <a:pPr algn="l" fontAlgn="t"/>
                      <a:r>
                        <a:rPr lang="en-US" sz="2000" u="none" strike="noStrike">
                          <a:effectLst/>
                        </a:rPr>
                        <a:t>Snapshot storage</a:t>
                      </a:r>
                      <a:endParaRPr lang="en-US" sz="20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000" u="none" strike="noStrike">
                          <a:effectLst/>
                        </a:rPr>
                        <a:t>$0.026   PER GB</a:t>
                      </a:r>
                      <a:endParaRPr lang="en-US" sz="20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4022505348"/>
                  </a:ext>
                </a:extLst>
              </a:tr>
              <a:tr h="496388">
                <a:tc>
                  <a:txBody>
                    <a:bodyPr/>
                    <a:lstStyle/>
                    <a:p>
                      <a:pPr algn="l" fontAlgn="t"/>
                      <a:r>
                        <a:rPr lang="en-US" sz="2000" u="none" strike="noStrike">
                          <a:effectLst/>
                        </a:rPr>
                        <a:t>Multi-regional snapshot storage</a:t>
                      </a:r>
                      <a:endParaRPr lang="en-US" sz="20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000" u="none" strike="noStrike" dirty="0">
                          <a:effectLst/>
                        </a:rPr>
                        <a:t>$0.026   PER GB</a:t>
                      </a:r>
                      <a:endParaRPr lang="en-US" sz="2000" b="0" i="0" u="none" strike="noStrike" dirty="0">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1004281261"/>
                  </a:ext>
                </a:extLst>
              </a:tr>
            </a:tbl>
          </a:graphicData>
        </a:graphic>
      </p:graphicFrame>
    </p:spTree>
    <p:extLst>
      <p:ext uri="{BB962C8B-B14F-4D97-AF65-F5344CB8AC3E}">
        <p14:creationId xmlns:p14="http://schemas.microsoft.com/office/powerpoint/2010/main" val="39873127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364377" y="404949"/>
            <a:ext cx="2991394" cy="605245"/>
          </a:xfrm>
        </p:spPr>
        <p:txBody>
          <a:bodyPr/>
          <a:lstStyle/>
          <a:p>
            <a:r>
              <a:rPr lang="en-US" dirty="0"/>
              <a:t>Networking</a:t>
            </a:r>
          </a:p>
        </p:txBody>
      </p:sp>
      <p:pic>
        <p:nvPicPr>
          <p:cNvPr id="7" name="Content Placeholder 6"/>
          <p:cNvPicPr>
            <a:picLocks noGrp="1" noChangeAspect="1"/>
          </p:cNvPicPr>
          <p:nvPr>
            <p:ph idx="1"/>
          </p:nvPr>
        </p:nvPicPr>
        <p:blipFill>
          <a:blip r:embed="rId2"/>
          <a:stretch>
            <a:fillRect/>
          </a:stretch>
        </p:blipFill>
        <p:spPr>
          <a:xfrm>
            <a:off x="1541417" y="1045435"/>
            <a:ext cx="6122126" cy="5815637"/>
          </a:xfrm>
          <a:prstGeom prst="rect">
            <a:avLst/>
          </a:prstGeom>
        </p:spPr>
      </p:pic>
    </p:spTree>
    <p:extLst>
      <p:ext uri="{BB962C8B-B14F-4D97-AF65-F5344CB8AC3E}">
        <p14:creationId xmlns:p14="http://schemas.microsoft.com/office/powerpoint/2010/main" val="29386420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58091"/>
          </a:xfrm>
        </p:spPr>
        <p:txBody>
          <a:bodyPr/>
          <a:lstStyle/>
          <a:p>
            <a:r>
              <a:rPr lang="en-US" dirty="0"/>
              <a:t>Google Cloud Armor</a:t>
            </a:r>
          </a:p>
        </p:txBody>
      </p:sp>
      <p:sp>
        <p:nvSpPr>
          <p:cNvPr id="3" name="Content Placeholder 2"/>
          <p:cNvSpPr>
            <a:spLocks noGrp="1"/>
          </p:cNvSpPr>
          <p:nvPr>
            <p:ph idx="1"/>
          </p:nvPr>
        </p:nvSpPr>
        <p:spPr>
          <a:xfrm>
            <a:off x="224246" y="1680754"/>
            <a:ext cx="8695508" cy="3886200"/>
          </a:xfrm>
        </p:spPr>
        <p:txBody>
          <a:bodyPr/>
          <a:lstStyle/>
          <a:p>
            <a:r>
              <a:rPr lang="en-US" sz="2400" dirty="0"/>
              <a:t>Help protect your applications and websites against denial of service and web attacks.</a:t>
            </a:r>
          </a:p>
          <a:p>
            <a:r>
              <a:rPr lang="en-US" sz="2400" dirty="0"/>
              <a:t>Benefit from </a:t>
            </a:r>
            <a:r>
              <a:rPr lang="en-US" sz="2400" dirty="0" err="1"/>
              <a:t>DDoS</a:t>
            </a:r>
            <a:r>
              <a:rPr lang="en-US" sz="2400" dirty="0"/>
              <a:t> protection and WAF at Google scale</a:t>
            </a:r>
          </a:p>
          <a:p>
            <a:r>
              <a:rPr lang="en-US" sz="2400" dirty="0"/>
              <a:t>Detect and mitigate attacks against your Cloud Load Balancing workloads</a:t>
            </a:r>
          </a:p>
          <a:p>
            <a:r>
              <a:rPr lang="en-US" sz="2400" dirty="0"/>
              <a:t>Adaptive Protection  ML-based mechanism to help detect and block Layer 7 </a:t>
            </a:r>
            <a:r>
              <a:rPr lang="en-US" sz="2400" dirty="0" err="1"/>
              <a:t>DDoS</a:t>
            </a:r>
            <a:r>
              <a:rPr lang="en-US" sz="2400" dirty="0"/>
              <a:t> attacks</a:t>
            </a:r>
          </a:p>
          <a:p>
            <a:r>
              <a:rPr lang="en-US" sz="2400" dirty="0"/>
              <a:t>Mitigate OWASP Top 10 risks and help protect workloads on-premises or in the cloud</a:t>
            </a:r>
          </a:p>
          <a:p>
            <a:r>
              <a:rPr lang="en-US" sz="2400" dirty="0"/>
              <a:t>Bot management to stop fraud at the edge through native integration with </a:t>
            </a:r>
            <a:r>
              <a:rPr lang="en-US" sz="2400" dirty="0" err="1"/>
              <a:t>reCAPTCHA</a:t>
            </a:r>
            <a:r>
              <a:rPr lang="en-US" sz="2400" dirty="0"/>
              <a:t> Enterprise</a:t>
            </a:r>
          </a:p>
        </p:txBody>
      </p:sp>
    </p:spTree>
    <p:extLst>
      <p:ext uri="{BB962C8B-B14F-4D97-AF65-F5344CB8AC3E}">
        <p14:creationId xmlns:p14="http://schemas.microsoft.com/office/powerpoint/2010/main" val="6116068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846680"/>
              </p:ext>
            </p:extLst>
          </p:nvPr>
        </p:nvGraphicFramePr>
        <p:xfrm>
          <a:off x="191588" y="594235"/>
          <a:ext cx="8882742" cy="6150553"/>
        </p:xfrm>
        <a:graphic>
          <a:graphicData uri="http://schemas.openxmlformats.org/drawingml/2006/table">
            <a:tbl>
              <a:tblPr>
                <a:tableStyleId>{5C22544A-7EE6-4342-B048-85BDC9FD1C3A}</a:tableStyleId>
              </a:tblPr>
              <a:tblGrid>
                <a:gridCol w="1976845">
                  <a:extLst>
                    <a:ext uri="{9D8B030D-6E8A-4147-A177-3AD203B41FA5}">
                      <a16:colId xmlns:a16="http://schemas.microsoft.com/office/drawing/2014/main" val="3246186830"/>
                    </a:ext>
                  </a:extLst>
                </a:gridCol>
                <a:gridCol w="6905897">
                  <a:extLst>
                    <a:ext uri="{9D8B030D-6E8A-4147-A177-3AD203B41FA5}">
                      <a16:colId xmlns:a16="http://schemas.microsoft.com/office/drawing/2014/main" val="2269644330"/>
                    </a:ext>
                  </a:extLst>
                </a:gridCol>
              </a:tblGrid>
              <a:tr h="613941">
                <a:tc>
                  <a:txBody>
                    <a:bodyPr/>
                    <a:lstStyle/>
                    <a:p>
                      <a:pPr algn="l" fontAlgn="t"/>
                      <a:r>
                        <a:rPr lang="en-US" sz="1600" u="none" strike="noStrike" dirty="0">
                          <a:effectLst/>
                        </a:rPr>
                        <a:t>Pre-defined WAF rules to mitigate OWASP Top 10 risks</a:t>
                      </a:r>
                      <a:endParaRPr lang="en-US" sz="1600" b="0" i="0" u="none" strike="noStrike" dirty="0">
                        <a:solidFill>
                          <a:srgbClr val="202124"/>
                        </a:solidFill>
                        <a:effectLst/>
                        <a:latin typeface="Arial" panose="020B0604020202020204" pitchFamily="34" charset="0"/>
                      </a:endParaRPr>
                    </a:p>
                  </a:txBody>
                  <a:tcPr marL="6553" marR="6553" marT="6553" marB="0"/>
                </a:tc>
                <a:tc>
                  <a:txBody>
                    <a:bodyPr/>
                    <a:lstStyle/>
                    <a:p>
                      <a:pPr algn="l" fontAlgn="t"/>
                      <a:r>
                        <a:rPr lang="en-US" sz="1600" u="none" strike="noStrike">
                          <a:effectLst/>
                        </a:rPr>
                        <a:t>Out-of-the-box rules based on industry standards to mitigate against common web-application vulnerabilities and help provide protection from the OWASP Top 10.</a:t>
                      </a:r>
                      <a:endParaRPr lang="en-US" sz="1600" b="0" i="0" u="none" strike="noStrike">
                        <a:solidFill>
                          <a:srgbClr val="5F6368"/>
                        </a:solidFill>
                        <a:effectLst/>
                        <a:latin typeface="Arial" panose="020B0604020202020204" pitchFamily="34" charset="0"/>
                      </a:endParaRPr>
                    </a:p>
                  </a:txBody>
                  <a:tcPr marL="157283" marR="6553" marT="6553" marB="0"/>
                </a:tc>
                <a:extLst>
                  <a:ext uri="{0D108BD9-81ED-4DB2-BD59-A6C34878D82A}">
                    <a16:rowId xmlns:a16="http://schemas.microsoft.com/office/drawing/2014/main" val="2297194286"/>
                  </a:ext>
                </a:extLst>
              </a:tr>
              <a:tr h="613941">
                <a:tc>
                  <a:txBody>
                    <a:bodyPr/>
                    <a:lstStyle/>
                    <a:p>
                      <a:pPr algn="l" fontAlgn="t"/>
                      <a:r>
                        <a:rPr lang="en-US" sz="1600" u="none" strike="noStrike">
                          <a:effectLst/>
                        </a:rPr>
                        <a:t>Rich rules language for web application firewall</a:t>
                      </a:r>
                      <a:endParaRPr lang="en-US" sz="1600" b="0" i="0" u="none" strike="noStrike">
                        <a:solidFill>
                          <a:srgbClr val="202124"/>
                        </a:solidFill>
                        <a:effectLst/>
                        <a:latin typeface="Arial" panose="020B0604020202020204" pitchFamily="34" charset="0"/>
                      </a:endParaRPr>
                    </a:p>
                  </a:txBody>
                  <a:tcPr marL="6553" marR="6553" marT="6553" marB="0"/>
                </a:tc>
                <a:tc>
                  <a:txBody>
                    <a:bodyPr/>
                    <a:lstStyle/>
                    <a:p>
                      <a:pPr algn="l" fontAlgn="t"/>
                      <a:r>
                        <a:rPr lang="en-US" sz="1600" u="none" strike="noStrike">
                          <a:effectLst/>
                        </a:rPr>
                        <a:t>Create custom rules using any combination of L3–L7 parameters and geolocation to help protect your deployment with a flexible rules language.</a:t>
                      </a:r>
                      <a:endParaRPr lang="en-US" sz="1600" b="0" i="0" u="none" strike="noStrike">
                        <a:solidFill>
                          <a:srgbClr val="5F6368"/>
                        </a:solidFill>
                        <a:effectLst/>
                        <a:latin typeface="Arial" panose="020B0604020202020204" pitchFamily="34" charset="0"/>
                      </a:endParaRPr>
                    </a:p>
                  </a:txBody>
                  <a:tcPr marL="157283" marR="6553" marT="6553" marB="0"/>
                </a:tc>
                <a:extLst>
                  <a:ext uri="{0D108BD9-81ED-4DB2-BD59-A6C34878D82A}">
                    <a16:rowId xmlns:a16="http://schemas.microsoft.com/office/drawing/2014/main" val="2383809060"/>
                  </a:ext>
                </a:extLst>
              </a:tr>
              <a:tr h="888838">
                <a:tc>
                  <a:txBody>
                    <a:bodyPr/>
                    <a:lstStyle/>
                    <a:p>
                      <a:pPr algn="l" fontAlgn="t"/>
                      <a:r>
                        <a:rPr lang="en-US" sz="1600" u="none" strike="noStrike">
                          <a:effectLst/>
                        </a:rPr>
                        <a:t>Visibility and monitoring</a:t>
                      </a:r>
                      <a:endParaRPr lang="en-US" sz="1600" b="0" i="0" u="none" strike="noStrike">
                        <a:solidFill>
                          <a:srgbClr val="202124"/>
                        </a:solidFill>
                        <a:effectLst/>
                        <a:latin typeface="Arial" panose="020B0604020202020204" pitchFamily="34" charset="0"/>
                      </a:endParaRPr>
                    </a:p>
                  </a:txBody>
                  <a:tcPr marL="6553" marR="6553" marT="6553" marB="0"/>
                </a:tc>
                <a:tc>
                  <a:txBody>
                    <a:bodyPr/>
                    <a:lstStyle/>
                    <a:p>
                      <a:pPr algn="l" fontAlgn="t"/>
                      <a:r>
                        <a:rPr lang="en-US" sz="1600" u="none" strike="noStrike" dirty="0">
                          <a:effectLst/>
                        </a:rPr>
                        <a:t>Easily monitor all of the metrics associated with your security policies in the Cloud Monitoring dashboard. You can also view suspicious application traffic patterns from Cloud Armor directly in the Security Command Center dashboard.</a:t>
                      </a:r>
                      <a:endParaRPr lang="en-US" sz="1600" b="0" i="0" u="none" strike="noStrike" dirty="0">
                        <a:solidFill>
                          <a:srgbClr val="0563C1"/>
                        </a:solidFill>
                        <a:effectLst/>
                        <a:latin typeface="Calibri" panose="020F0502020204030204" pitchFamily="34" charset="0"/>
                      </a:endParaRPr>
                    </a:p>
                  </a:txBody>
                  <a:tcPr marL="157283" marR="6553" marT="6553" marB="0"/>
                </a:tc>
                <a:extLst>
                  <a:ext uri="{0D108BD9-81ED-4DB2-BD59-A6C34878D82A}">
                    <a16:rowId xmlns:a16="http://schemas.microsoft.com/office/drawing/2014/main" val="1877449795"/>
                  </a:ext>
                </a:extLst>
              </a:tr>
              <a:tr h="449001">
                <a:tc>
                  <a:txBody>
                    <a:bodyPr/>
                    <a:lstStyle/>
                    <a:p>
                      <a:pPr algn="l" fontAlgn="t"/>
                      <a:r>
                        <a:rPr lang="en-US" sz="1600" u="none" strike="noStrike">
                          <a:effectLst/>
                        </a:rPr>
                        <a:t>Logging</a:t>
                      </a:r>
                      <a:endParaRPr lang="en-US" sz="1600" b="0" i="0" u="none" strike="noStrike">
                        <a:solidFill>
                          <a:srgbClr val="202124"/>
                        </a:solidFill>
                        <a:effectLst/>
                        <a:latin typeface="Arial" panose="020B0604020202020204" pitchFamily="34" charset="0"/>
                      </a:endParaRPr>
                    </a:p>
                  </a:txBody>
                  <a:tcPr marL="6553" marR="6553" marT="6553" marB="0"/>
                </a:tc>
                <a:tc>
                  <a:txBody>
                    <a:bodyPr/>
                    <a:lstStyle/>
                    <a:p>
                      <a:pPr algn="l" fontAlgn="t"/>
                      <a:r>
                        <a:rPr lang="en-US" sz="1600" u="none" strike="noStrike" dirty="0">
                          <a:effectLst/>
                        </a:rPr>
                        <a:t>Get visibility into Cloud Armor decisions as well as the implicated policies and rules on a per-request basis via Cloud Logging.</a:t>
                      </a:r>
                      <a:endParaRPr lang="en-US" sz="1600" b="0" i="0" u="none" strike="noStrike" dirty="0">
                        <a:solidFill>
                          <a:srgbClr val="0563C1"/>
                        </a:solidFill>
                        <a:effectLst/>
                        <a:latin typeface="Calibri" panose="020F0502020204030204" pitchFamily="34" charset="0"/>
                      </a:endParaRPr>
                    </a:p>
                  </a:txBody>
                  <a:tcPr marL="157283" marR="6553" marT="6553" marB="0"/>
                </a:tc>
                <a:extLst>
                  <a:ext uri="{0D108BD9-81ED-4DB2-BD59-A6C34878D82A}">
                    <a16:rowId xmlns:a16="http://schemas.microsoft.com/office/drawing/2014/main" val="2478350565"/>
                  </a:ext>
                </a:extLst>
              </a:tr>
              <a:tr h="613941">
                <a:tc>
                  <a:txBody>
                    <a:bodyPr/>
                    <a:lstStyle/>
                    <a:p>
                      <a:pPr algn="l" fontAlgn="t"/>
                      <a:r>
                        <a:rPr lang="en-US" sz="1600" u="none" strike="noStrike" dirty="0">
                          <a:effectLst/>
                        </a:rPr>
                        <a:t>Preview mode</a:t>
                      </a:r>
                      <a:endParaRPr lang="en-US" sz="1600" b="0" i="0" u="none" strike="noStrike" dirty="0">
                        <a:solidFill>
                          <a:srgbClr val="202124"/>
                        </a:solidFill>
                        <a:effectLst/>
                        <a:latin typeface="Arial" panose="020B0604020202020204" pitchFamily="34" charset="0"/>
                      </a:endParaRPr>
                    </a:p>
                  </a:txBody>
                  <a:tcPr marL="6553" marR="6553" marT="6553" marB="0"/>
                </a:tc>
                <a:tc>
                  <a:txBody>
                    <a:bodyPr/>
                    <a:lstStyle/>
                    <a:p>
                      <a:pPr algn="l" fontAlgn="t"/>
                      <a:r>
                        <a:rPr lang="en-US" sz="1600" u="none" strike="noStrike">
                          <a:effectLst/>
                        </a:rPr>
                        <a:t>Deploy Cloud Armor rules in preview mode to understand rule efficacy and impact on production traffic before enabling active enforcement.</a:t>
                      </a:r>
                      <a:endParaRPr lang="en-US" sz="1600" b="0" i="0" u="none" strike="noStrike">
                        <a:solidFill>
                          <a:srgbClr val="5F6368"/>
                        </a:solidFill>
                        <a:effectLst/>
                        <a:latin typeface="Arial" panose="020B0604020202020204" pitchFamily="34" charset="0"/>
                      </a:endParaRPr>
                    </a:p>
                  </a:txBody>
                  <a:tcPr marL="157283" marR="6553" marT="6553" marB="0"/>
                </a:tc>
                <a:extLst>
                  <a:ext uri="{0D108BD9-81ED-4DB2-BD59-A6C34878D82A}">
                    <a16:rowId xmlns:a16="http://schemas.microsoft.com/office/drawing/2014/main" val="3815462065"/>
                  </a:ext>
                </a:extLst>
              </a:tr>
              <a:tr h="613941">
                <a:tc>
                  <a:txBody>
                    <a:bodyPr/>
                    <a:lstStyle/>
                    <a:p>
                      <a:pPr algn="l" fontAlgn="t"/>
                      <a:r>
                        <a:rPr lang="en-US" sz="1600" u="none" strike="noStrike">
                          <a:effectLst/>
                        </a:rPr>
                        <a:t>Policy framework with rules</a:t>
                      </a:r>
                      <a:endParaRPr lang="en-US" sz="1600" b="0" i="0" u="none" strike="noStrike">
                        <a:solidFill>
                          <a:srgbClr val="202124"/>
                        </a:solidFill>
                        <a:effectLst/>
                        <a:latin typeface="Arial" panose="020B0604020202020204" pitchFamily="34" charset="0"/>
                      </a:endParaRPr>
                    </a:p>
                  </a:txBody>
                  <a:tcPr marL="6553" marR="6553" marT="6553" marB="0"/>
                </a:tc>
                <a:tc>
                  <a:txBody>
                    <a:bodyPr/>
                    <a:lstStyle/>
                    <a:p>
                      <a:pPr algn="l" fontAlgn="t"/>
                      <a:r>
                        <a:rPr lang="en-US" sz="1600" u="none" strike="noStrike">
                          <a:effectLst/>
                        </a:rPr>
                        <a:t>Configure one or more security policies with a hierarchy of rules. Apply a policy at varying levels of granularity to one or many workloads.</a:t>
                      </a:r>
                      <a:endParaRPr lang="en-US" sz="1600" b="0" i="0" u="none" strike="noStrike">
                        <a:solidFill>
                          <a:srgbClr val="5F6368"/>
                        </a:solidFill>
                        <a:effectLst/>
                        <a:latin typeface="Arial" panose="020B0604020202020204" pitchFamily="34" charset="0"/>
                      </a:endParaRPr>
                    </a:p>
                  </a:txBody>
                  <a:tcPr marL="157283" marR="6553" marT="6553" marB="0"/>
                </a:tc>
                <a:extLst>
                  <a:ext uri="{0D108BD9-81ED-4DB2-BD59-A6C34878D82A}">
                    <a16:rowId xmlns:a16="http://schemas.microsoft.com/office/drawing/2014/main" val="88884286"/>
                  </a:ext>
                </a:extLst>
              </a:tr>
              <a:tr h="613941">
                <a:tc>
                  <a:txBody>
                    <a:bodyPr/>
                    <a:lstStyle/>
                    <a:p>
                      <a:pPr algn="l" fontAlgn="t"/>
                      <a:r>
                        <a:rPr lang="en-US" sz="1600" u="none" strike="noStrike">
                          <a:effectLst/>
                        </a:rPr>
                        <a:t>IP-based and geo-based access control</a:t>
                      </a:r>
                      <a:endParaRPr lang="en-US" sz="1600" b="0" i="0" u="none" strike="noStrike">
                        <a:solidFill>
                          <a:srgbClr val="202124"/>
                        </a:solidFill>
                        <a:effectLst/>
                        <a:latin typeface="Arial" panose="020B0604020202020204" pitchFamily="34" charset="0"/>
                      </a:endParaRPr>
                    </a:p>
                  </a:txBody>
                  <a:tcPr marL="6553" marR="6553" marT="6553" marB="0"/>
                </a:tc>
                <a:tc>
                  <a:txBody>
                    <a:bodyPr/>
                    <a:lstStyle/>
                    <a:p>
                      <a:pPr algn="l" fontAlgn="t"/>
                      <a:r>
                        <a:rPr lang="en-US" sz="1600" u="none" strike="noStrike">
                          <a:effectLst/>
                        </a:rPr>
                        <a:t>Filter your incoming traffic based on IPv4 and IPv6 addresses or CIDRs. Identify and enforce access control based on geographic location of incoming traffic.</a:t>
                      </a:r>
                      <a:endParaRPr lang="en-US" sz="1600" b="0" i="0" u="none" strike="noStrike">
                        <a:solidFill>
                          <a:srgbClr val="5F6368"/>
                        </a:solidFill>
                        <a:effectLst/>
                        <a:latin typeface="Arial" panose="020B0604020202020204" pitchFamily="34" charset="0"/>
                      </a:endParaRPr>
                    </a:p>
                  </a:txBody>
                  <a:tcPr marL="157283" marR="6553" marT="6553" marB="0"/>
                </a:tc>
                <a:extLst>
                  <a:ext uri="{0D108BD9-81ED-4DB2-BD59-A6C34878D82A}">
                    <a16:rowId xmlns:a16="http://schemas.microsoft.com/office/drawing/2014/main" val="426527121"/>
                  </a:ext>
                </a:extLst>
              </a:tr>
              <a:tr h="613941">
                <a:tc>
                  <a:txBody>
                    <a:bodyPr/>
                    <a:lstStyle/>
                    <a:p>
                      <a:pPr algn="l" fontAlgn="t"/>
                      <a:r>
                        <a:rPr lang="en-US" sz="1600" u="none" strike="noStrike">
                          <a:effectLst/>
                        </a:rPr>
                        <a:t>Support for hybrid and multicloud deployments</a:t>
                      </a:r>
                      <a:endParaRPr lang="en-US" sz="1600" b="0" i="0" u="none" strike="noStrike">
                        <a:solidFill>
                          <a:srgbClr val="202124"/>
                        </a:solidFill>
                        <a:effectLst/>
                        <a:latin typeface="Arial" panose="020B0604020202020204" pitchFamily="34" charset="0"/>
                      </a:endParaRPr>
                    </a:p>
                  </a:txBody>
                  <a:tcPr marL="6553" marR="6553" marT="6553" marB="0"/>
                </a:tc>
                <a:tc>
                  <a:txBody>
                    <a:bodyPr/>
                    <a:lstStyle/>
                    <a:p>
                      <a:pPr algn="l" fontAlgn="t"/>
                      <a:r>
                        <a:rPr lang="en-US" sz="1600" u="none" strike="noStrike">
                          <a:effectLst/>
                        </a:rPr>
                        <a:t>Help defend applications from DDoS or web attacks and enforce Layer 7 security policies whether your application is deployed on Google Cloud or in a hybrid or multicloud architecture.</a:t>
                      </a:r>
                      <a:endParaRPr lang="en-US" sz="1600" b="0" i="0" u="none" strike="noStrike">
                        <a:solidFill>
                          <a:srgbClr val="5F6368"/>
                        </a:solidFill>
                        <a:effectLst/>
                        <a:latin typeface="Arial" panose="020B0604020202020204" pitchFamily="34" charset="0"/>
                      </a:endParaRPr>
                    </a:p>
                  </a:txBody>
                  <a:tcPr marL="157283" marR="6553" marT="6553" marB="0"/>
                </a:tc>
                <a:extLst>
                  <a:ext uri="{0D108BD9-81ED-4DB2-BD59-A6C34878D82A}">
                    <a16:rowId xmlns:a16="http://schemas.microsoft.com/office/drawing/2014/main" val="2801920691"/>
                  </a:ext>
                </a:extLst>
              </a:tr>
              <a:tr h="412349">
                <a:tc>
                  <a:txBody>
                    <a:bodyPr/>
                    <a:lstStyle/>
                    <a:p>
                      <a:pPr algn="l" fontAlgn="t"/>
                      <a:r>
                        <a:rPr lang="en-US" sz="1600" u="none" strike="noStrike">
                          <a:effectLst/>
                        </a:rPr>
                        <a:t>Named IP Lists</a:t>
                      </a:r>
                      <a:endParaRPr lang="en-US" sz="1600" b="0" i="0" u="none" strike="noStrike">
                        <a:solidFill>
                          <a:srgbClr val="202124"/>
                        </a:solidFill>
                        <a:effectLst/>
                        <a:latin typeface="Arial" panose="020B0604020202020204" pitchFamily="34" charset="0"/>
                      </a:endParaRPr>
                    </a:p>
                  </a:txBody>
                  <a:tcPr marL="6553" marR="6553" marT="6553" marB="0"/>
                </a:tc>
                <a:tc>
                  <a:txBody>
                    <a:bodyPr/>
                    <a:lstStyle/>
                    <a:p>
                      <a:pPr algn="l" fontAlgn="t"/>
                      <a:r>
                        <a:rPr lang="en-US" sz="1600" u="none" strike="noStrike" dirty="0">
                          <a:effectLst/>
                        </a:rPr>
                        <a:t>Allow or deny traffic through a Cloud Armor security policy based on a curated Named IP List.</a:t>
                      </a:r>
                      <a:endParaRPr lang="en-US" sz="1600" b="0" i="0" u="none" strike="noStrike" dirty="0">
                        <a:solidFill>
                          <a:srgbClr val="5F6368"/>
                        </a:solidFill>
                        <a:effectLst/>
                        <a:latin typeface="Arial" panose="020B0604020202020204" pitchFamily="34" charset="0"/>
                      </a:endParaRPr>
                    </a:p>
                  </a:txBody>
                  <a:tcPr marL="157283" marR="6553" marT="6553" marB="0"/>
                </a:tc>
                <a:extLst>
                  <a:ext uri="{0D108BD9-81ED-4DB2-BD59-A6C34878D82A}">
                    <a16:rowId xmlns:a16="http://schemas.microsoft.com/office/drawing/2014/main" val="2110019276"/>
                  </a:ext>
                </a:extLst>
              </a:tr>
            </a:tbl>
          </a:graphicData>
        </a:graphic>
      </p:graphicFrame>
    </p:spTree>
    <p:extLst>
      <p:ext uri="{BB962C8B-B14F-4D97-AF65-F5344CB8AC3E}">
        <p14:creationId xmlns:p14="http://schemas.microsoft.com/office/powerpoint/2010/main" val="9659180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Pricing</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347171105"/>
              </p:ext>
            </p:extLst>
          </p:nvPr>
        </p:nvGraphicFramePr>
        <p:xfrm>
          <a:off x="365759" y="1619796"/>
          <a:ext cx="8516983" cy="5120638"/>
        </p:xfrm>
        <a:graphic>
          <a:graphicData uri="http://schemas.openxmlformats.org/drawingml/2006/table">
            <a:tbl>
              <a:tblPr>
                <a:tableStyleId>{5C22544A-7EE6-4342-B048-85BDC9FD1C3A}</a:tableStyleId>
              </a:tblPr>
              <a:tblGrid>
                <a:gridCol w="1529365">
                  <a:extLst>
                    <a:ext uri="{9D8B030D-6E8A-4147-A177-3AD203B41FA5}">
                      <a16:colId xmlns:a16="http://schemas.microsoft.com/office/drawing/2014/main" val="3912134757"/>
                    </a:ext>
                  </a:extLst>
                </a:gridCol>
                <a:gridCol w="2294048">
                  <a:extLst>
                    <a:ext uri="{9D8B030D-6E8A-4147-A177-3AD203B41FA5}">
                      <a16:colId xmlns:a16="http://schemas.microsoft.com/office/drawing/2014/main" val="4208737136"/>
                    </a:ext>
                  </a:extLst>
                </a:gridCol>
                <a:gridCol w="4693570">
                  <a:extLst>
                    <a:ext uri="{9D8B030D-6E8A-4147-A177-3AD203B41FA5}">
                      <a16:colId xmlns:a16="http://schemas.microsoft.com/office/drawing/2014/main" val="3004372618"/>
                    </a:ext>
                  </a:extLst>
                </a:gridCol>
              </a:tblGrid>
              <a:tr h="765544">
                <a:tc>
                  <a:txBody>
                    <a:bodyPr/>
                    <a:lstStyle/>
                    <a:p>
                      <a:pPr algn="l" fontAlgn="t"/>
                      <a:r>
                        <a:rPr lang="en-US" sz="2400" u="none" strike="noStrike">
                          <a:effectLst/>
                        </a:rPr>
                        <a:t>CLOUD ARMOR</a:t>
                      </a:r>
                      <a:endParaRPr lang="en-US" sz="2400" b="0" i="0" u="none" strike="noStrike">
                        <a:solidFill>
                          <a:srgbClr val="202124"/>
                        </a:solidFill>
                        <a:effectLst/>
                        <a:latin typeface="Arial" panose="020B0604020202020204" pitchFamily="34" charset="0"/>
                      </a:endParaRPr>
                    </a:p>
                  </a:txBody>
                  <a:tcPr marL="7620" marR="7620" marT="7620" marB="0"/>
                </a:tc>
                <a:tc>
                  <a:txBody>
                    <a:bodyPr/>
                    <a:lstStyle/>
                    <a:p>
                      <a:pPr algn="l" fontAlgn="t"/>
                      <a:r>
                        <a:rPr lang="en-US" sz="2400" u="none" strike="noStrike">
                          <a:effectLst/>
                        </a:rPr>
                        <a:t>STANDARD</a:t>
                      </a:r>
                      <a:endParaRPr lang="en-US" sz="2400" b="0" i="0" u="none" strike="noStrike">
                        <a:solidFill>
                          <a:srgbClr val="202124"/>
                        </a:solidFill>
                        <a:effectLst/>
                        <a:latin typeface="Arial" panose="020B0604020202020204" pitchFamily="34" charset="0"/>
                      </a:endParaRPr>
                    </a:p>
                  </a:txBody>
                  <a:tcPr marL="182880" marR="7620" marT="7620" marB="0"/>
                </a:tc>
                <a:tc>
                  <a:txBody>
                    <a:bodyPr/>
                    <a:lstStyle/>
                    <a:p>
                      <a:pPr algn="l" fontAlgn="t"/>
                      <a:r>
                        <a:rPr lang="en-US" sz="2400" u="none" strike="noStrike">
                          <a:effectLst/>
                        </a:rPr>
                        <a:t>MANAGED PROTECTION PLUS</a:t>
                      </a:r>
                      <a:endParaRPr lang="en-US" sz="2400" b="0" i="0" u="none" strike="noStrike">
                        <a:solidFill>
                          <a:srgbClr val="202124"/>
                        </a:solidFill>
                        <a:effectLst/>
                        <a:latin typeface="Arial" panose="020B0604020202020204" pitchFamily="34" charset="0"/>
                      </a:endParaRPr>
                    </a:p>
                  </a:txBody>
                  <a:tcPr marL="182880" marR="7620" marT="7620" marB="0"/>
                </a:tc>
                <a:extLst>
                  <a:ext uri="{0D108BD9-81ED-4DB2-BD59-A6C34878D82A}">
                    <a16:rowId xmlns:a16="http://schemas.microsoft.com/office/drawing/2014/main" val="1411789728"/>
                  </a:ext>
                </a:extLst>
              </a:tr>
              <a:tr h="425302">
                <a:tc>
                  <a:txBody>
                    <a:bodyPr/>
                    <a:lstStyle/>
                    <a:p>
                      <a:pPr algn="l" fontAlgn="t"/>
                      <a:r>
                        <a:rPr lang="en-US" sz="2400" u="none" strike="noStrike" dirty="0">
                          <a:effectLst/>
                        </a:rPr>
                        <a:t>Billing</a:t>
                      </a:r>
                      <a:endParaRPr lang="en-US" sz="2400" b="0" i="0" u="none" strike="noStrike" dirty="0">
                        <a:solidFill>
                          <a:srgbClr val="5F6368"/>
                        </a:solidFill>
                        <a:effectLst/>
                        <a:latin typeface="Arial" panose="020B0604020202020204" pitchFamily="34" charset="0"/>
                      </a:endParaRPr>
                    </a:p>
                  </a:txBody>
                  <a:tcPr marL="7620" marR="7620" marT="7620" marB="0"/>
                </a:tc>
                <a:tc>
                  <a:txBody>
                    <a:bodyPr/>
                    <a:lstStyle/>
                    <a:p>
                      <a:pPr algn="l" fontAlgn="t"/>
                      <a:r>
                        <a:rPr lang="en-US" sz="2400" u="none" strike="noStrike">
                          <a:effectLst/>
                        </a:rPr>
                        <a:t>Pay as you go</a:t>
                      </a:r>
                      <a:endParaRPr lang="en-US" sz="2400" b="0" i="0" u="none" strike="noStrike">
                        <a:solidFill>
                          <a:srgbClr val="5F6368"/>
                        </a:solidFill>
                        <a:effectLst/>
                        <a:latin typeface="Arial" panose="020B0604020202020204" pitchFamily="34" charset="0"/>
                      </a:endParaRPr>
                    </a:p>
                  </a:txBody>
                  <a:tcPr marL="182880" marR="7620" marT="7620" marB="0"/>
                </a:tc>
                <a:tc>
                  <a:txBody>
                    <a:bodyPr/>
                    <a:lstStyle/>
                    <a:p>
                      <a:pPr algn="l" fontAlgn="t"/>
                      <a:r>
                        <a:rPr lang="en-US" sz="2400" u="none" strike="noStrike">
                          <a:effectLst/>
                        </a:rPr>
                        <a:t>Starting at $3,000/month</a:t>
                      </a:r>
                      <a:endParaRPr lang="en-US" sz="24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1930235393"/>
                  </a:ext>
                </a:extLst>
              </a:tr>
              <a:tr h="765544">
                <a:tc>
                  <a:txBody>
                    <a:bodyPr/>
                    <a:lstStyle/>
                    <a:p>
                      <a:pPr algn="l" fontAlgn="t"/>
                      <a:r>
                        <a:rPr lang="en-US" sz="2400" u="none" strike="noStrike">
                          <a:effectLst/>
                        </a:rPr>
                        <a:t>Protected resources</a:t>
                      </a:r>
                      <a:endParaRPr lang="en-US" sz="24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400" u="none" strike="noStrike">
                          <a:effectLst/>
                        </a:rPr>
                        <a:t>None</a:t>
                      </a:r>
                      <a:endParaRPr lang="en-US" sz="2400" b="0" i="0" u="none" strike="noStrike">
                        <a:solidFill>
                          <a:srgbClr val="5F6368"/>
                        </a:solidFill>
                        <a:effectLst/>
                        <a:latin typeface="Arial" panose="020B0604020202020204" pitchFamily="34" charset="0"/>
                      </a:endParaRPr>
                    </a:p>
                  </a:txBody>
                  <a:tcPr marL="182880" marR="7620" marT="7620" marB="0"/>
                </a:tc>
                <a:tc>
                  <a:txBody>
                    <a:bodyPr/>
                    <a:lstStyle/>
                    <a:p>
                      <a:pPr algn="l" fontAlgn="t"/>
                      <a:r>
                        <a:rPr lang="en-US" sz="2400" u="none" strike="noStrike">
                          <a:effectLst/>
                        </a:rPr>
                        <a:t>Includes first 100 ($30/month for additional protected resources)</a:t>
                      </a:r>
                      <a:endParaRPr lang="en-US" sz="24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2042943716"/>
                  </a:ext>
                </a:extLst>
              </a:tr>
              <a:tr h="425302">
                <a:tc>
                  <a:txBody>
                    <a:bodyPr/>
                    <a:lstStyle/>
                    <a:p>
                      <a:pPr algn="l" fontAlgn="t"/>
                      <a:r>
                        <a:rPr lang="en-US" sz="2400" u="none" strike="noStrike">
                          <a:effectLst/>
                        </a:rPr>
                        <a:t>Rules</a:t>
                      </a:r>
                      <a:endParaRPr lang="en-US" sz="24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400" u="none" strike="noStrike">
                          <a:effectLst/>
                        </a:rPr>
                        <a:t>$1 / month</a:t>
                      </a:r>
                      <a:endParaRPr lang="en-US" sz="2400" b="0" i="0" u="none" strike="noStrike">
                        <a:solidFill>
                          <a:srgbClr val="5F6368"/>
                        </a:solidFill>
                        <a:effectLst/>
                        <a:latin typeface="Arial" panose="020B0604020202020204" pitchFamily="34" charset="0"/>
                      </a:endParaRPr>
                    </a:p>
                  </a:txBody>
                  <a:tcPr marL="182880" marR="7620" marT="7620" marB="0"/>
                </a:tc>
                <a:tc>
                  <a:txBody>
                    <a:bodyPr/>
                    <a:lstStyle/>
                    <a:p>
                      <a:pPr algn="l" fontAlgn="t"/>
                      <a:r>
                        <a:rPr lang="en-US" sz="2400" u="none" strike="noStrike">
                          <a:effectLst/>
                        </a:rPr>
                        <a:t>Included in subscription</a:t>
                      </a:r>
                      <a:endParaRPr lang="en-US" sz="24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3520170339"/>
                  </a:ext>
                </a:extLst>
              </a:tr>
              <a:tr h="425302">
                <a:tc>
                  <a:txBody>
                    <a:bodyPr/>
                    <a:lstStyle/>
                    <a:p>
                      <a:pPr algn="l" fontAlgn="t"/>
                      <a:r>
                        <a:rPr lang="en-US" sz="2400" u="none" strike="noStrike">
                          <a:effectLst/>
                        </a:rPr>
                        <a:t>Policy</a:t>
                      </a:r>
                      <a:endParaRPr lang="en-US" sz="24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400" u="none" strike="noStrike">
                          <a:effectLst/>
                        </a:rPr>
                        <a:t>$5 / month</a:t>
                      </a:r>
                      <a:endParaRPr lang="en-US" sz="2400" b="0" i="0" u="none" strike="noStrike">
                        <a:solidFill>
                          <a:srgbClr val="5F6368"/>
                        </a:solidFill>
                        <a:effectLst/>
                        <a:latin typeface="Arial" panose="020B0604020202020204" pitchFamily="34" charset="0"/>
                      </a:endParaRPr>
                    </a:p>
                  </a:txBody>
                  <a:tcPr marL="182880" marR="7620" marT="7620" marB="0"/>
                </a:tc>
                <a:tc>
                  <a:txBody>
                    <a:bodyPr/>
                    <a:lstStyle/>
                    <a:p>
                      <a:pPr algn="l" fontAlgn="t"/>
                      <a:r>
                        <a:rPr lang="en-US" sz="2400" u="none" strike="noStrike">
                          <a:effectLst/>
                        </a:rPr>
                        <a:t>Included in subscription</a:t>
                      </a:r>
                      <a:endParaRPr lang="en-US" sz="24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238476071"/>
                  </a:ext>
                </a:extLst>
              </a:tr>
              <a:tr h="765544">
                <a:tc>
                  <a:txBody>
                    <a:bodyPr/>
                    <a:lstStyle/>
                    <a:p>
                      <a:pPr algn="l" fontAlgn="t"/>
                      <a:r>
                        <a:rPr lang="en-US" sz="2400" u="none" strike="noStrike">
                          <a:effectLst/>
                        </a:rPr>
                        <a:t>Requests</a:t>
                      </a:r>
                      <a:endParaRPr lang="en-US" sz="24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400" u="none" strike="noStrike">
                          <a:effectLst/>
                        </a:rPr>
                        <a:t>$0.75 / million queries</a:t>
                      </a:r>
                      <a:endParaRPr lang="en-US" sz="2400" b="0" i="0" u="none" strike="noStrike">
                        <a:solidFill>
                          <a:srgbClr val="5F6368"/>
                        </a:solidFill>
                        <a:effectLst/>
                        <a:latin typeface="Arial" panose="020B0604020202020204" pitchFamily="34" charset="0"/>
                      </a:endParaRPr>
                    </a:p>
                  </a:txBody>
                  <a:tcPr marL="182880" marR="7620" marT="7620" marB="0"/>
                </a:tc>
                <a:tc>
                  <a:txBody>
                    <a:bodyPr/>
                    <a:lstStyle/>
                    <a:p>
                      <a:pPr algn="l" fontAlgn="t"/>
                      <a:r>
                        <a:rPr lang="en-US" sz="2400" u="none" strike="noStrike">
                          <a:effectLst/>
                        </a:rPr>
                        <a:t>Included in subscription</a:t>
                      </a:r>
                      <a:endParaRPr lang="en-US" sz="2400" b="0" i="0" u="none" strike="noStrike">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3749695598"/>
                  </a:ext>
                </a:extLst>
              </a:tr>
              <a:tr h="1139810">
                <a:tc>
                  <a:txBody>
                    <a:bodyPr/>
                    <a:lstStyle/>
                    <a:p>
                      <a:pPr algn="l" fontAlgn="t"/>
                      <a:r>
                        <a:rPr lang="en-US" sz="2400" u="none" strike="noStrike">
                          <a:effectLst/>
                        </a:rPr>
                        <a:t>Data processing fee</a:t>
                      </a:r>
                      <a:endParaRPr lang="en-US" sz="24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400" u="none" strike="noStrike">
                          <a:effectLst/>
                        </a:rPr>
                        <a:t>None</a:t>
                      </a:r>
                      <a:endParaRPr lang="en-US" sz="2400" b="0" i="0" u="none" strike="noStrike">
                        <a:solidFill>
                          <a:srgbClr val="5F6368"/>
                        </a:solidFill>
                        <a:effectLst/>
                        <a:latin typeface="Arial" panose="020B0604020202020204" pitchFamily="34" charset="0"/>
                      </a:endParaRPr>
                    </a:p>
                  </a:txBody>
                  <a:tcPr marL="182880" marR="7620" marT="7620" marB="0"/>
                </a:tc>
                <a:tc>
                  <a:txBody>
                    <a:bodyPr/>
                    <a:lstStyle/>
                    <a:p>
                      <a:pPr algn="l" fontAlgn="t"/>
                      <a:r>
                        <a:rPr lang="en-US" sz="2400" u="sng" strike="noStrike">
                          <a:effectLst/>
                          <a:hlinkClick r:id="rId2"/>
                        </a:rPr>
                        <a:t>Additional (details)</a:t>
                      </a:r>
                      <a:endParaRPr lang="en-US" sz="2400" b="0" i="0" u="sng" strike="noStrike">
                        <a:solidFill>
                          <a:srgbClr val="0563C1"/>
                        </a:solidFill>
                        <a:effectLst/>
                        <a:latin typeface="Calibri" panose="020F0502020204030204" pitchFamily="34" charset="0"/>
                      </a:endParaRPr>
                    </a:p>
                  </a:txBody>
                  <a:tcPr marL="182880" marR="7620" marT="7620" marB="0"/>
                </a:tc>
                <a:extLst>
                  <a:ext uri="{0D108BD9-81ED-4DB2-BD59-A6C34878D82A}">
                    <a16:rowId xmlns:a16="http://schemas.microsoft.com/office/drawing/2014/main" val="3243041423"/>
                  </a:ext>
                </a:extLst>
              </a:tr>
              <a:tr h="408290">
                <a:tc>
                  <a:txBody>
                    <a:bodyPr/>
                    <a:lstStyle/>
                    <a:p>
                      <a:pPr algn="l" fontAlgn="t"/>
                      <a:r>
                        <a:rPr lang="en-US" sz="2400" u="none" strike="noStrike">
                          <a:effectLst/>
                        </a:rPr>
                        <a:t>Term</a:t>
                      </a:r>
                      <a:endParaRPr lang="en-US" sz="2400" b="0" i="0" u="none" strike="noStrike">
                        <a:solidFill>
                          <a:srgbClr val="5F6368"/>
                        </a:solidFill>
                        <a:effectLst/>
                        <a:latin typeface="Arial" panose="020B0604020202020204" pitchFamily="34" charset="0"/>
                      </a:endParaRPr>
                    </a:p>
                  </a:txBody>
                  <a:tcPr marL="7620" marR="7620" marT="7620" marB="0"/>
                </a:tc>
                <a:tc>
                  <a:txBody>
                    <a:bodyPr/>
                    <a:lstStyle/>
                    <a:p>
                      <a:pPr algn="l" fontAlgn="t"/>
                      <a:r>
                        <a:rPr lang="en-US" sz="2400" u="none" strike="noStrike">
                          <a:effectLst/>
                        </a:rPr>
                        <a:t>None</a:t>
                      </a:r>
                      <a:endParaRPr lang="en-US" sz="2400" b="0" i="0" u="none" strike="noStrike">
                        <a:solidFill>
                          <a:srgbClr val="5F6368"/>
                        </a:solidFill>
                        <a:effectLst/>
                        <a:latin typeface="Arial" panose="020B0604020202020204" pitchFamily="34" charset="0"/>
                      </a:endParaRPr>
                    </a:p>
                  </a:txBody>
                  <a:tcPr marL="182880" marR="7620" marT="7620" marB="0"/>
                </a:tc>
                <a:tc>
                  <a:txBody>
                    <a:bodyPr/>
                    <a:lstStyle/>
                    <a:p>
                      <a:pPr algn="l" fontAlgn="t"/>
                      <a:r>
                        <a:rPr lang="en-US" sz="2400" u="none" strike="noStrike" dirty="0">
                          <a:effectLst/>
                        </a:rPr>
                        <a:t>1 year</a:t>
                      </a:r>
                      <a:endParaRPr lang="en-US" sz="2400" b="0" i="0" u="none" strike="noStrike" dirty="0">
                        <a:solidFill>
                          <a:srgbClr val="5F6368"/>
                        </a:solidFill>
                        <a:effectLst/>
                        <a:latin typeface="Arial" panose="020B0604020202020204" pitchFamily="34" charset="0"/>
                      </a:endParaRPr>
                    </a:p>
                  </a:txBody>
                  <a:tcPr marL="182880" marR="7620" marT="7620" marB="0"/>
                </a:tc>
                <a:extLst>
                  <a:ext uri="{0D108BD9-81ED-4DB2-BD59-A6C34878D82A}">
                    <a16:rowId xmlns:a16="http://schemas.microsoft.com/office/drawing/2014/main" val="165993613"/>
                  </a:ext>
                </a:extLst>
              </a:tr>
            </a:tbl>
          </a:graphicData>
        </a:graphic>
      </p:graphicFrame>
    </p:spTree>
    <p:extLst>
      <p:ext uri="{BB962C8B-B14F-4D97-AF65-F5344CB8AC3E}">
        <p14:creationId xmlns:p14="http://schemas.microsoft.com/office/powerpoint/2010/main" val="33377194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49086"/>
          </a:xfrm>
        </p:spPr>
        <p:txBody>
          <a:bodyPr/>
          <a:lstStyle/>
          <a:p>
            <a:pPr fontAlgn="ctr"/>
            <a:r>
              <a:rPr lang="en-US" dirty="0"/>
              <a:t>Cloud CDN</a:t>
            </a:r>
          </a:p>
        </p:txBody>
      </p:sp>
      <p:sp>
        <p:nvSpPr>
          <p:cNvPr id="3" name="Content Placeholder 2"/>
          <p:cNvSpPr>
            <a:spLocks noGrp="1"/>
          </p:cNvSpPr>
          <p:nvPr>
            <p:ph idx="1"/>
          </p:nvPr>
        </p:nvSpPr>
        <p:spPr>
          <a:xfrm>
            <a:off x="0" y="1306286"/>
            <a:ext cx="9144000" cy="3886200"/>
          </a:xfrm>
        </p:spPr>
        <p:txBody>
          <a:bodyPr/>
          <a:lstStyle/>
          <a:p>
            <a:r>
              <a:rPr lang="en-US" sz="2400" dirty="0"/>
              <a:t>Fast, reliable web and video content delivery with global scale and reach.</a:t>
            </a:r>
          </a:p>
          <a:p>
            <a:r>
              <a:rPr lang="en-US" sz="2400" dirty="0"/>
              <a:t>Provides privacy and data security</a:t>
            </a:r>
          </a:p>
          <a:p>
            <a:r>
              <a:rPr lang="en-US" sz="2400" dirty="0"/>
              <a:t>Origin and backend support. Pull content from any HTTP-capable origin, including Compute Engine, Cloud Storage and Google Kubernetes Engine </a:t>
            </a:r>
            <a:r>
              <a:rPr lang="en-US" sz="2400" dirty="0" err="1"/>
              <a:t>backends</a:t>
            </a:r>
            <a:r>
              <a:rPr lang="en-US" sz="2400" dirty="0"/>
              <a:t> and origins outside of Google Cloud, such as storage buckets in other clouds.</a:t>
            </a:r>
          </a:p>
          <a:p>
            <a:r>
              <a:rPr lang="en-US" sz="2400" dirty="0"/>
              <a:t>Caching. Configure caching behavior by origin that allows you to have fine-grained control over cache keys, TTLs, and other caching features based on the content type being served.</a:t>
            </a:r>
          </a:p>
          <a:p>
            <a:r>
              <a:rPr lang="en-US" sz="2400" dirty="0"/>
              <a:t>Route matching and origin selection. Cloud CDN uses Cloud Load Balancing to provide comprehensive routing and configuration capabilities at each edge location.</a:t>
            </a:r>
          </a:p>
        </p:txBody>
      </p:sp>
    </p:spTree>
    <p:extLst>
      <p:ext uri="{BB962C8B-B14F-4D97-AF65-F5344CB8AC3E}">
        <p14:creationId xmlns:p14="http://schemas.microsoft.com/office/powerpoint/2010/main" val="11690392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657" y="178525"/>
            <a:ext cx="8229600" cy="1371600"/>
          </a:xfrm>
        </p:spPr>
        <p:txBody>
          <a:bodyPr/>
          <a:lstStyle/>
          <a:p>
            <a:r>
              <a:rPr lang="en-US" sz="3600" dirty="0"/>
              <a:t>Using Cloud CDN with HTTP(S) load balancing</a:t>
            </a:r>
          </a:p>
        </p:txBody>
      </p:sp>
      <p:pic>
        <p:nvPicPr>
          <p:cNvPr id="9220" name="Picture 4" descr="From right to left, 2 stacked rectangles labeled Cloud Region and bearing VM Instance each flow into box labeled HTTP(S) Load Balancer. Two arrows point left to Cloud CDN box. 3 arrows flow left from Cloud CDN to 3 boxes, each labeled “End use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718" y="1452329"/>
            <a:ext cx="8553477" cy="393263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892627" y="5287166"/>
            <a:ext cx="7458891" cy="1477328"/>
          </a:xfrm>
          <a:prstGeom prst="rect">
            <a:avLst/>
          </a:prstGeom>
        </p:spPr>
        <p:txBody>
          <a:bodyPr wrap="square">
            <a:spAutoFit/>
          </a:bodyPr>
          <a:lstStyle/>
          <a:p>
            <a:r>
              <a:rPr lang="en-US" dirty="0"/>
              <a:t>When Cloud CDN serves your content, you’re charged for bandwidth and HTTP/HTTPS requests. On cache hits, you pay for cache egress bandwidth. On cache misses, you additionally pay for cache fill bandwidth.</a:t>
            </a:r>
          </a:p>
          <a:p>
            <a:endParaRPr lang="en-US" dirty="0"/>
          </a:p>
        </p:txBody>
      </p:sp>
    </p:spTree>
    <p:extLst>
      <p:ext uri="{BB962C8B-B14F-4D97-AF65-F5344CB8AC3E}">
        <p14:creationId xmlns:p14="http://schemas.microsoft.com/office/powerpoint/2010/main" val="18078388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1669"/>
          </a:xfrm>
        </p:spPr>
        <p:txBody>
          <a:bodyPr/>
          <a:lstStyle/>
          <a:p>
            <a:r>
              <a:rPr lang="en-US" dirty="0"/>
              <a:t>DNS Services</a:t>
            </a:r>
          </a:p>
        </p:txBody>
      </p:sp>
      <p:sp>
        <p:nvSpPr>
          <p:cNvPr id="3" name="Content Placeholder 2"/>
          <p:cNvSpPr>
            <a:spLocks noGrp="1"/>
          </p:cNvSpPr>
          <p:nvPr>
            <p:ph idx="1"/>
          </p:nvPr>
        </p:nvSpPr>
        <p:spPr>
          <a:xfrm>
            <a:off x="0" y="1288869"/>
            <a:ext cx="9004663" cy="3886200"/>
          </a:xfrm>
        </p:spPr>
        <p:txBody>
          <a:bodyPr/>
          <a:lstStyle/>
          <a:p>
            <a:r>
              <a:rPr lang="en-US" sz="2400" b="1" dirty="0"/>
              <a:t>Cloud Domains. </a:t>
            </a:r>
            <a:r>
              <a:rPr lang="en-US" sz="2400" dirty="0"/>
              <a:t>Register new domains, transfer existing domains, and manage domains within Google Cloud. Cloud Domains offers easy domain renewal through Cloud Billing, bulk management through the API, and permission management through IAM. Cloud Domains supports more than 300 domain endings with free privacy protection, automatic domain verification, and one-click DNSSEC enablement.</a:t>
            </a:r>
          </a:p>
          <a:p>
            <a:r>
              <a:rPr lang="en-US" sz="2400" b="1" dirty="0"/>
              <a:t>Cloud DNS.</a:t>
            </a:r>
            <a:r>
              <a:rPr lang="en-US" sz="2400" dirty="0"/>
              <a:t> Reliable, resilient, low-latency DNS serving from Google's worldwide network with everything you need to register, manage, and serve your domains. Easily publish and manage millions of DNS zones and records using our simple user interface</a:t>
            </a:r>
          </a:p>
        </p:txBody>
      </p:sp>
    </p:spTree>
    <p:extLst>
      <p:ext uri="{BB962C8B-B14F-4D97-AF65-F5344CB8AC3E}">
        <p14:creationId xmlns:p14="http://schemas.microsoft.com/office/powerpoint/2010/main" val="17675789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448491"/>
          </a:xfrm>
        </p:spPr>
        <p:txBody>
          <a:bodyPr/>
          <a:lstStyle/>
          <a:p>
            <a:r>
              <a:rPr lang="en-US" dirty="0"/>
              <a:t>Cloud IDS</a:t>
            </a:r>
          </a:p>
        </p:txBody>
      </p:sp>
      <p:sp>
        <p:nvSpPr>
          <p:cNvPr id="3" name="Content Placeholder 2"/>
          <p:cNvSpPr>
            <a:spLocks noGrp="1"/>
          </p:cNvSpPr>
          <p:nvPr>
            <p:ph idx="1"/>
          </p:nvPr>
        </p:nvSpPr>
        <p:spPr>
          <a:xfrm>
            <a:off x="0" y="905691"/>
            <a:ext cx="8978537" cy="3886200"/>
          </a:xfrm>
        </p:spPr>
        <p:txBody>
          <a:bodyPr/>
          <a:lstStyle/>
          <a:p>
            <a:r>
              <a:rPr lang="en-US" sz="2400" dirty="0"/>
              <a:t>Cloud IDS (Cloud Intrusion Detection System) provides cloud-native network threat detection with industry-leading security.</a:t>
            </a:r>
          </a:p>
          <a:p>
            <a:r>
              <a:rPr lang="en-US" sz="2400" dirty="0"/>
              <a:t>Detect network-based threats such as malware, spyware, command-and-control attacks</a:t>
            </a:r>
          </a:p>
          <a:p>
            <a:r>
              <a:rPr lang="en-US" sz="2400" dirty="0"/>
              <a:t>Get east-west and north-south traffic visibility to monitor intra- and inter-VPC communication</a:t>
            </a:r>
          </a:p>
          <a:p>
            <a:r>
              <a:rPr lang="en-US" sz="2400" dirty="0"/>
              <a:t>Benefit from a cloud-native, managed experience with high performance and simple deployment</a:t>
            </a:r>
          </a:p>
          <a:p>
            <a:r>
              <a:rPr lang="en-US" sz="2400" dirty="0"/>
              <a:t>Generate high-quality network-based threat data for threat investigation and correlation.</a:t>
            </a:r>
          </a:p>
          <a:p>
            <a:r>
              <a:rPr lang="en-US" sz="2400" dirty="0"/>
              <a:t>Cloud IDS is built with Palo Alto Networks’ industry-leading threat detection capabilities</a:t>
            </a:r>
          </a:p>
          <a:p>
            <a:r>
              <a:rPr lang="en-US" sz="2400" dirty="0"/>
              <a:t>Cloud IDS billing is based on two metrics:</a:t>
            </a:r>
          </a:p>
          <a:p>
            <a:pPr lvl="1"/>
            <a:r>
              <a:rPr lang="en-US" sz="2000" dirty="0"/>
              <a:t>(1) A per-hour charge for each Cloud IDS endpoint created and running</a:t>
            </a:r>
          </a:p>
          <a:p>
            <a:pPr lvl="1"/>
            <a:r>
              <a:rPr lang="en-US" sz="2000" dirty="0"/>
              <a:t>(2) A per-GB charge based on the total amount of traffic inspected</a:t>
            </a:r>
          </a:p>
        </p:txBody>
      </p:sp>
    </p:spTree>
    <p:extLst>
      <p:ext uri="{BB962C8B-B14F-4D97-AF65-F5344CB8AC3E}">
        <p14:creationId xmlns:p14="http://schemas.microsoft.com/office/powerpoint/2010/main" val="17549639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IDS example</a:t>
            </a:r>
          </a:p>
        </p:txBody>
      </p:sp>
      <p:pic>
        <p:nvPicPr>
          <p:cNvPr id="6" name="Content Placeholder 5"/>
          <p:cNvPicPr>
            <a:picLocks noGrp="1" noChangeAspect="1"/>
          </p:cNvPicPr>
          <p:nvPr>
            <p:ph idx="1"/>
          </p:nvPr>
        </p:nvPicPr>
        <p:blipFill>
          <a:blip r:embed="rId2"/>
          <a:stretch>
            <a:fillRect/>
          </a:stretch>
        </p:blipFill>
        <p:spPr>
          <a:xfrm>
            <a:off x="159741" y="2438400"/>
            <a:ext cx="8921493" cy="3004457"/>
          </a:xfrm>
          <a:prstGeom prst="rect">
            <a:avLst/>
          </a:prstGeom>
        </p:spPr>
      </p:pic>
    </p:spTree>
    <p:extLst>
      <p:ext uri="{BB962C8B-B14F-4D97-AF65-F5344CB8AC3E}">
        <p14:creationId xmlns:p14="http://schemas.microsoft.com/office/powerpoint/2010/main" val="22284869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1"/>
            <a:ext cx="8229600" cy="552994"/>
          </a:xfrm>
        </p:spPr>
        <p:txBody>
          <a:bodyPr/>
          <a:lstStyle/>
          <a:p>
            <a:r>
              <a:rPr lang="en-US" dirty="0"/>
              <a:t>Cloud Load Balancing</a:t>
            </a:r>
          </a:p>
        </p:txBody>
      </p:sp>
      <p:sp>
        <p:nvSpPr>
          <p:cNvPr id="3" name="Content Placeholder 2"/>
          <p:cNvSpPr>
            <a:spLocks noGrp="1"/>
          </p:cNvSpPr>
          <p:nvPr>
            <p:ph idx="1"/>
          </p:nvPr>
        </p:nvSpPr>
        <p:spPr>
          <a:xfrm>
            <a:off x="134983" y="1010195"/>
            <a:ext cx="8874033" cy="3886200"/>
          </a:xfrm>
        </p:spPr>
        <p:txBody>
          <a:bodyPr/>
          <a:lstStyle/>
          <a:p>
            <a:r>
              <a:rPr lang="en-US" sz="2400" dirty="0"/>
              <a:t>High performance, scalable load balancing on GCP</a:t>
            </a:r>
          </a:p>
          <a:p>
            <a:r>
              <a:rPr lang="en-US" sz="2400" dirty="0"/>
              <a:t>Cloud Load Balancing can put your resources behind a single </a:t>
            </a:r>
            <a:r>
              <a:rPr lang="en-US" sz="2400" dirty="0" err="1"/>
              <a:t>anycast</a:t>
            </a:r>
            <a:r>
              <a:rPr lang="en-US" sz="2400" dirty="0"/>
              <a:t> IP and scale your resources up or down with intelligent </a:t>
            </a:r>
            <a:r>
              <a:rPr lang="en-US" sz="2400" dirty="0" err="1"/>
              <a:t>autoscaling</a:t>
            </a:r>
            <a:r>
              <a:rPr lang="en-US" sz="2400" dirty="0"/>
              <a:t>. Cloud Load Balancing comes in a variety of flavors and is integrated with Cloud CDN for optimal application and content delivery.</a:t>
            </a:r>
          </a:p>
          <a:p>
            <a:r>
              <a:rPr lang="en-US" sz="2400" dirty="0"/>
              <a:t>Global load balancing with single </a:t>
            </a:r>
            <a:r>
              <a:rPr lang="en-US" sz="2400" dirty="0" err="1"/>
              <a:t>anycast</a:t>
            </a:r>
            <a:r>
              <a:rPr lang="en-US" sz="2400" dirty="0"/>
              <a:t> IP</a:t>
            </a:r>
          </a:p>
          <a:p>
            <a:r>
              <a:rPr lang="en-US" sz="2400" dirty="0"/>
              <a:t>Supports 1 million+ queries per second with consistent high performance and low latency. </a:t>
            </a:r>
          </a:p>
          <a:p>
            <a:r>
              <a:rPr lang="en-US" sz="2400" dirty="0"/>
              <a:t>Cloud Load Balancing can scale as your users and traffic grow, including easily handling huge, unexpected, and instantaneous spikes by diverting traffic to other regions in the world that can take traffic. </a:t>
            </a:r>
            <a:r>
              <a:rPr lang="en-US" sz="2400" dirty="0" err="1"/>
              <a:t>Autoscaling</a:t>
            </a:r>
            <a:r>
              <a:rPr lang="en-US" sz="2400" dirty="0"/>
              <a:t> does not require pre-warming: you can scale from zero to full throttle in a matter of seconds.</a:t>
            </a:r>
          </a:p>
        </p:txBody>
      </p:sp>
    </p:spTree>
    <p:extLst>
      <p:ext uri="{BB962C8B-B14F-4D97-AF65-F5344CB8AC3E}">
        <p14:creationId xmlns:p14="http://schemas.microsoft.com/office/powerpoint/2010/main" val="11046454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439783"/>
          </a:xfrm>
        </p:spPr>
        <p:txBody>
          <a:bodyPr/>
          <a:lstStyle/>
          <a:p>
            <a:r>
              <a:rPr lang="en-US" dirty="0"/>
              <a:t>Connection options</a:t>
            </a:r>
          </a:p>
        </p:txBody>
      </p:sp>
      <p:sp>
        <p:nvSpPr>
          <p:cNvPr id="3" name="Content Placeholder 2"/>
          <p:cNvSpPr>
            <a:spLocks noGrp="1"/>
          </p:cNvSpPr>
          <p:nvPr>
            <p:ph idx="1"/>
          </p:nvPr>
        </p:nvSpPr>
        <p:spPr>
          <a:xfrm>
            <a:off x="0" y="979714"/>
            <a:ext cx="9048206" cy="3886200"/>
          </a:xfrm>
        </p:spPr>
        <p:txBody>
          <a:bodyPr/>
          <a:lstStyle/>
          <a:p>
            <a:r>
              <a:rPr lang="en-US" sz="2200" dirty="0"/>
              <a:t>Dedicated Interconnect - Connect up to 2x 100G transport circuits for private cloud traffic to Google Cloud at any of our POPs. </a:t>
            </a:r>
          </a:p>
          <a:p>
            <a:r>
              <a:rPr lang="en-US" sz="2200" dirty="0"/>
              <a:t>Partner Interconnect can also deliver something else: direct access to Google services—including Cloud Storage and </a:t>
            </a:r>
            <a:r>
              <a:rPr lang="en-US" sz="2200" dirty="0" err="1"/>
              <a:t>BigQuery</a:t>
            </a:r>
            <a:r>
              <a:rPr lang="en-US" sz="2200" dirty="0"/>
              <a:t>—through Private Google Access for on-premises.</a:t>
            </a:r>
          </a:p>
          <a:p>
            <a:r>
              <a:rPr lang="en-US" sz="2200" dirty="0"/>
              <a:t>For low-volume data connections, Cloud VPN offers a lower cost option that delivers 1.5–3.0 </a:t>
            </a:r>
            <a:r>
              <a:rPr lang="en-US" sz="2200" dirty="0" err="1"/>
              <a:t>Gbps</a:t>
            </a:r>
            <a:r>
              <a:rPr lang="en-US" sz="2200" dirty="0"/>
              <a:t> over an encrypted public internet connection. Cloud VPN's flexible routing options allow you to use static or dynamic routing to connect to different VPN gateways. </a:t>
            </a:r>
          </a:p>
          <a:p>
            <a:r>
              <a:rPr lang="en-US" sz="2200" dirty="0"/>
              <a:t>Direct and carrier peering - provides a direct path from your on-premises network to Google services, including Google Cloud products that can be exposed through one or more public IP addresses. Carrier Peering enables you to access Google applications, such as Google Workspace, by using a </a:t>
            </a:r>
            <a:r>
              <a:rPr lang="en-US" sz="2200" dirty="0">
                <a:hlinkClick r:id="rId2"/>
              </a:rPr>
              <a:t>service provider</a:t>
            </a:r>
            <a:r>
              <a:rPr lang="en-US" sz="2200" dirty="0"/>
              <a:t> to obtain enterprise-grade network services that connect your infrastructure to Google.</a:t>
            </a:r>
          </a:p>
        </p:txBody>
      </p:sp>
    </p:spTree>
    <p:extLst>
      <p:ext uri="{BB962C8B-B14F-4D97-AF65-F5344CB8AC3E}">
        <p14:creationId xmlns:p14="http://schemas.microsoft.com/office/powerpoint/2010/main" val="636220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7131"/>
          </a:xfrm>
        </p:spPr>
        <p:txBody>
          <a:bodyPr/>
          <a:lstStyle/>
          <a:p>
            <a:pPr fontAlgn="ctr"/>
            <a:r>
              <a:rPr lang="en-US" dirty="0"/>
              <a:t>Network Connectivity Center</a:t>
            </a:r>
          </a:p>
        </p:txBody>
      </p:sp>
      <p:sp>
        <p:nvSpPr>
          <p:cNvPr id="3" name="Content Placeholder 2"/>
          <p:cNvSpPr>
            <a:spLocks noGrp="1"/>
          </p:cNvSpPr>
          <p:nvPr>
            <p:ph idx="1"/>
          </p:nvPr>
        </p:nvSpPr>
        <p:spPr>
          <a:xfrm>
            <a:off x="148045" y="1354182"/>
            <a:ext cx="8821783" cy="5386251"/>
          </a:xfrm>
        </p:spPr>
        <p:txBody>
          <a:bodyPr/>
          <a:lstStyle/>
          <a:p>
            <a:r>
              <a:rPr lang="en-US" sz="2400" dirty="0"/>
              <a:t>Network Connectivity Center offers the unique ability to easily connect your on-premises, Google Cloud, and other cloud enterprise networks and manage them as spokes through a single, centralized logical hub on Google Cloud.</a:t>
            </a:r>
          </a:p>
          <a:p>
            <a:endParaRPr lang="en-US" sz="2400" dirty="0"/>
          </a:p>
        </p:txBody>
      </p:sp>
      <p:pic>
        <p:nvPicPr>
          <p:cNvPr id="5" name="Picture 4"/>
          <p:cNvPicPr>
            <a:picLocks noChangeAspect="1"/>
          </p:cNvPicPr>
          <p:nvPr/>
        </p:nvPicPr>
        <p:blipFill>
          <a:blip r:embed="rId2"/>
          <a:stretch>
            <a:fillRect/>
          </a:stretch>
        </p:blipFill>
        <p:spPr>
          <a:xfrm>
            <a:off x="2090057" y="2854924"/>
            <a:ext cx="6596743" cy="3885509"/>
          </a:xfrm>
          <a:prstGeom prst="rect">
            <a:avLst/>
          </a:prstGeom>
        </p:spPr>
      </p:pic>
    </p:spTree>
    <p:extLst>
      <p:ext uri="{BB962C8B-B14F-4D97-AF65-F5344CB8AC3E}">
        <p14:creationId xmlns:p14="http://schemas.microsoft.com/office/powerpoint/2010/main" val="10723955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ctr"/>
            <a:r>
              <a:rPr lang="en-US" dirty="0"/>
              <a:t>Private Service Connect</a:t>
            </a:r>
          </a:p>
        </p:txBody>
      </p:sp>
      <p:sp>
        <p:nvSpPr>
          <p:cNvPr id="3" name="Content Placeholder 2"/>
          <p:cNvSpPr>
            <a:spLocks noGrp="1"/>
          </p:cNvSpPr>
          <p:nvPr>
            <p:ph idx="1"/>
          </p:nvPr>
        </p:nvSpPr>
        <p:spPr/>
        <p:txBody>
          <a:bodyPr/>
          <a:lstStyle/>
          <a:p>
            <a:r>
              <a:rPr lang="en-US" dirty="0"/>
              <a:t>Creates a private and secure connection from your VPCs to Google, third parties, or your own services.</a:t>
            </a:r>
          </a:p>
          <a:p>
            <a:r>
              <a:rPr lang="en-US" dirty="0"/>
              <a:t>Keep traffic between your VPC and services within the Google network</a:t>
            </a:r>
          </a:p>
          <a:p>
            <a:r>
              <a:rPr lang="en-US" dirty="0"/>
              <a:t>Line rate performance and scales to enterprise-size networks</a:t>
            </a:r>
          </a:p>
          <a:p>
            <a:r>
              <a:rPr lang="en-US" dirty="0"/>
              <a:t>Use in conjunction with Service Directory for service-centric networking</a:t>
            </a:r>
          </a:p>
        </p:txBody>
      </p:sp>
    </p:spTree>
    <p:extLst>
      <p:ext uri="{BB962C8B-B14F-4D97-AF65-F5344CB8AC3E}">
        <p14:creationId xmlns:p14="http://schemas.microsoft.com/office/powerpoint/2010/main" val="2270002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26869"/>
          </a:xfrm>
        </p:spPr>
        <p:txBody>
          <a:bodyPr/>
          <a:lstStyle/>
          <a:p>
            <a:r>
              <a:rPr lang="en-US" dirty="0"/>
              <a:t>Features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64657134"/>
              </p:ext>
            </p:extLst>
          </p:nvPr>
        </p:nvGraphicFramePr>
        <p:xfrm>
          <a:off x="95793" y="1047875"/>
          <a:ext cx="9048207" cy="5610828"/>
        </p:xfrm>
        <a:graphic>
          <a:graphicData uri="http://schemas.openxmlformats.org/drawingml/2006/table">
            <a:tbl>
              <a:tblPr/>
              <a:tblGrid>
                <a:gridCol w="2037807">
                  <a:extLst>
                    <a:ext uri="{9D8B030D-6E8A-4147-A177-3AD203B41FA5}">
                      <a16:colId xmlns:a16="http://schemas.microsoft.com/office/drawing/2014/main" val="1701679979"/>
                    </a:ext>
                  </a:extLst>
                </a:gridCol>
                <a:gridCol w="7010400">
                  <a:extLst>
                    <a:ext uri="{9D8B030D-6E8A-4147-A177-3AD203B41FA5}">
                      <a16:colId xmlns:a16="http://schemas.microsoft.com/office/drawing/2014/main" val="750338840"/>
                    </a:ext>
                  </a:extLst>
                </a:gridCol>
              </a:tblGrid>
              <a:tr h="544869">
                <a:tc>
                  <a:txBody>
                    <a:bodyPr/>
                    <a:lstStyle/>
                    <a:p>
                      <a:pPr algn="l" fontAlgn="t"/>
                      <a:r>
                        <a:rPr lang="en-US" sz="1800" b="0">
                          <a:solidFill>
                            <a:srgbClr val="202124"/>
                          </a:solidFill>
                          <a:effectLst/>
                          <a:latin typeface="Google Sans"/>
                        </a:rPr>
                        <a:t>Access Google APIs and services</a:t>
                      </a:r>
                      <a:endParaRPr lang="en-US" sz="1800">
                        <a:solidFill>
                          <a:srgbClr val="5F6368"/>
                        </a:solidFill>
                        <a:effectLst/>
                      </a:endParaRPr>
                    </a:p>
                  </a:txBody>
                  <a:tcPr marL="24038" marR="24038" marT="56089" marB="56089">
                    <a:lnL>
                      <a:noFill/>
                    </a:lnL>
                    <a:lnR>
                      <a:noFill/>
                    </a:lnR>
                    <a:lnT>
                      <a:noFill/>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dirty="0">
                          <a:solidFill>
                            <a:srgbClr val="5F6368"/>
                          </a:solidFill>
                          <a:effectLst/>
                          <a:latin typeface="Roboto"/>
                        </a:rPr>
                        <a:t>Connect to Google Cloud services like Cloud Storage and Cloud </a:t>
                      </a:r>
                      <a:r>
                        <a:rPr lang="en-US" sz="1800" b="0" dirty="0" err="1">
                          <a:solidFill>
                            <a:srgbClr val="5F6368"/>
                          </a:solidFill>
                          <a:effectLst/>
                          <a:latin typeface="Roboto"/>
                        </a:rPr>
                        <a:t>Bigtable</a:t>
                      </a:r>
                      <a:r>
                        <a:rPr lang="en-US" sz="1800" b="0" dirty="0">
                          <a:solidFill>
                            <a:srgbClr val="5F6368"/>
                          </a:solidFill>
                          <a:effectLst/>
                          <a:latin typeface="Roboto"/>
                        </a:rPr>
                        <a:t> using Private Service Connect endpoints with internal IP addresses in your VPC networks.</a:t>
                      </a:r>
                      <a:endParaRPr lang="en-US" sz="1800" dirty="0">
                        <a:solidFill>
                          <a:srgbClr val="5F6368"/>
                        </a:solidFill>
                        <a:effectLst/>
                      </a:endParaRPr>
                    </a:p>
                  </a:txBody>
                  <a:tcPr marL="48077" marR="24038" marT="56089" marB="56089">
                    <a:lnL>
                      <a:noFill/>
                    </a:lnL>
                    <a:lnR>
                      <a:noFill/>
                    </a:lnR>
                    <a:lnT>
                      <a:noFill/>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3985358325"/>
                  </a:ext>
                </a:extLst>
              </a:tr>
              <a:tr h="472754">
                <a:tc>
                  <a:txBody>
                    <a:bodyPr/>
                    <a:lstStyle/>
                    <a:p>
                      <a:pPr algn="l" fontAlgn="t"/>
                      <a:r>
                        <a:rPr lang="en-US" sz="1800" b="0">
                          <a:solidFill>
                            <a:srgbClr val="202124"/>
                          </a:solidFill>
                          <a:effectLst/>
                          <a:latin typeface="Google Sans"/>
                        </a:rPr>
                        <a:t>Connect to a service in another VPC network</a:t>
                      </a:r>
                      <a:endParaRPr lang="en-US" sz="1800">
                        <a:solidFill>
                          <a:srgbClr val="5F6368"/>
                        </a:solidFill>
                        <a:effectLst/>
                      </a:endParaRPr>
                    </a:p>
                  </a:txBody>
                  <a:tcPr marL="24038" marR="24038" marT="56089" marB="56089">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a:solidFill>
                            <a:srgbClr val="5F6368"/>
                          </a:solidFill>
                          <a:effectLst/>
                          <a:latin typeface="Roboto"/>
                        </a:rPr>
                        <a:t>Connect to your own services or those provided by other service producers (ex. MongoDB, Snowflake) using a Private Service Connect endpoint.</a:t>
                      </a:r>
                      <a:endParaRPr lang="en-US" sz="1800">
                        <a:solidFill>
                          <a:srgbClr val="5F6368"/>
                        </a:solidFill>
                        <a:effectLst/>
                      </a:endParaRPr>
                    </a:p>
                  </a:txBody>
                  <a:tcPr marL="48077" marR="24038" marT="56089" marB="56089">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2121509066"/>
                  </a:ext>
                </a:extLst>
              </a:tr>
              <a:tr h="544869">
                <a:tc>
                  <a:txBody>
                    <a:bodyPr/>
                    <a:lstStyle/>
                    <a:p>
                      <a:pPr algn="l" fontAlgn="t"/>
                      <a:r>
                        <a:rPr lang="en-US" sz="1800" b="0">
                          <a:solidFill>
                            <a:srgbClr val="202124"/>
                          </a:solidFill>
                          <a:effectLst/>
                          <a:latin typeface="Google Sans"/>
                        </a:rPr>
                        <a:t>Publish services as a service producer</a:t>
                      </a:r>
                      <a:endParaRPr lang="en-US" sz="1800">
                        <a:solidFill>
                          <a:srgbClr val="5F6368"/>
                        </a:solidFill>
                        <a:effectLst/>
                      </a:endParaRPr>
                    </a:p>
                  </a:txBody>
                  <a:tcPr marL="24038" marR="24038" marT="56089" marB="56089">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dirty="0">
                          <a:solidFill>
                            <a:srgbClr val="5F6368"/>
                          </a:solidFill>
                          <a:effectLst/>
                          <a:latin typeface="Roboto"/>
                        </a:rPr>
                        <a:t>You can publish a service (make a service available outside your VPC network) by using an internal TCP/UDP load balancer and create a service attachment in the same region.</a:t>
                      </a:r>
                      <a:endParaRPr lang="en-US" sz="1800" dirty="0">
                        <a:solidFill>
                          <a:srgbClr val="5F6368"/>
                        </a:solidFill>
                        <a:effectLst/>
                      </a:endParaRPr>
                    </a:p>
                  </a:txBody>
                  <a:tcPr marL="48077" marR="24038" marT="56089" marB="56089">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1078232002"/>
                  </a:ext>
                </a:extLst>
              </a:tr>
              <a:tr h="544869">
                <a:tc>
                  <a:txBody>
                    <a:bodyPr/>
                    <a:lstStyle/>
                    <a:p>
                      <a:pPr algn="l" fontAlgn="t"/>
                      <a:r>
                        <a:rPr lang="en-US" sz="1800" b="0">
                          <a:solidFill>
                            <a:srgbClr val="202124"/>
                          </a:solidFill>
                          <a:effectLst/>
                          <a:latin typeface="Google Sans"/>
                        </a:rPr>
                        <a:t>Service Directory</a:t>
                      </a:r>
                      <a:endParaRPr lang="en-US" sz="1800">
                        <a:solidFill>
                          <a:srgbClr val="5F6368"/>
                        </a:solidFill>
                        <a:effectLst/>
                      </a:endParaRPr>
                    </a:p>
                  </a:txBody>
                  <a:tcPr marL="24038" marR="24038" marT="56089" marB="56089">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a:solidFill>
                            <a:srgbClr val="5F6368"/>
                          </a:solidFill>
                          <a:effectLst/>
                          <a:latin typeface="Roboto"/>
                        </a:rPr>
                        <a:t>Private Service Connect endpoints are registered with </a:t>
                      </a:r>
                      <a:r>
                        <a:rPr lang="en-US" sz="1800" b="0" u="sng">
                          <a:solidFill>
                            <a:srgbClr val="1967D2"/>
                          </a:solidFill>
                          <a:effectLst/>
                          <a:latin typeface="Roboto"/>
                          <a:hlinkClick r:id="rId2"/>
                        </a:rPr>
                        <a:t>Service Directory</a:t>
                      </a:r>
                      <a:r>
                        <a:rPr lang="en-US" sz="1800" b="0">
                          <a:solidFill>
                            <a:srgbClr val="5F6368"/>
                          </a:solidFill>
                          <a:effectLst/>
                          <a:latin typeface="Roboto"/>
                        </a:rPr>
                        <a:t> for Google APIs where you can store, manage, and publish services.</a:t>
                      </a:r>
                      <a:endParaRPr lang="en-US" sz="1800">
                        <a:solidFill>
                          <a:srgbClr val="5F6368"/>
                        </a:solidFill>
                        <a:effectLst/>
                      </a:endParaRPr>
                    </a:p>
                  </a:txBody>
                  <a:tcPr marL="48077" marR="24038" marT="56089" marB="56089">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3563385250"/>
                  </a:ext>
                </a:extLst>
              </a:tr>
              <a:tr h="400639">
                <a:tc>
                  <a:txBody>
                    <a:bodyPr/>
                    <a:lstStyle/>
                    <a:p>
                      <a:pPr algn="l" fontAlgn="t"/>
                      <a:r>
                        <a:rPr lang="en-US" sz="1800" b="0">
                          <a:solidFill>
                            <a:srgbClr val="202124"/>
                          </a:solidFill>
                          <a:effectLst/>
                          <a:latin typeface="Google Sans"/>
                        </a:rPr>
                        <a:t>Proxy protocol</a:t>
                      </a:r>
                      <a:endParaRPr lang="en-US" sz="1800">
                        <a:solidFill>
                          <a:srgbClr val="5F6368"/>
                        </a:solidFill>
                        <a:effectLst/>
                      </a:endParaRPr>
                    </a:p>
                  </a:txBody>
                  <a:tcPr marL="24038" marR="24038" marT="56089" marB="56089">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a:solidFill>
                            <a:srgbClr val="5F6368"/>
                          </a:solidFill>
                          <a:effectLst/>
                          <a:latin typeface="Roboto"/>
                        </a:rPr>
                        <a:t>Find your consumers' source IP addresses and Private Service Connect ID from one central proxy protocol header.</a:t>
                      </a:r>
                      <a:endParaRPr lang="en-US" sz="1800">
                        <a:solidFill>
                          <a:srgbClr val="5F6368"/>
                        </a:solidFill>
                        <a:effectLst/>
                      </a:endParaRPr>
                    </a:p>
                  </a:txBody>
                  <a:tcPr marL="48077" marR="24038" marT="56089" marB="56089">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2986132843"/>
                  </a:ext>
                </a:extLst>
              </a:tr>
              <a:tr h="689099">
                <a:tc>
                  <a:txBody>
                    <a:bodyPr/>
                    <a:lstStyle/>
                    <a:p>
                      <a:pPr algn="l" fontAlgn="t"/>
                      <a:r>
                        <a:rPr lang="en-US" sz="1800" b="0">
                          <a:solidFill>
                            <a:srgbClr val="202124"/>
                          </a:solidFill>
                          <a:effectLst/>
                          <a:latin typeface="Google Sans"/>
                        </a:rPr>
                        <a:t>VPC Service Controls</a:t>
                      </a:r>
                      <a:endParaRPr lang="en-US" sz="1800">
                        <a:solidFill>
                          <a:srgbClr val="5F6368"/>
                        </a:solidFill>
                        <a:effectLst/>
                      </a:endParaRPr>
                    </a:p>
                  </a:txBody>
                  <a:tcPr marL="24038" marR="24038" marT="56089" marB="56089">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dirty="0">
                          <a:solidFill>
                            <a:srgbClr val="5F6368"/>
                          </a:solidFill>
                          <a:effectLst/>
                          <a:latin typeface="Roboto"/>
                        </a:rPr>
                        <a:t>Restrict Private Service Connect within a service perimeter and mitigate data exfiltration risks. </a:t>
                      </a:r>
                      <a:r>
                        <a:rPr lang="en-US" sz="1800" b="0" u="sng" dirty="0">
                          <a:solidFill>
                            <a:srgbClr val="1967D2"/>
                          </a:solidFill>
                          <a:effectLst/>
                          <a:latin typeface="Roboto"/>
                          <a:hlinkClick r:id="rId3"/>
                        </a:rPr>
                        <a:t>VPC Service Controls</a:t>
                      </a:r>
                      <a:r>
                        <a:rPr lang="en-US" sz="1800" b="0" dirty="0">
                          <a:solidFill>
                            <a:srgbClr val="5F6368"/>
                          </a:solidFill>
                          <a:effectLst/>
                          <a:latin typeface="Roboto"/>
                        </a:rPr>
                        <a:t> service perimeters are always enforced on APIs and services that support VPC Service Controls.</a:t>
                      </a:r>
                      <a:endParaRPr lang="en-US" sz="1800" dirty="0">
                        <a:solidFill>
                          <a:srgbClr val="5F6368"/>
                        </a:solidFill>
                        <a:effectLst/>
                      </a:endParaRPr>
                    </a:p>
                  </a:txBody>
                  <a:tcPr marL="48077" marR="24038" marT="56089" marB="56089">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2601447931"/>
                  </a:ext>
                </a:extLst>
              </a:tr>
            </a:tbl>
          </a:graphicData>
        </a:graphic>
      </p:graphicFrame>
    </p:spTree>
    <p:extLst>
      <p:ext uri="{BB962C8B-B14F-4D97-AF65-F5344CB8AC3E}">
        <p14:creationId xmlns:p14="http://schemas.microsoft.com/office/powerpoint/2010/main" val="4749768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1" y="457201"/>
            <a:ext cx="8908868" cy="552993"/>
          </a:xfrm>
        </p:spPr>
        <p:txBody>
          <a:bodyPr/>
          <a:lstStyle/>
          <a:p>
            <a:pPr fontAlgn="ctr"/>
            <a:r>
              <a:rPr lang="en-US" dirty="0"/>
              <a:t>Service Directory</a:t>
            </a:r>
          </a:p>
        </p:txBody>
      </p:sp>
      <p:sp>
        <p:nvSpPr>
          <p:cNvPr id="3" name="Content Placeholder 2"/>
          <p:cNvSpPr>
            <a:spLocks noGrp="1"/>
          </p:cNvSpPr>
          <p:nvPr>
            <p:ph idx="1"/>
          </p:nvPr>
        </p:nvSpPr>
        <p:spPr>
          <a:xfrm>
            <a:off x="121921" y="1180012"/>
            <a:ext cx="8847908" cy="3886200"/>
          </a:xfrm>
        </p:spPr>
        <p:txBody>
          <a:bodyPr/>
          <a:lstStyle/>
          <a:p>
            <a:r>
              <a:rPr lang="en-US" sz="2400" dirty="0"/>
              <a:t>A single place to publish, discover, and connect services.</a:t>
            </a:r>
          </a:p>
          <a:p>
            <a:r>
              <a:rPr lang="en-US" sz="2400" dirty="0"/>
              <a:t>Simplify service management and operations - Service Directory reduces the complexity of management and operations by providing unified visibility for all your services across cloud and on-premises environments. And because Service Directory is a managed service, you get enhanced service inventory management at scale with no operational overhead, increasing the productivity of your DevOps teams.</a:t>
            </a:r>
          </a:p>
          <a:p>
            <a:r>
              <a:rPr lang="en-US" sz="2400" dirty="0"/>
              <a:t>Connecting hybrid and multi-cloud services at scale - With Service Directory, you can easily understand all your services across multi-cloud environments. This includes workloads running in Compute Engine VMs, Google Kubernetes Engine (GKE), as well as external services running on-</a:t>
            </a:r>
            <a:r>
              <a:rPr lang="en-US" sz="2400" dirty="0" err="1"/>
              <a:t>prem</a:t>
            </a:r>
            <a:r>
              <a:rPr lang="en-US" sz="2400" dirty="0"/>
              <a:t> and third-party clouds. It improves application reachability by maintaining the endpoint information for all your services.</a:t>
            </a:r>
            <a:br>
              <a:rPr lang="en-US" sz="2400" dirty="0"/>
            </a:br>
            <a:endParaRPr lang="en-US" sz="2400" dirty="0"/>
          </a:p>
        </p:txBody>
      </p:sp>
    </p:spTree>
    <p:extLst>
      <p:ext uri="{BB962C8B-B14F-4D97-AF65-F5344CB8AC3E}">
        <p14:creationId xmlns:p14="http://schemas.microsoft.com/office/powerpoint/2010/main" val="20491474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Private Cloud (VPC)</a:t>
            </a:r>
          </a:p>
        </p:txBody>
      </p:sp>
      <p:sp>
        <p:nvSpPr>
          <p:cNvPr id="3" name="Content Placeholder 2"/>
          <p:cNvSpPr>
            <a:spLocks noGrp="1"/>
          </p:cNvSpPr>
          <p:nvPr>
            <p:ph idx="1"/>
          </p:nvPr>
        </p:nvSpPr>
        <p:spPr>
          <a:xfrm>
            <a:off x="274319" y="1624148"/>
            <a:ext cx="8704217" cy="3886200"/>
          </a:xfrm>
        </p:spPr>
        <p:txBody>
          <a:bodyPr/>
          <a:lstStyle/>
          <a:p>
            <a:r>
              <a:rPr lang="en-US" dirty="0"/>
              <a:t>Global virtual network that spans all regions. Single VPC for an entire organization, isolated within projects. Increase IP space with no downtime.</a:t>
            </a:r>
          </a:p>
          <a:p>
            <a:r>
              <a:rPr lang="en-US" dirty="0"/>
              <a:t>Network of 29 regions, 88 zones in 200+ countries and territories with monthly uptime of 99.99%</a:t>
            </a:r>
          </a:p>
          <a:p>
            <a:r>
              <a:rPr lang="en-US" dirty="0"/>
              <a:t>Use a single VPC to span multiple regions without communicating across the public internet</a:t>
            </a:r>
          </a:p>
          <a:p>
            <a:endParaRPr lang="en-US" dirty="0"/>
          </a:p>
        </p:txBody>
      </p:sp>
    </p:spTree>
    <p:extLst>
      <p:ext uri="{BB962C8B-B14F-4D97-AF65-F5344CB8AC3E}">
        <p14:creationId xmlns:p14="http://schemas.microsoft.com/office/powerpoint/2010/main" val="9043244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5577"/>
          </a:xfrm>
        </p:spPr>
        <p:txBody>
          <a:bodyPr/>
          <a:lstStyle/>
          <a:p>
            <a:r>
              <a:rPr lang="en-US" dirty="0"/>
              <a:t>Features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205786395"/>
              </p:ext>
            </p:extLst>
          </p:nvPr>
        </p:nvGraphicFramePr>
        <p:xfrm>
          <a:off x="178526" y="992777"/>
          <a:ext cx="8786948" cy="5751280"/>
        </p:xfrm>
        <a:graphic>
          <a:graphicData uri="http://schemas.openxmlformats.org/drawingml/2006/table">
            <a:tbl>
              <a:tblPr/>
              <a:tblGrid>
                <a:gridCol w="1140822">
                  <a:extLst>
                    <a:ext uri="{9D8B030D-6E8A-4147-A177-3AD203B41FA5}">
                      <a16:colId xmlns:a16="http://schemas.microsoft.com/office/drawing/2014/main" val="4037329488"/>
                    </a:ext>
                  </a:extLst>
                </a:gridCol>
                <a:gridCol w="7646126">
                  <a:extLst>
                    <a:ext uri="{9D8B030D-6E8A-4147-A177-3AD203B41FA5}">
                      <a16:colId xmlns:a16="http://schemas.microsoft.com/office/drawing/2014/main" val="4152477734"/>
                    </a:ext>
                  </a:extLst>
                </a:gridCol>
              </a:tblGrid>
              <a:tr h="413957">
                <a:tc>
                  <a:txBody>
                    <a:bodyPr/>
                    <a:lstStyle/>
                    <a:p>
                      <a:pPr algn="l" fontAlgn="t"/>
                      <a:r>
                        <a:rPr lang="en-US" sz="1800" b="0">
                          <a:solidFill>
                            <a:srgbClr val="202124"/>
                          </a:solidFill>
                          <a:effectLst/>
                          <a:latin typeface="Google Sans"/>
                        </a:rPr>
                        <a:t>VPC network</a:t>
                      </a:r>
                      <a:endParaRPr lang="en-US" sz="1800">
                        <a:solidFill>
                          <a:srgbClr val="5F6368"/>
                        </a:solidFill>
                        <a:effectLst/>
                      </a:endParaRPr>
                    </a:p>
                  </a:txBody>
                  <a:tcPr marL="11352" marR="11352" marT="26488" marB="26488">
                    <a:lnL>
                      <a:noFill/>
                    </a:lnL>
                    <a:lnR>
                      <a:noFill/>
                    </a:lnR>
                    <a:lnT>
                      <a:noFill/>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u="sng" dirty="0">
                          <a:solidFill>
                            <a:srgbClr val="1967D2"/>
                          </a:solidFill>
                          <a:effectLst/>
                          <a:latin typeface="Roboto"/>
                          <a:hlinkClick r:id="rId2"/>
                        </a:rPr>
                        <a:t>VPC</a:t>
                      </a:r>
                      <a:r>
                        <a:rPr lang="en-US" sz="1800" b="0" dirty="0">
                          <a:solidFill>
                            <a:srgbClr val="5F6368"/>
                          </a:solidFill>
                          <a:effectLst/>
                          <a:latin typeface="Roboto"/>
                        </a:rPr>
                        <a:t> can automatically set up your virtual topology, configuring prefix ranges for your subnets and network policies, or you can configure your own. You can also expand CIDR ranges without downtime.</a:t>
                      </a:r>
                      <a:endParaRPr lang="en-US" sz="1800" dirty="0">
                        <a:solidFill>
                          <a:srgbClr val="5F6368"/>
                        </a:solidFill>
                        <a:effectLst/>
                      </a:endParaRPr>
                    </a:p>
                  </a:txBody>
                  <a:tcPr marL="22704" marR="11352" marT="26488" marB="26488">
                    <a:lnL>
                      <a:noFill/>
                    </a:lnL>
                    <a:lnR>
                      <a:noFill/>
                    </a:lnR>
                    <a:lnT>
                      <a:noFill/>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3623190534"/>
                  </a:ext>
                </a:extLst>
              </a:tr>
              <a:tr h="607498">
                <a:tc>
                  <a:txBody>
                    <a:bodyPr/>
                    <a:lstStyle/>
                    <a:p>
                      <a:pPr algn="l" fontAlgn="t"/>
                      <a:r>
                        <a:rPr lang="en-US" sz="1800" b="0">
                          <a:solidFill>
                            <a:srgbClr val="202124"/>
                          </a:solidFill>
                          <a:effectLst/>
                          <a:latin typeface="Google Sans"/>
                        </a:rPr>
                        <a:t>VPC flow logs</a:t>
                      </a:r>
                      <a:endParaRPr lang="en-US" sz="1800">
                        <a:solidFill>
                          <a:srgbClr val="5F6368"/>
                        </a:solidFill>
                        <a:effectLst/>
                      </a:endParaRPr>
                    </a:p>
                  </a:txBody>
                  <a:tcPr marL="11352" marR="11352" marT="26488" marB="26488">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a:solidFill>
                            <a:srgbClr val="5F6368"/>
                          </a:solidFill>
                          <a:effectLst/>
                          <a:latin typeface="Roboto"/>
                        </a:rPr>
                        <a:t>Flow logs capture information about the IP traffic going to and from network interfaces on Compute Engine. </a:t>
                      </a:r>
                      <a:r>
                        <a:rPr lang="en-US" sz="1800" b="0" u="sng">
                          <a:solidFill>
                            <a:srgbClr val="1967D2"/>
                          </a:solidFill>
                          <a:effectLst/>
                          <a:latin typeface="Roboto"/>
                          <a:hlinkClick r:id="rId3"/>
                        </a:rPr>
                        <a:t>VPC flow logs</a:t>
                      </a:r>
                      <a:r>
                        <a:rPr lang="en-US" sz="1800" b="0">
                          <a:solidFill>
                            <a:srgbClr val="5F6368"/>
                          </a:solidFill>
                          <a:effectLst/>
                          <a:latin typeface="Roboto"/>
                        </a:rPr>
                        <a:t> help with network monitoring, forensics, real-time security analysis, and expense optimization. Google Cloud flow logs are updated every five seconds, providing immediate visibility.</a:t>
                      </a:r>
                      <a:endParaRPr lang="en-US" sz="1800">
                        <a:solidFill>
                          <a:srgbClr val="5F6368"/>
                        </a:solidFill>
                        <a:effectLst/>
                      </a:endParaRPr>
                    </a:p>
                  </a:txBody>
                  <a:tcPr marL="22704" marR="11352" marT="26488" marB="26488">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3711775734"/>
                  </a:ext>
                </a:extLst>
              </a:tr>
              <a:tr h="655882">
                <a:tc>
                  <a:txBody>
                    <a:bodyPr/>
                    <a:lstStyle/>
                    <a:p>
                      <a:pPr algn="l" fontAlgn="t"/>
                      <a:r>
                        <a:rPr lang="en-US" sz="1800" b="0">
                          <a:solidFill>
                            <a:srgbClr val="202124"/>
                          </a:solidFill>
                          <a:effectLst/>
                          <a:latin typeface="Google Sans"/>
                        </a:rPr>
                        <a:t>Bring your own IPs</a:t>
                      </a:r>
                      <a:endParaRPr lang="en-US" sz="1800">
                        <a:solidFill>
                          <a:srgbClr val="5F6368"/>
                        </a:solidFill>
                        <a:effectLst/>
                      </a:endParaRPr>
                    </a:p>
                  </a:txBody>
                  <a:tcPr marL="11352" marR="11352" marT="26488" marB="26488">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u="sng">
                          <a:solidFill>
                            <a:srgbClr val="1967D2"/>
                          </a:solidFill>
                          <a:effectLst/>
                          <a:latin typeface="Roboto"/>
                          <a:hlinkClick r:id="rId4"/>
                        </a:rPr>
                        <a:t>Bring your own IP addresses</a:t>
                      </a:r>
                      <a:r>
                        <a:rPr lang="en-US" sz="1800" b="0">
                          <a:solidFill>
                            <a:srgbClr val="5F6368"/>
                          </a:solidFill>
                          <a:effectLst/>
                          <a:latin typeface="Roboto"/>
                        </a:rPr>
                        <a:t> to Google’s network across all regions to minimize downtime during migration and reduce your networking infrastructure cost. After you bring your own IPs, Google Cloud will advertise them globally to all peers. Your prefixes can be broken into blocks as small as 16 addresses (/28), creating more flexibility with your resources.</a:t>
                      </a:r>
                      <a:endParaRPr lang="en-US" sz="1800">
                        <a:solidFill>
                          <a:srgbClr val="5F6368"/>
                        </a:solidFill>
                        <a:effectLst/>
                      </a:endParaRPr>
                    </a:p>
                  </a:txBody>
                  <a:tcPr marL="22704" marR="11352" marT="26488" marB="26488">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4203317755"/>
                  </a:ext>
                </a:extLst>
              </a:tr>
              <a:tr h="317188">
                <a:tc>
                  <a:txBody>
                    <a:bodyPr/>
                    <a:lstStyle/>
                    <a:p>
                      <a:pPr algn="l" fontAlgn="t"/>
                      <a:r>
                        <a:rPr lang="en-US" sz="1800" b="0">
                          <a:solidFill>
                            <a:srgbClr val="202124"/>
                          </a:solidFill>
                          <a:effectLst/>
                          <a:latin typeface="Google Sans"/>
                        </a:rPr>
                        <a:t>VPC peering</a:t>
                      </a:r>
                      <a:endParaRPr lang="en-US" sz="1800">
                        <a:solidFill>
                          <a:srgbClr val="5F6368"/>
                        </a:solidFill>
                        <a:effectLst/>
                      </a:endParaRPr>
                    </a:p>
                  </a:txBody>
                  <a:tcPr marL="11352" marR="11352" marT="26488" marB="26488">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u="sng">
                          <a:solidFill>
                            <a:srgbClr val="1967D2"/>
                          </a:solidFill>
                          <a:effectLst/>
                          <a:latin typeface="Roboto"/>
                          <a:hlinkClick r:id="rId5"/>
                        </a:rPr>
                        <a:t>Configure private communication</a:t>
                      </a:r>
                      <a:r>
                        <a:rPr lang="en-US" sz="1800" b="0">
                          <a:solidFill>
                            <a:srgbClr val="5F6368"/>
                          </a:solidFill>
                          <a:effectLst/>
                          <a:latin typeface="Roboto"/>
                        </a:rPr>
                        <a:t> across the same or different organizations without bandwidth bottlenecks or single points of failure.</a:t>
                      </a:r>
                      <a:endParaRPr lang="en-US" sz="1800">
                        <a:solidFill>
                          <a:srgbClr val="5F6368"/>
                        </a:solidFill>
                        <a:effectLst/>
                      </a:endParaRPr>
                    </a:p>
                  </a:txBody>
                  <a:tcPr marL="22704" marR="11352" marT="26488" marB="26488">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1047461862"/>
                  </a:ext>
                </a:extLst>
              </a:tr>
              <a:tr h="559111">
                <a:tc>
                  <a:txBody>
                    <a:bodyPr/>
                    <a:lstStyle/>
                    <a:p>
                      <a:pPr algn="l" fontAlgn="t"/>
                      <a:r>
                        <a:rPr lang="en-US" sz="1800" b="0">
                          <a:solidFill>
                            <a:srgbClr val="202124"/>
                          </a:solidFill>
                          <a:effectLst/>
                          <a:latin typeface="Google Sans"/>
                        </a:rPr>
                        <a:t>Firewall</a:t>
                      </a:r>
                      <a:endParaRPr lang="en-US" sz="1800">
                        <a:solidFill>
                          <a:srgbClr val="5F6368"/>
                        </a:solidFill>
                        <a:effectLst/>
                      </a:endParaRPr>
                    </a:p>
                  </a:txBody>
                  <a:tcPr marL="11352" marR="11352" marT="26488" marB="26488">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800" b="0" dirty="0">
                          <a:solidFill>
                            <a:srgbClr val="5F6368"/>
                          </a:solidFill>
                          <a:effectLst/>
                          <a:latin typeface="Roboto"/>
                        </a:rPr>
                        <a:t>Segment your networks with a globally distributed </a:t>
                      </a:r>
                      <a:r>
                        <a:rPr lang="en-US" sz="1800" b="0" u="sng" dirty="0">
                          <a:solidFill>
                            <a:srgbClr val="1967D2"/>
                          </a:solidFill>
                          <a:effectLst/>
                          <a:latin typeface="Roboto"/>
                          <a:hlinkClick r:id="rId6"/>
                        </a:rPr>
                        <a:t>firewall</a:t>
                      </a:r>
                      <a:r>
                        <a:rPr lang="en-US" sz="1800" b="0" dirty="0">
                          <a:solidFill>
                            <a:srgbClr val="5F6368"/>
                          </a:solidFill>
                          <a:effectLst/>
                          <a:latin typeface="Roboto"/>
                        </a:rPr>
                        <a:t> to restrict access to instances. </a:t>
                      </a:r>
                      <a:r>
                        <a:rPr lang="en-US" sz="1800" b="0" u="sng" dirty="0">
                          <a:solidFill>
                            <a:srgbClr val="1967D2"/>
                          </a:solidFill>
                          <a:effectLst/>
                          <a:latin typeface="Roboto"/>
                          <a:hlinkClick r:id="rId7"/>
                        </a:rPr>
                        <a:t>VPC Firewall Rules Logging</a:t>
                      </a:r>
                      <a:r>
                        <a:rPr lang="en-US" sz="1800" b="0" dirty="0">
                          <a:solidFill>
                            <a:srgbClr val="5F6368"/>
                          </a:solidFill>
                          <a:effectLst/>
                          <a:latin typeface="Roboto"/>
                        </a:rPr>
                        <a:t> lets you audit, verify, and analyze the effects of your firewall rules. It logs firewall access and denies events with the same responsiveness of VPC flow logs.</a:t>
                      </a:r>
                      <a:endParaRPr lang="en-US" sz="1800" dirty="0">
                        <a:solidFill>
                          <a:srgbClr val="5F6368"/>
                        </a:solidFill>
                        <a:effectLst/>
                      </a:endParaRPr>
                    </a:p>
                  </a:txBody>
                  <a:tcPr marL="22704" marR="11352" marT="26488" marB="26488">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2204968075"/>
                  </a:ext>
                </a:extLst>
              </a:tr>
            </a:tbl>
          </a:graphicData>
        </a:graphic>
      </p:graphicFrame>
    </p:spTree>
    <p:extLst>
      <p:ext uri="{BB962C8B-B14F-4D97-AF65-F5344CB8AC3E}">
        <p14:creationId xmlns:p14="http://schemas.microsoft.com/office/powerpoint/2010/main" val="14521631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641082090"/>
              </p:ext>
            </p:extLst>
          </p:nvPr>
        </p:nvGraphicFramePr>
        <p:xfrm>
          <a:off x="69669" y="622663"/>
          <a:ext cx="8943702" cy="5770944"/>
        </p:xfrm>
        <a:graphic>
          <a:graphicData uri="http://schemas.openxmlformats.org/drawingml/2006/table">
            <a:tbl>
              <a:tblPr>
                <a:tableStyleId>{5C22544A-7EE6-4342-B048-85BDC9FD1C3A}</a:tableStyleId>
              </a:tblPr>
              <a:tblGrid>
                <a:gridCol w="1375954">
                  <a:extLst>
                    <a:ext uri="{9D8B030D-6E8A-4147-A177-3AD203B41FA5}">
                      <a16:colId xmlns:a16="http://schemas.microsoft.com/office/drawing/2014/main" val="983646660"/>
                    </a:ext>
                  </a:extLst>
                </a:gridCol>
                <a:gridCol w="7567748">
                  <a:extLst>
                    <a:ext uri="{9D8B030D-6E8A-4147-A177-3AD203B41FA5}">
                      <a16:colId xmlns:a16="http://schemas.microsoft.com/office/drawing/2014/main" val="2507126715"/>
                    </a:ext>
                  </a:extLst>
                </a:gridCol>
              </a:tblGrid>
              <a:tr h="409074">
                <a:tc>
                  <a:txBody>
                    <a:bodyPr/>
                    <a:lstStyle/>
                    <a:p>
                      <a:pPr algn="l" rtl="0" fontAlgn="t"/>
                      <a:r>
                        <a:rPr lang="en-US" sz="1800" u="none" strike="noStrike" dirty="0">
                          <a:effectLst/>
                        </a:rPr>
                        <a:t>Routes</a:t>
                      </a:r>
                      <a:endParaRPr lang="en-US" sz="1800" b="0" i="0" u="none" strike="noStrike" dirty="0">
                        <a:solidFill>
                          <a:srgbClr val="202124"/>
                        </a:solidFill>
                        <a:effectLst/>
                        <a:latin typeface="Google Sans"/>
                      </a:endParaRPr>
                    </a:p>
                  </a:txBody>
                  <a:tcPr marL="1704" marR="1704" marT="1704" marB="0"/>
                </a:tc>
                <a:tc>
                  <a:txBody>
                    <a:bodyPr/>
                    <a:lstStyle/>
                    <a:p>
                      <a:pPr algn="l" rtl="0" fontAlgn="t"/>
                      <a:r>
                        <a:rPr lang="en-US" sz="1800" u="none" strike="noStrike" dirty="0">
                          <a:effectLst/>
                          <a:hlinkClick r:id="rId2"/>
                        </a:rPr>
                        <a:t>Forward traffic from one instance to another instance within the same network, even across subnets, without requiring external IP addresses.</a:t>
                      </a:r>
                      <a:endParaRPr lang="en-US" sz="1800" b="0" i="0" u="none" strike="noStrike" dirty="0">
                        <a:solidFill>
                          <a:srgbClr val="0563C1"/>
                        </a:solidFill>
                        <a:effectLst/>
                        <a:latin typeface="Calibri" panose="020F0502020204030204" pitchFamily="34" charset="0"/>
                      </a:endParaRPr>
                    </a:p>
                  </a:txBody>
                  <a:tcPr marL="1704" marR="1704" marT="1704" marB="0"/>
                </a:tc>
                <a:extLst>
                  <a:ext uri="{0D108BD9-81ED-4DB2-BD59-A6C34878D82A}">
                    <a16:rowId xmlns:a16="http://schemas.microsoft.com/office/drawing/2014/main" val="2922056321"/>
                  </a:ext>
                </a:extLst>
              </a:tr>
              <a:tr h="859055">
                <a:tc>
                  <a:txBody>
                    <a:bodyPr/>
                    <a:lstStyle/>
                    <a:p>
                      <a:pPr algn="l" rtl="0" fontAlgn="t"/>
                      <a:r>
                        <a:rPr lang="en-US" sz="1800" u="none" strike="noStrike">
                          <a:effectLst/>
                        </a:rPr>
                        <a:t>Shared VPC</a:t>
                      </a:r>
                      <a:endParaRPr lang="en-US" sz="1800" b="0" i="0" u="none" strike="noStrike">
                        <a:solidFill>
                          <a:srgbClr val="202124"/>
                        </a:solidFill>
                        <a:effectLst/>
                        <a:latin typeface="Google Sans"/>
                      </a:endParaRPr>
                    </a:p>
                  </a:txBody>
                  <a:tcPr marL="1704" marR="1704" marT="1704" marB="0"/>
                </a:tc>
                <a:tc>
                  <a:txBody>
                    <a:bodyPr/>
                    <a:lstStyle/>
                    <a:p>
                      <a:pPr algn="l" rtl="0" fontAlgn="t"/>
                      <a:r>
                        <a:rPr lang="en-US" sz="1800" u="sng" strike="noStrike" dirty="0">
                          <a:effectLst/>
                          <a:hlinkClick r:id="rId3"/>
                        </a:rPr>
                        <a:t>Configure a VPC network to be shared across several projects in your organization. Connectivity routes and firewalls associated are managed centrally. Your developers have their own projects with separate billing and quota, while they simply connect to a shared private network, where they can communicate.</a:t>
                      </a:r>
                      <a:endParaRPr lang="en-US" sz="1800" b="0" i="0" u="sng" strike="noStrike" dirty="0">
                        <a:solidFill>
                          <a:srgbClr val="0563C1"/>
                        </a:solidFill>
                        <a:effectLst/>
                        <a:latin typeface="Calibri" panose="020F0502020204030204" pitchFamily="34" charset="0"/>
                      </a:endParaRPr>
                    </a:p>
                  </a:txBody>
                  <a:tcPr marL="1704" marR="1704" marT="1704" marB="0"/>
                </a:tc>
                <a:extLst>
                  <a:ext uri="{0D108BD9-81ED-4DB2-BD59-A6C34878D82A}">
                    <a16:rowId xmlns:a16="http://schemas.microsoft.com/office/drawing/2014/main" val="2463393337"/>
                  </a:ext>
                </a:extLst>
              </a:tr>
              <a:tr h="613611">
                <a:tc>
                  <a:txBody>
                    <a:bodyPr/>
                    <a:lstStyle/>
                    <a:p>
                      <a:pPr algn="l" rtl="0" fontAlgn="t"/>
                      <a:r>
                        <a:rPr lang="en-US" sz="1800" u="none" strike="noStrike">
                          <a:effectLst/>
                        </a:rPr>
                        <a:t>Packet mirroring</a:t>
                      </a:r>
                      <a:endParaRPr lang="en-US" sz="1800" b="0" i="0" u="none" strike="noStrike">
                        <a:solidFill>
                          <a:srgbClr val="202124"/>
                        </a:solidFill>
                        <a:effectLst/>
                        <a:latin typeface="Google Sans"/>
                      </a:endParaRPr>
                    </a:p>
                  </a:txBody>
                  <a:tcPr marL="1704" marR="1704" marT="1704" marB="0"/>
                </a:tc>
                <a:tc>
                  <a:txBody>
                    <a:bodyPr/>
                    <a:lstStyle/>
                    <a:p>
                      <a:pPr algn="l" rtl="0" fontAlgn="t"/>
                      <a:r>
                        <a:rPr lang="en-US" sz="1800" u="sng" strike="noStrike">
                          <a:effectLst/>
                          <a:hlinkClick r:id="rId4"/>
                        </a:rPr>
                        <a:t>Troubleshoot your existing VPCs by collecting and inspecting network traffic at scale, providing intrusion detection, application performance monitoring, and compliance controls with Packet Mirroring.</a:t>
                      </a:r>
                      <a:endParaRPr lang="en-US" sz="1800" b="0" i="0" u="sng" strike="noStrike">
                        <a:solidFill>
                          <a:srgbClr val="0563C1"/>
                        </a:solidFill>
                        <a:effectLst/>
                        <a:latin typeface="Calibri" panose="020F0502020204030204" pitchFamily="34" charset="0"/>
                      </a:endParaRPr>
                    </a:p>
                  </a:txBody>
                  <a:tcPr marL="1704" marR="1704" marT="1704" marB="0"/>
                </a:tc>
                <a:extLst>
                  <a:ext uri="{0D108BD9-81ED-4DB2-BD59-A6C34878D82A}">
                    <a16:rowId xmlns:a16="http://schemas.microsoft.com/office/drawing/2014/main" val="541176459"/>
                  </a:ext>
                </a:extLst>
              </a:tr>
              <a:tr h="204537">
                <a:tc>
                  <a:txBody>
                    <a:bodyPr/>
                    <a:lstStyle/>
                    <a:p>
                      <a:pPr algn="l" rtl="0" fontAlgn="t"/>
                      <a:r>
                        <a:rPr lang="en-US" sz="1800" u="none" strike="noStrike">
                          <a:effectLst/>
                        </a:rPr>
                        <a:t>VPN</a:t>
                      </a:r>
                      <a:endParaRPr lang="en-US" sz="1800" b="0" i="0" u="none" strike="noStrike">
                        <a:solidFill>
                          <a:srgbClr val="202124"/>
                        </a:solidFill>
                        <a:effectLst/>
                        <a:latin typeface="Google Sans"/>
                      </a:endParaRPr>
                    </a:p>
                  </a:txBody>
                  <a:tcPr marL="1704" marR="1704" marT="1704" marB="0"/>
                </a:tc>
                <a:tc>
                  <a:txBody>
                    <a:bodyPr/>
                    <a:lstStyle/>
                    <a:p>
                      <a:pPr algn="l" rtl="0" fontAlgn="t"/>
                      <a:r>
                        <a:rPr lang="en-US" sz="1800" u="sng" strike="noStrike">
                          <a:effectLst/>
                          <a:hlinkClick r:id="rId5"/>
                        </a:rPr>
                        <a:t>Securely connect your existing network to a VPC network over IPsec.</a:t>
                      </a:r>
                      <a:endParaRPr lang="en-US" sz="1800" b="0" i="0" u="sng" strike="noStrike">
                        <a:solidFill>
                          <a:srgbClr val="0563C1"/>
                        </a:solidFill>
                        <a:effectLst/>
                        <a:latin typeface="Calibri" panose="020F0502020204030204" pitchFamily="34" charset="0"/>
                      </a:endParaRPr>
                    </a:p>
                  </a:txBody>
                  <a:tcPr marL="1704" marR="1704" marT="1704" marB="0"/>
                </a:tc>
                <a:extLst>
                  <a:ext uri="{0D108BD9-81ED-4DB2-BD59-A6C34878D82A}">
                    <a16:rowId xmlns:a16="http://schemas.microsoft.com/office/drawing/2014/main" val="1949572873"/>
                  </a:ext>
                </a:extLst>
              </a:tr>
              <a:tr h="818147">
                <a:tc>
                  <a:txBody>
                    <a:bodyPr/>
                    <a:lstStyle/>
                    <a:p>
                      <a:pPr algn="l" rtl="0" fontAlgn="t"/>
                      <a:r>
                        <a:rPr lang="en-US" sz="1800" u="none" strike="noStrike">
                          <a:effectLst/>
                        </a:rPr>
                        <a:t>Private access</a:t>
                      </a:r>
                      <a:endParaRPr lang="en-US" sz="1800" b="0" i="0" u="none" strike="noStrike">
                        <a:solidFill>
                          <a:srgbClr val="202124"/>
                        </a:solidFill>
                        <a:effectLst/>
                        <a:latin typeface="Google Sans"/>
                      </a:endParaRPr>
                    </a:p>
                  </a:txBody>
                  <a:tcPr marL="1704" marR="1704" marT="1704" marB="0"/>
                </a:tc>
                <a:tc>
                  <a:txBody>
                    <a:bodyPr/>
                    <a:lstStyle/>
                    <a:p>
                      <a:pPr algn="l" rtl="0" fontAlgn="t"/>
                      <a:r>
                        <a:rPr lang="en-US" sz="1800" u="sng" strike="noStrike">
                          <a:effectLst/>
                          <a:hlinkClick r:id="rId6"/>
                        </a:rPr>
                        <a:t>Get private access to Google services, such as storage, big data, analytics, or machine learning, without having to give your service a public IP address. Configure your application’s front end to receive internet requests and shield your backend services from public endpoints, all while being able to access Google Cloud services.</a:t>
                      </a:r>
                      <a:endParaRPr lang="en-US" sz="1800" b="0" i="0" u="sng" strike="noStrike">
                        <a:solidFill>
                          <a:srgbClr val="0563C1"/>
                        </a:solidFill>
                        <a:effectLst/>
                        <a:latin typeface="Calibri" panose="020F0502020204030204" pitchFamily="34" charset="0"/>
                      </a:endParaRPr>
                    </a:p>
                  </a:txBody>
                  <a:tcPr marL="1704" marR="1704" marT="1704" marB="0"/>
                </a:tc>
                <a:extLst>
                  <a:ext uri="{0D108BD9-81ED-4DB2-BD59-A6C34878D82A}">
                    <a16:rowId xmlns:a16="http://schemas.microsoft.com/office/drawing/2014/main" val="1491983759"/>
                  </a:ext>
                </a:extLst>
              </a:tr>
              <a:tr h="981777">
                <a:tc>
                  <a:txBody>
                    <a:bodyPr/>
                    <a:lstStyle/>
                    <a:p>
                      <a:pPr algn="l" rtl="0" fontAlgn="t"/>
                      <a:r>
                        <a:rPr lang="en-US" sz="1800" u="none" strike="noStrike">
                          <a:effectLst/>
                        </a:rPr>
                        <a:t>VPC Service Controls</a:t>
                      </a:r>
                      <a:endParaRPr lang="en-US" sz="1800" b="0" i="0" u="none" strike="noStrike">
                        <a:solidFill>
                          <a:srgbClr val="202124"/>
                        </a:solidFill>
                        <a:effectLst/>
                        <a:latin typeface="Google Sans"/>
                      </a:endParaRPr>
                    </a:p>
                  </a:txBody>
                  <a:tcPr marL="1704" marR="1704" marT="1704" marB="0"/>
                </a:tc>
                <a:tc>
                  <a:txBody>
                    <a:bodyPr/>
                    <a:lstStyle/>
                    <a:p>
                      <a:pPr algn="l" rtl="0" fontAlgn="t"/>
                      <a:r>
                        <a:rPr lang="en-US" sz="1800" u="sng" strike="noStrike" dirty="0">
                          <a:effectLst/>
                          <a:hlinkClick r:id="rId7"/>
                        </a:rPr>
                        <a:t>Mitigate data exfiltration risks by enforcing a security perimeter to isolate resources of multi-tenant Google Cloud services.  Configure private communications between cloud resources from VPC networks spanning cloud and </a:t>
                      </a:r>
                      <a:r>
                        <a:rPr lang="en-US" sz="1800" u="sng" strike="noStrike" dirty="0" err="1">
                          <a:effectLst/>
                          <a:hlinkClick r:id="rId7"/>
                        </a:rPr>
                        <a:t>on-premise</a:t>
                      </a:r>
                      <a:r>
                        <a:rPr lang="en-US" sz="1800" u="sng" strike="noStrike" dirty="0">
                          <a:effectLst/>
                          <a:hlinkClick r:id="rId7"/>
                        </a:rPr>
                        <a:t> deployments.  Keep sensitive data private and take advantage of the fully managed storage and data processing capabilities.</a:t>
                      </a:r>
                      <a:endParaRPr lang="en-US" sz="1800" b="0" i="0" u="sng" strike="noStrike" dirty="0">
                        <a:solidFill>
                          <a:srgbClr val="0563C1"/>
                        </a:solidFill>
                        <a:effectLst/>
                        <a:latin typeface="Calibri" panose="020F0502020204030204" pitchFamily="34" charset="0"/>
                      </a:endParaRPr>
                    </a:p>
                  </a:txBody>
                  <a:tcPr marL="1704" marR="1704" marT="1704" marB="0"/>
                </a:tc>
                <a:extLst>
                  <a:ext uri="{0D108BD9-81ED-4DB2-BD59-A6C34878D82A}">
                    <a16:rowId xmlns:a16="http://schemas.microsoft.com/office/drawing/2014/main" val="2924904631"/>
                  </a:ext>
                </a:extLst>
              </a:tr>
            </a:tbl>
          </a:graphicData>
        </a:graphic>
      </p:graphicFrame>
    </p:spTree>
    <p:extLst>
      <p:ext uri="{BB962C8B-B14F-4D97-AF65-F5344CB8AC3E}">
        <p14:creationId xmlns:p14="http://schemas.microsoft.com/office/powerpoint/2010/main" val="10761330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3805"/>
            <a:ext cx="8229600" cy="923109"/>
          </a:xfrm>
        </p:spPr>
        <p:txBody>
          <a:bodyPr/>
          <a:lstStyle/>
          <a:p>
            <a:r>
              <a:rPr lang="en-US" b="1" dirty="0"/>
              <a:t>Databases</a:t>
            </a:r>
            <a:endParaRPr lang="en-US" dirty="0"/>
          </a:p>
        </p:txBody>
      </p:sp>
      <p:pic>
        <p:nvPicPr>
          <p:cNvPr id="5" name="Content Placeholder 4"/>
          <p:cNvPicPr>
            <a:picLocks noGrp="1" noChangeAspect="1"/>
          </p:cNvPicPr>
          <p:nvPr>
            <p:ph idx="1"/>
          </p:nvPr>
        </p:nvPicPr>
        <p:blipFill>
          <a:blip r:embed="rId2"/>
          <a:stretch>
            <a:fillRect/>
          </a:stretch>
        </p:blipFill>
        <p:spPr>
          <a:xfrm>
            <a:off x="123515" y="1581464"/>
            <a:ext cx="8907274" cy="4906424"/>
          </a:xfrm>
          <a:prstGeom prst="rect">
            <a:avLst/>
          </a:prstGeom>
        </p:spPr>
      </p:pic>
    </p:spTree>
    <p:extLst>
      <p:ext uri="{BB962C8B-B14F-4D97-AF65-F5344CB8AC3E}">
        <p14:creationId xmlns:p14="http://schemas.microsoft.com/office/powerpoint/2010/main" val="39446415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ctr"/>
            <a:r>
              <a:rPr lang="en-US" dirty="0"/>
              <a:t>Cloud </a:t>
            </a:r>
            <a:r>
              <a:rPr lang="en-US" dirty="0" err="1"/>
              <a:t>Bigtable</a:t>
            </a:r>
            <a:endParaRPr lang="en-US" dirty="0"/>
          </a:p>
        </p:txBody>
      </p:sp>
      <p:sp>
        <p:nvSpPr>
          <p:cNvPr id="3" name="Content Placeholder 2"/>
          <p:cNvSpPr>
            <a:spLocks noGrp="1"/>
          </p:cNvSpPr>
          <p:nvPr>
            <p:ph idx="1"/>
          </p:nvPr>
        </p:nvSpPr>
        <p:spPr>
          <a:xfrm>
            <a:off x="248193" y="1563189"/>
            <a:ext cx="8660675" cy="3886200"/>
          </a:xfrm>
        </p:spPr>
        <p:txBody>
          <a:bodyPr/>
          <a:lstStyle/>
          <a:p>
            <a:r>
              <a:rPr lang="en-US" sz="2400" dirty="0"/>
              <a:t>A fully managed, scalable NoSQL database service for large analytical and operational workloads with up to 99.999% availability.</a:t>
            </a:r>
          </a:p>
          <a:p>
            <a:r>
              <a:rPr lang="en-US" sz="2400" dirty="0"/>
              <a:t>Consistent sub-10ms latency—handle millions of requests per second</a:t>
            </a:r>
          </a:p>
          <a:p>
            <a:r>
              <a:rPr lang="en-US" sz="2400" dirty="0"/>
              <a:t>Ideal for use cases such as personalization, ad tech, </a:t>
            </a:r>
            <a:r>
              <a:rPr lang="en-US" sz="2400" dirty="0" err="1"/>
              <a:t>fintech</a:t>
            </a:r>
            <a:r>
              <a:rPr lang="en-US" sz="2400" dirty="0"/>
              <a:t>, digital media, and </a:t>
            </a:r>
            <a:r>
              <a:rPr lang="en-US" sz="2400" dirty="0" err="1"/>
              <a:t>IoT</a:t>
            </a:r>
            <a:endParaRPr lang="en-US" sz="2400" dirty="0"/>
          </a:p>
          <a:p>
            <a:r>
              <a:rPr lang="en-US" sz="2400" dirty="0"/>
              <a:t>Seamlessly scale to match your storage needs; no downtime during reconfiguration</a:t>
            </a:r>
          </a:p>
          <a:p>
            <a:r>
              <a:rPr lang="en-US" sz="2400" dirty="0"/>
              <a:t>Designed with a storage engine for machine learning applications leading to better predictions</a:t>
            </a:r>
          </a:p>
          <a:p>
            <a:r>
              <a:rPr lang="en-US" sz="2400" dirty="0"/>
              <a:t>Easily connect to Google Cloud services such as </a:t>
            </a:r>
            <a:r>
              <a:rPr lang="en-US" sz="2400" dirty="0" err="1"/>
              <a:t>BigQuery</a:t>
            </a:r>
            <a:r>
              <a:rPr lang="en-US" sz="2400" dirty="0"/>
              <a:t> or the Apache ecosystem</a:t>
            </a:r>
          </a:p>
          <a:p>
            <a:pPr marL="0" indent="0">
              <a:buNone/>
            </a:pPr>
            <a:endParaRPr lang="en-US" sz="2400" dirty="0"/>
          </a:p>
        </p:txBody>
      </p:sp>
    </p:spTree>
    <p:extLst>
      <p:ext uri="{BB962C8B-B14F-4D97-AF65-F5344CB8AC3E}">
        <p14:creationId xmlns:p14="http://schemas.microsoft.com/office/powerpoint/2010/main" val="25126400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ctr"/>
            <a:r>
              <a:rPr lang="en-US" dirty="0"/>
              <a:t>Cloud Spanner</a:t>
            </a:r>
          </a:p>
        </p:txBody>
      </p:sp>
      <p:sp>
        <p:nvSpPr>
          <p:cNvPr id="3" name="Content Placeholder 2"/>
          <p:cNvSpPr>
            <a:spLocks noGrp="1"/>
          </p:cNvSpPr>
          <p:nvPr>
            <p:ph idx="1"/>
          </p:nvPr>
        </p:nvSpPr>
        <p:spPr>
          <a:xfrm>
            <a:off x="148047" y="1728652"/>
            <a:ext cx="8665028" cy="3886200"/>
          </a:xfrm>
        </p:spPr>
        <p:txBody>
          <a:bodyPr/>
          <a:lstStyle/>
          <a:p>
            <a:r>
              <a:rPr lang="en-US" sz="2400" dirty="0"/>
              <a:t>Fully managed relational database with unlimited scale, strong consistency, and up to 99.999% availability.</a:t>
            </a:r>
          </a:p>
          <a:p>
            <a:r>
              <a:rPr lang="en-US" sz="2400" dirty="0"/>
              <a:t>Get all the benefits of relational semantics and SQL with unlimited scale</a:t>
            </a:r>
          </a:p>
          <a:p>
            <a:r>
              <a:rPr lang="en-US" sz="2400" dirty="0"/>
              <a:t>Start at any size and scale with no limits as your needs grow</a:t>
            </a:r>
          </a:p>
          <a:p>
            <a:r>
              <a:rPr lang="en-US" sz="2400" dirty="0"/>
              <a:t>Enjoy high availability with zero scheduled downtime and online schema changes</a:t>
            </a:r>
          </a:p>
          <a:p>
            <a:r>
              <a:rPr lang="en-US" sz="2400" dirty="0"/>
              <a:t>Deliver high-performance transactions with strong consistency across regions and continents</a:t>
            </a:r>
          </a:p>
          <a:p>
            <a:r>
              <a:rPr lang="en-US" sz="2400" dirty="0"/>
              <a:t>Focus on innovation, eliminating manual tasks with capabilities like automatic </a:t>
            </a:r>
            <a:r>
              <a:rPr lang="en-US" sz="2400" dirty="0" err="1"/>
              <a:t>sharding</a:t>
            </a:r>
            <a:endParaRPr lang="en-US" sz="2400" dirty="0"/>
          </a:p>
          <a:p>
            <a:endParaRPr lang="en-US" sz="2400" dirty="0"/>
          </a:p>
        </p:txBody>
      </p:sp>
    </p:spTree>
    <p:extLst>
      <p:ext uri="{BB962C8B-B14F-4D97-AF65-F5344CB8AC3E}">
        <p14:creationId xmlns:p14="http://schemas.microsoft.com/office/powerpoint/2010/main" val="6186361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15362" name="Picture 2" descr="gaming architectural diagra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2697" y="1687061"/>
            <a:ext cx="8229600" cy="329011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95942" y="5159889"/>
            <a:ext cx="8752115" cy="1477328"/>
          </a:xfrm>
          <a:prstGeom prst="rect">
            <a:avLst/>
          </a:prstGeom>
        </p:spPr>
        <p:txBody>
          <a:bodyPr wrap="square">
            <a:spAutoFit/>
          </a:bodyPr>
          <a:lstStyle/>
          <a:p>
            <a:r>
              <a:rPr lang="en-US" dirty="0"/>
              <a:t>Pricing for Spanner is simple and predictable. You are only charged for the compute capacity of your instance (as measured in number of nodes or processing units), the amount of storage that your database's tables and secondary indexes use (not pre-provisioned), backup storage, and the amount of network egress. Note that there is no additional charge for replication of data between zones or regions in an instance. </a:t>
            </a:r>
          </a:p>
        </p:txBody>
      </p:sp>
    </p:spTree>
    <p:extLst>
      <p:ext uri="{BB962C8B-B14F-4D97-AF65-F5344CB8AC3E}">
        <p14:creationId xmlns:p14="http://schemas.microsoft.com/office/powerpoint/2010/main" val="13361930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18160"/>
          </a:xfrm>
        </p:spPr>
        <p:txBody>
          <a:bodyPr/>
          <a:lstStyle/>
          <a:p>
            <a:r>
              <a:rPr lang="en-US" dirty="0"/>
              <a:t>Cloud SQL</a:t>
            </a:r>
          </a:p>
        </p:txBody>
      </p:sp>
      <p:sp>
        <p:nvSpPr>
          <p:cNvPr id="3" name="Content Placeholder 2"/>
          <p:cNvSpPr>
            <a:spLocks noGrp="1"/>
          </p:cNvSpPr>
          <p:nvPr>
            <p:ph idx="1"/>
          </p:nvPr>
        </p:nvSpPr>
        <p:spPr>
          <a:xfrm>
            <a:off x="0" y="853440"/>
            <a:ext cx="9074331" cy="3886200"/>
          </a:xfrm>
        </p:spPr>
        <p:txBody>
          <a:bodyPr/>
          <a:lstStyle/>
          <a:p>
            <a:r>
              <a:rPr lang="en-US" sz="2400" dirty="0"/>
              <a:t>Fully managed relational database service for MySQL, PostgreSQL, and SQL Server. Run the same relational databases you know with their rich extension collections, configuration flags and developer ecosystem, but without the hassle of self management.</a:t>
            </a:r>
          </a:p>
          <a:p>
            <a:r>
              <a:rPr lang="en-US" sz="2400" dirty="0"/>
              <a:t>Reduce maintenance cost with fully managed MySQL, PostgreSQL and SQL Server databases</a:t>
            </a:r>
          </a:p>
          <a:p>
            <a:r>
              <a:rPr lang="en-US" sz="2400" dirty="0"/>
              <a:t>Ensure business continuity with reliable and secure services backed by 24/7 SRE team</a:t>
            </a:r>
          </a:p>
          <a:p>
            <a:r>
              <a:rPr lang="en-US" sz="2400" dirty="0"/>
              <a:t>Automate database provisioning, storage capacity management, and other time-consuming tasks</a:t>
            </a:r>
          </a:p>
          <a:p>
            <a:r>
              <a:rPr lang="en-US" sz="2400" dirty="0"/>
              <a:t>Database observability made easy for developers with Cloud SQL Insights</a:t>
            </a:r>
          </a:p>
          <a:p>
            <a:r>
              <a:rPr lang="en-US" sz="2400" dirty="0"/>
              <a:t>Easy integration with existing apps and Google Cloud services like GKE and </a:t>
            </a:r>
            <a:r>
              <a:rPr lang="en-US" sz="2400" dirty="0" err="1"/>
              <a:t>BigQuery</a:t>
            </a:r>
            <a:endParaRPr lang="en-US" sz="2400" dirty="0"/>
          </a:p>
          <a:p>
            <a:endParaRPr lang="en-US" sz="2400" dirty="0"/>
          </a:p>
        </p:txBody>
      </p:sp>
    </p:spTree>
    <p:extLst>
      <p:ext uri="{BB962C8B-B14F-4D97-AF65-F5344CB8AC3E}">
        <p14:creationId xmlns:p14="http://schemas.microsoft.com/office/powerpoint/2010/main" val="10880043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Firestore</a:t>
            </a:r>
            <a:endParaRPr lang="en-US" dirty="0"/>
          </a:p>
        </p:txBody>
      </p:sp>
      <p:sp>
        <p:nvSpPr>
          <p:cNvPr id="3" name="Content Placeholder 2"/>
          <p:cNvSpPr>
            <a:spLocks noGrp="1"/>
          </p:cNvSpPr>
          <p:nvPr>
            <p:ph idx="1"/>
          </p:nvPr>
        </p:nvSpPr>
        <p:spPr>
          <a:xfrm>
            <a:off x="396240" y="1676400"/>
            <a:ext cx="8229600" cy="3886200"/>
          </a:xfrm>
        </p:spPr>
        <p:txBody>
          <a:bodyPr/>
          <a:lstStyle/>
          <a:p>
            <a:r>
              <a:rPr lang="en-US" sz="2400" dirty="0"/>
              <a:t>Easily develop rich applications using a fully managed, scalable, and </a:t>
            </a:r>
            <a:r>
              <a:rPr lang="en-US" sz="2400" dirty="0" err="1"/>
              <a:t>serverless</a:t>
            </a:r>
            <a:r>
              <a:rPr lang="en-US" sz="2400" dirty="0"/>
              <a:t> document database.</a:t>
            </a:r>
          </a:p>
          <a:p>
            <a:r>
              <a:rPr lang="en-US" sz="2400" dirty="0" err="1"/>
              <a:t>Serverless</a:t>
            </a:r>
            <a:r>
              <a:rPr lang="en-US" sz="2400" dirty="0"/>
              <a:t> document database that effortlessly scales to meet any demand, with no maintenance</a:t>
            </a:r>
          </a:p>
          <a:p>
            <a:r>
              <a:rPr lang="en-US" sz="2400" dirty="0"/>
              <a:t>Accelerate development of mobile, web, and </a:t>
            </a:r>
            <a:r>
              <a:rPr lang="en-US" sz="2400" dirty="0" err="1"/>
              <a:t>IoT</a:t>
            </a:r>
            <a:r>
              <a:rPr lang="en-US" sz="2400" dirty="0"/>
              <a:t> apps with direct connectivity to the database</a:t>
            </a:r>
          </a:p>
          <a:p>
            <a:r>
              <a:rPr lang="en-US" sz="2400" dirty="0"/>
              <a:t>Built-in live synchronization and offline mode makes it easy to develop real-time applications</a:t>
            </a:r>
          </a:p>
          <a:p>
            <a:r>
              <a:rPr lang="en-US" sz="2400" dirty="0"/>
              <a:t>Fully customizable security and data validation rules to ensure the data is always protected</a:t>
            </a:r>
          </a:p>
          <a:p>
            <a:r>
              <a:rPr lang="en-US" sz="2400" dirty="0"/>
              <a:t>Seamless integration with Firebase and Google Cloud services like Cloud Functions and </a:t>
            </a:r>
            <a:r>
              <a:rPr lang="en-US" sz="2400" dirty="0" err="1"/>
              <a:t>BigQuery</a:t>
            </a:r>
            <a:br>
              <a:rPr lang="en-US" sz="2400" dirty="0"/>
            </a:br>
            <a:endParaRPr lang="en-US" sz="2400" dirty="0"/>
          </a:p>
        </p:txBody>
      </p:sp>
    </p:spTree>
    <p:extLst>
      <p:ext uri="{BB962C8B-B14F-4D97-AF65-F5344CB8AC3E}">
        <p14:creationId xmlns:p14="http://schemas.microsoft.com/office/powerpoint/2010/main" val="22318680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Pricing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82712226"/>
              </p:ext>
            </p:extLst>
          </p:nvPr>
        </p:nvGraphicFramePr>
        <p:xfrm>
          <a:off x="949234" y="1759128"/>
          <a:ext cx="7358743" cy="4685214"/>
        </p:xfrm>
        <a:graphic>
          <a:graphicData uri="http://schemas.openxmlformats.org/drawingml/2006/table">
            <a:tbl>
              <a:tblPr/>
              <a:tblGrid>
                <a:gridCol w="3422671">
                  <a:extLst>
                    <a:ext uri="{9D8B030D-6E8A-4147-A177-3AD203B41FA5}">
                      <a16:colId xmlns:a16="http://schemas.microsoft.com/office/drawing/2014/main" val="1085049471"/>
                    </a:ext>
                  </a:extLst>
                </a:gridCol>
                <a:gridCol w="3936072">
                  <a:extLst>
                    <a:ext uri="{9D8B030D-6E8A-4147-A177-3AD203B41FA5}">
                      <a16:colId xmlns:a16="http://schemas.microsoft.com/office/drawing/2014/main" val="4116079143"/>
                    </a:ext>
                  </a:extLst>
                </a:gridCol>
              </a:tblGrid>
              <a:tr h="780869">
                <a:tc>
                  <a:txBody>
                    <a:bodyPr/>
                    <a:lstStyle/>
                    <a:p>
                      <a:pPr algn="l" fontAlgn="t"/>
                      <a:r>
                        <a:rPr lang="en-US" sz="1700" b="0" cap="all">
                          <a:solidFill>
                            <a:srgbClr val="202124"/>
                          </a:solidFill>
                          <a:effectLst/>
                          <a:latin typeface="Roboto"/>
                        </a:rPr>
                        <a:t>FEATURE</a:t>
                      </a:r>
                      <a:endParaRPr lang="en-US" sz="1700" b="0" cap="all">
                        <a:solidFill>
                          <a:srgbClr val="5F6368"/>
                        </a:solidFill>
                        <a:effectLst/>
                        <a:latin typeface="Roboto"/>
                      </a:endParaRPr>
                    </a:p>
                  </a:txBody>
                  <a:tcPr marL="84483" marR="84483" marT="197126" marB="197126">
                    <a:lnL>
                      <a:noFill/>
                    </a:lnL>
                    <a:lnR>
                      <a:noFill/>
                    </a:lnR>
                    <a:lnT>
                      <a:noFill/>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700" b="0" cap="all">
                          <a:solidFill>
                            <a:srgbClr val="202124"/>
                          </a:solidFill>
                          <a:effectLst/>
                          <a:latin typeface="Roboto"/>
                        </a:rPr>
                        <a:t>PRICE</a:t>
                      </a:r>
                      <a:endParaRPr lang="en-US" sz="1700" b="0" cap="all">
                        <a:solidFill>
                          <a:srgbClr val="5F6368"/>
                        </a:solidFill>
                        <a:effectLst/>
                        <a:latin typeface="Roboto"/>
                      </a:endParaRPr>
                    </a:p>
                  </a:txBody>
                  <a:tcPr marL="168965" marR="84483" marT="197126" marB="197126">
                    <a:lnL>
                      <a:noFill/>
                    </a:lnL>
                    <a:lnR>
                      <a:noFill/>
                    </a:lnR>
                    <a:lnT>
                      <a:noFill/>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1550777571"/>
                  </a:ext>
                </a:extLst>
              </a:tr>
              <a:tr h="780869">
                <a:tc>
                  <a:txBody>
                    <a:bodyPr/>
                    <a:lstStyle/>
                    <a:p>
                      <a:pPr algn="l" fontAlgn="t"/>
                      <a:r>
                        <a:rPr lang="en-US" sz="1700" b="0">
                          <a:solidFill>
                            <a:srgbClr val="5F6368"/>
                          </a:solidFill>
                          <a:effectLst/>
                          <a:latin typeface="Roboto"/>
                        </a:rPr>
                        <a:t>Stored data</a:t>
                      </a:r>
                      <a:endParaRPr lang="en-US" sz="1700">
                        <a:solidFill>
                          <a:srgbClr val="5F6368"/>
                        </a:solidFill>
                        <a:effectLst/>
                      </a:endParaRPr>
                    </a:p>
                  </a:txBody>
                  <a:tcPr marL="84483" marR="84483" marT="197126" marB="197126">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700" b="0">
                          <a:solidFill>
                            <a:srgbClr val="5F6368"/>
                          </a:solidFill>
                          <a:effectLst/>
                          <a:latin typeface="Roboto"/>
                        </a:rPr>
                        <a:t>$0.18/GB</a:t>
                      </a:r>
                      <a:endParaRPr lang="en-US" sz="1700">
                        <a:solidFill>
                          <a:srgbClr val="5F6368"/>
                        </a:solidFill>
                        <a:effectLst/>
                      </a:endParaRPr>
                    </a:p>
                  </a:txBody>
                  <a:tcPr marL="168965" marR="84483" marT="197126" marB="197126">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1545216782"/>
                  </a:ext>
                </a:extLst>
              </a:tr>
              <a:tr h="780869">
                <a:tc>
                  <a:txBody>
                    <a:bodyPr/>
                    <a:lstStyle/>
                    <a:p>
                      <a:pPr algn="l" fontAlgn="t"/>
                      <a:r>
                        <a:rPr lang="en-US" sz="1700" b="0">
                          <a:solidFill>
                            <a:srgbClr val="5F6368"/>
                          </a:solidFill>
                          <a:effectLst/>
                          <a:latin typeface="Roboto"/>
                        </a:rPr>
                        <a:t>Bandwidth</a:t>
                      </a:r>
                      <a:endParaRPr lang="en-US" sz="1700">
                        <a:solidFill>
                          <a:srgbClr val="5F6368"/>
                        </a:solidFill>
                        <a:effectLst/>
                      </a:endParaRPr>
                    </a:p>
                  </a:txBody>
                  <a:tcPr marL="84483" marR="84483" marT="197126" marB="197126">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700" b="0" u="sng">
                          <a:solidFill>
                            <a:srgbClr val="1967D2"/>
                          </a:solidFill>
                          <a:effectLst/>
                          <a:latin typeface="Roboto"/>
                          <a:hlinkClick r:id="rId2"/>
                        </a:rPr>
                        <a:t>Google Cloud pricing</a:t>
                      </a:r>
                      <a:endParaRPr lang="en-US" sz="1700">
                        <a:solidFill>
                          <a:srgbClr val="5F6368"/>
                        </a:solidFill>
                        <a:effectLst/>
                      </a:endParaRPr>
                    </a:p>
                  </a:txBody>
                  <a:tcPr marL="168965" marR="84483" marT="197126" marB="197126">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900878616"/>
                  </a:ext>
                </a:extLst>
              </a:tr>
              <a:tr h="780869">
                <a:tc>
                  <a:txBody>
                    <a:bodyPr/>
                    <a:lstStyle/>
                    <a:p>
                      <a:pPr algn="l" fontAlgn="t"/>
                      <a:r>
                        <a:rPr lang="en-US" sz="1700" b="0">
                          <a:solidFill>
                            <a:srgbClr val="5F6368"/>
                          </a:solidFill>
                          <a:effectLst/>
                          <a:latin typeface="Roboto"/>
                        </a:rPr>
                        <a:t>Document writes</a:t>
                      </a:r>
                      <a:endParaRPr lang="en-US" sz="1700">
                        <a:solidFill>
                          <a:srgbClr val="5F6368"/>
                        </a:solidFill>
                        <a:effectLst/>
                      </a:endParaRPr>
                    </a:p>
                  </a:txBody>
                  <a:tcPr marL="84483" marR="84483" marT="197126" marB="197126">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700" b="0">
                          <a:solidFill>
                            <a:srgbClr val="5F6368"/>
                          </a:solidFill>
                          <a:effectLst/>
                          <a:latin typeface="Roboto"/>
                        </a:rPr>
                        <a:t>$0.18/100K</a:t>
                      </a:r>
                      <a:endParaRPr lang="en-US" sz="1700">
                        <a:solidFill>
                          <a:srgbClr val="5F6368"/>
                        </a:solidFill>
                        <a:effectLst/>
                      </a:endParaRPr>
                    </a:p>
                  </a:txBody>
                  <a:tcPr marL="168965" marR="84483" marT="197126" marB="197126">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2233855510"/>
                  </a:ext>
                </a:extLst>
              </a:tr>
              <a:tr h="780869">
                <a:tc>
                  <a:txBody>
                    <a:bodyPr/>
                    <a:lstStyle/>
                    <a:p>
                      <a:pPr algn="l" fontAlgn="t"/>
                      <a:r>
                        <a:rPr lang="en-US" sz="1700" b="0">
                          <a:solidFill>
                            <a:srgbClr val="5F6368"/>
                          </a:solidFill>
                          <a:effectLst/>
                          <a:latin typeface="Roboto"/>
                        </a:rPr>
                        <a:t>Document reads</a:t>
                      </a:r>
                      <a:endParaRPr lang="en-US" sz="1700">
                        <a:solidFill>
                          <a:srgbClr val="5F6368"/>
                        </a:solidFill>
                        <a:effectLst/>
                      </a:endParaRPr>
                    </a:p>
                  </a:txBody>
                  <a:tcPr marL="84483" marR="84483" marT="197126" marB="197126">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tc>
                  <a:txBody>
                    <a:bodyPr/>
                    <a:lstStyle/>
                    <a:p>
                      <a:pPr algn="l" fontAlgn="t"/>
                      <a:r>
                        <a:rPr lang="en-US" sz="1700" b="0">
                          <a:solidFill>
                            <a:srgbClr val="5F6368"/>
                          </a:solidFill>
                          <a:effectLst/>
                          <a:latin typeface="Roboto"/>
                        </a:rPr>
                        <a:t>$0.06/100K</a:t>
                      </a:r>
                      <a:endParaRPr lang="en-US" sz="1700">
                        <a:solidFill>
                          <a:srgbClr val="5F6368"/>
                        </a:solidFill>
                        <a:effectLst/>
                      </a:endParaRPr>
                    </a:p>
                  </a:txBody>
                  <a:tcPr marL="168965" marR="84483" marT="197126" marB="197126">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solidFill>
                      <a:srgbClr val="F8F9FA"/>
                    </a:solidFill>
                  </a:tcPr>
                </a:tc>
                <a:extLst>
                  <a:ext uri="{0D108BD9-81ED-4DB2-BD59-A6C34878D82A}">
                    <a16:rowId xmlns:a16="http://schemas.microsoft.com/office/drawing/2014/main" val="2895838894"/>
                  </a:ext>
                </a:extLst>
              </a:tr>
              <a:tr h="780869">
                <a:tc>
                  <a:txBody>
                    <a:bodyPr/>
                    <a:lstStyle/>
                    <a:p>
                      <a:pPr algn="l" fontAlgn="t"/>
                      <a:r>
                        <a:rPr lang="en-US" sz="1700" b="0" dirty="0">
                          <a:solidFill>
                            <a:srgbClr val="5F6368"/>
                          </a:solidFill>
                          <a:effectLst/>
                          <a:latin typeface="Roboto"/>
                        </a:rPr>
                        <a:t>Document deletes</a:t>
                      </a:r>
                      <a:endParaRPr lang="en-US" sz="1700" dirty="0">
                        <a:solidFill>
                          <a:srgbClr val="5F6368"/>
                        </a:solidFill>
                        <a:effectLst/>
                      </a:endParaRPr>
                    </a:p>
                  </a:txBody>
                  <a:tcPr marL="84483" marR="84483" marT="197126" marB="197126">
                    <a:lnL>
                      <a:noFill/>
                    </a:lnL>
                    <a:lnR>
                      <a:noFill/>
                    </a:lnR>
                    <a:lnT w="7620" cap="flat" cmpd="sng" algn="ctr">
                      <a:solidFill>
                        <a:srgbClr val="DADCE0"/>
                      </a:solidFill>
                      <a:prstDash val="solid"/>
                      <a:round/>
                      <a:headEnd type="none" w="med" len="med"/>
                      <a:tailEnd type="none" w="med" len="med"/>
                    </a:lnT>
                    <a:lnB>
                      <a:noFill/>
                    </a:lnB>
                    <a:solidFill>
                      <a:srgbClr val="F8F9FA"/>
                    </a:solidFill>
                  </a:tcPr>
                </a:tc>
                <a:tc>
                  <a:txBody>
                    <a:bodyPr/>
                    <a:lstStyle/>
                    <a:p>
                      <a:pPr algn="l" fontAlgn="t"/>
                      <a:r>
                        <a:rPr lang="en-US" sz="1700" b="0" dirty="0">
                          <a:solidFill>
                            <a:srgbClr val="5F6368"/>
                          </a:solidFill>
                          <a:effectLst/>
                          <a:latin typeface="Roboto"/>
                        </a:rPr>
                        <a:t>$0.02/100K</a:t>
                      </a:r>
                      <a:endParaRPr lang="en-US" sz="1700" dirty="0">
                        <a:solidFill>
                          <a:srgbClr val="5F6368"/>
                        </a:solidFill>
                        <a:effectLst/>
                      </a:endParaRPr>
                    </a:p>
                  </a:txBody>
                  <a:tcPr marL="168965" marR="84483" marT="197126" marB="197126">
                    <a:lnL>
                      <a:noFill/>
                    </a:lnL>
                    <a:lnR>
                      <a:noFill/>
                    </a:lnR>
                    <a:lnT w="7620" cap="flat" cmpd="sng" algn="ctr">
                      <a:solidFill>
                        <a:srgbClr val="DADCE0"/>
                      </a:solidFill>
                      <a:prstDash val="solid"/>
                      <a:round/>
                      <a:headEnd type="none" w="med" len="med"/>
                      <a:tailEnd type="none" w="med" len="med"/>
                    </a:lnT>
                    <a:lnB>
                      <a:noFill/>
                    </a:lnB>
                    <a:solidFill>
                      <a:srgbClr val="F8F9FA"/>
                    </a:solidFill>
                  </a:tcPr>
                </a:tc>
                <a:extLst>
                  <a:ext uri="{0D108BD9-81ED-4DB2-BD59-A6C34878D82A}">
                    <a16:rowId xmlns:a16="http://schemas.microsoft.com/office/drawing/2014/main" val="2699091816"/>
                  </a:ext>
                </a:extLst>
              </a:tr>
            </a:tbl>
          </a:graphicData>
        </a:graphic>
      </p:graphicFrame>
    </p:spTree>
    <p:extLst>
      <p:ext uri="{BB962C8B-B14F-4D97-AF65-F5344CB8AC3E}">
        <p14:creationId xmlns:p14="http://schemas.microsoft.com/office/powerpoint/2010/main" val="288804674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1"/>
            <a:ext cx="8229600" cy="522514"/>
          </a:xfrm>
        </p:spPr>
        <p:txBody>
          <a:bodyPr/>
          <a:lstStyle/>
          <a:p>
            <a:r>
              <a:rPr lang="en-US" dirty="0"/>
              <a:t>Firebase </a:t>
            </a:r>
            <a:r>
              <a:rPr lang="en-US" dirty="0" err="1"/>
              <a:t>Realtime</a:t>
            </a:r>
            <a:r>
              <a:rPr lang="en-US" dirty="0"/>
              <a:t> Database</a:t>
            </a:r>
          </a:p>
        </p:txBody>
      </p:sp>
      <p:sp>
        <p:nvSpPr>
          <p:cNvPr id="3" name="Content Placeholder 2"/>
          <p:cNvSpPr>
            <a:spLocks noGrp="1"/>
          </p:cNvSpPr>
          <p:nvPr>
            <p:ph idx="1"/>
          </p:nvPr>
        </p:nvSpPr>
        <p:spPr>
          <a:xfrm>
            <a:off x="0" y="979714"/>
            <a:ext cx="9056914" cy="3886200"/>
          </a:xfrm>
        </p:spPr>
        <p:txBody>
          <a:bodyPr/>
          <a:lstStyle/>
          <a:p>
            <a:r>
              <a:rPr lang="en-US" sz="2400" dirty="0"/>
              <a:t>Store and sync data in real time</a:t>
            </a:r>
          </a:p>
          <a:p>
            <a:r>
              <a:rPr lang="en-US" sz="2400" dirty="0"/>
              <a:t>The Firebase </a:t>
            </a:r>
            <a:r>
              <a:rPr lang="en-US" sz="2400" dirty="0" err="1"/>
              <a:t>Realtime</a:t>
            </a:r>
            <a:r>
              <a:rPr lang="en-US" sz="2400" dirty="0"/>
              <a:t> Database is a cloud-hosted NoSQL database that lets you store and sync data between your users in </a:t>
            </a:r>
            <a:r>
              <a:rPr lang="en-US" sz="2400" dirty="0" err="1"/>
              <a:t>realtime</a:t>
            </a:r>
            <a:r>
              <a:rPr lang="en-US" sz="2400" dirty="0"/>
              <a:t>.</a:t>
            </a:r>
          </a:p>
          <a:p>
            <a:r>
              <a:rPr lang="en-US" sz="2400" dirty="0" err="1"/>
              <a:t>Realtime</a:t>
            </a:r>
            <a:r>
              <a:rPr lang="en-US" sz="2400" dirty="0"/>
              <a:t> syncing makes it easy for your users to access their data from any device: web or mobile, and it helps your users collaborate with one another.</a:t>
            </a:r>
          </a:p>
          <a:p>
            <a:r>
              <a:rPr lang="en-US" sz="2400" dirty="0" err="1"/>
              <a:t>Realtime</a:t>
            </a:r>
            <a:r>
              <a:rPr lang="en-US" sz="2400" dirty="0"/>
              <a:t> Database ships with mobile and web SDKs so you can build apps without the need of servers. You can also execute backend code that responds to events triggered by your database using Cloud Functions for Firebase.</a:t>
            </a:r>
          </a:p>
          <a:p>
            <a:r>
              <a:rPr lang="en-US" sz="2400" dirty="0"/>
              <a:t>When your users go offline, the </a:t>
            </a:r>
            <a:r>
              <a:rPr lang="en-US" sz="2400" dirty="0" err="1"/>
              <a:t>Realtime</a:t>
            </a:r>
            <a:r>
              <a:rPr lang="en-US" sz="2400" dirty="0"/>
              <a:t> Database SDKs use local cache on the device to serve and store changes. When the device comes online, the local data is automatically synchronized.</a:t>
            </a:r>
          </a:p>
        </p:txBody>
      </p:sp>
    </p:spTree>
    <p:extLst>
      <p:ext uri="{BB962C8B-B14F-4D97-AF65-F5344CB8AC3E}">
        <p14:creationId xmlns:p14="http://schemas.microsoft.com/office/powerpoint/2010/main" val="34903353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Memorystore</a:t>
            </a:r>
            <a:endParaRPr lang="en-US" dirty="0"/>
          </a:p>
        </p:txBody>
      </p:sp>
      <p:sp>
        <p:nvSpPr>
          <p:cNvPr id="3" name="Content Placeholder 2"/>
          <p:cNvSpPr>
            <a:spLocks noGrp="1"/>
          </p:cNvSpPr>
          <p:nvPr>
            <p:ph idx="1"/>
          </p:nvPr>
        </p:nvSpPr>
        <p:spPr/>
        <p:txBody>
          <a:bodyPr/>
          <a:lstStyle/>
          <a:p>
            <a:r>
              <a:rPr lang="en-US" dirty="0"/>
              <a:t>Reduce latency with scalable, secure, and highly available in-memory service for </a:t>
            </a:r>
            <a:r>
              <a:rPr lang="en-US" dirty="0" err="1"/>
              <a:t>Redis</a:t>
            </a:r>
            <a:r>
              <a:rPr lang="en-US" dirty="0"/>
              <a:t> and </a:t>
            </a:r>
            <a:r>
              <a:rPr lang="en-US" dirty="0" err="1"/>
              <a:t>Memcached</a:t>
            </a:r>
            <a:r>
              <a:rPr lang="en-US" dirty="0"/>
              <a:t>.</a:t>
            </a:r>
          </a:p>
          <a:p>
            <a:r>
              <a:rPr lang="en-US" dirty="0"/>
              <a:t>Build application caches that provide sub-millisecond data access</a:t>
            </a:r>
          </a:p>
          <a:p>
            <a:r>
              <a:rPr lang="en-US" dirty="0"/>
              <a:t>100% compatible with open source </a:t>
            </a:r>
            <a:r>
              <a:rPr lang="en-US" dirty="0" err="1"/>
              <a:t>Redis</a:t>
            </a:r>
            <a:r>
              <a:rPr lang="en-US" dirty="0"/>
              <a:t> and </a:t>
            </a:r>
            <a:r>
              <a:rPr lang="en-US" dirty="0" err="1"/>
              <a:t>Memcached</a:t>
            </a:r>
            <a:endParaRPr lang="en-US" dirty="0"/>
          </a:p>
          <a:p>
            <a:r>
              <a:rPr lang="en-US" dirty="0"/>
              <a:t>Migrate your caching layer to cloud with zero code change</a:t>
            </a:r>
            <a:br>
              <a:rPr lang="en-US" dirty="0"/>
            </a:br>
            <a:endParaRPr lang="en-US" dirty="0"/>
          </a:p>
        </p:txBody>
      </p:sp>
    </p:spTree>
    <p:extLst>
      <p:ext uri="{BB962C8B-B14F-4D97-AF65-F5344CB8AC3E}">
        <p14:creationId xmlns:p14="http://schemas.microsoft.com/office/powerpoint/2010/main" val="26155897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lstStyle/>
          <a:p>
            <a:r>
              <a:rPr lang="en-US" dirty="0" err="1"/>
              <a:t>Datastream</a:t>
            </a:r>
            <a:endParaRPr lang="en-US" dirty="0"/>
          </a:p>
        </p:txBody>
      </p:sp>
      <p:sp>
        <p:nvSpPr>
          <p:cNvPr id="3" name="Content Placeholder 2"/>
          <p:cNvSpPr>
            <a:spLocks noGrp="1"/>
          </p:cNvSpPr>
          <p:nvPr>
            <p:ph idx="1"/>
          </p:nvPr>
        </p:nvSpPr>
        <p:spPr>
          <a:xfrm>
            <a:off x="195943" y="1219200"/>
            <a:ext cx="8651966" cy="3886200"/>
          </a:xfrm>
        </p:spPr>
        <p:txBody>
          <a:bodyPr/>
          <a:lstStyle/>
          <a:p>
            <a:r>
              <a:rPr lang="en-US" sz="2400" dirty="0" err="1"/>
              <a:t>Serverless</a:t>
            </a:r>
            <a:r>
              <a:rPr lang="en-US" sz="2400" dirty="0"/>
              <a:t> and easy-to-use change data capture and replication service.</a:t>
            </a:r>
          </a:p>
          <a:p>
            <a:r>
              <a:rPr lang="en-US" sz="2400" dirty="0"/>
              <a:t>Access to streaming, low-latency data from Oracle and MySQL databases</a:t>
            </a:r>
          </a:p>
          <a:p>
            <a:r>
              <a:rPr lang="en-US" sz="2400" dirty="0"/>
              <a:t>Powers real-time analytics, heterogeneous database synchronization &amp; event-driven architectures</a:t>
            </a:r>
          </a:p>
          <a:p>
            <a:r>
              <a:rPr lang="en-US" sz="2400" dirty="0" err="1"/>
              <a:t>Serverless</a:t>
            </a:r>
            <a:r>
              <a:rPr lang="en-US" sz="2400" dirty="0"/>
              <a:t> platform that automatically scales, with no resources to provision or manage</a:t>
            </a:r>
          </a:p>
          <a:p>
            <a:r>
              <a:rPr lang="en-US" sz="2400" dirty="0"/>
              <a:t>Easy-to-use setup with built-in secure connectivity for faster time to value</a:t>
            </a:r>
          </a:p>
          <a:p>
            <a:r>
              <a:rPr lang="en-US" sz="2400" dirty="0" err="1"/>
              <a:t>Datastream</a:t>
            </a:r>
            <a:r>
              <a:rPr lang="en-US" sz="2400" dirty="0"/>
              <a:t> reads and delivers every change—insert, update, and delete—from your Oracle and MySQL databases to load data into </a:t>
            </a:r>
            <a:r>
              <a:rPr lang="en-US" sz="2400" u="sng" dirty="0" err="1">
                <a:hlinkClick r:id="rId2"/>
              </a:rPr>
              <a:t>BigQuery</a:t>
            </a:r>
            <a:r>
              <a:rPr lang="en-US" sz="2400" dirty="0"/>
              <a:t>, </a:t>
            </a:r>
            <a:r>
              <a:rPr lang="en-US" sz="2400" u="sng" dirty="0">
                <a:hlinkClick r:id="rId3"/>
              </a:rPr>
              <a:t>Cloud SQL</a:t>
            </a:r>
            <a:r>
              <a:rPr lang="en-US" sz="2400" dirty="0"/>
              <a:t>, </a:t>
            </a:r>
            <a:r>
              <a:rPr lang="en-US" sz="2400" u="sng" dirty="0">
                <a:hlinkClick r:id="rId4"/>
              </a:rPr>
              <a:t>Cloud Storage</a:t>
            </a:r>
            <a:r>
              <a:rPr lang="en-US" sz="2400" dirty="0"/>
              <a:t>, and </a:t>
            </a:r>
            <a:r>
              <a:rPr lang="en-US" sz="2400" u="sng" dirty="0">
                <a:hlinkClick r:id="rId5"/>
              </a:rPr>
              <a:t>Cloud Spanner</a:t>
            </a:r>
            <a:r>
              <a:rPr lang="en-US" sz="2400" dirty="0"/>
              <a:t>.</a:t>
            </a:r>
            <a:br>
              <a:rPr lang="en-US" sz="2400" dirty="0"/>
            </a:br>
            <a:endParaRPr lang="en-US" sz="2400" dirty="0"/>
          </a:p>
        </p:txBody>
      </p:sp>
    </p:spTree>
    <p:extLst>
      <p:ext uri="{BB962C8B-B14F-4D97-AF65-F5344CB8AC3E}">
        <p14:creationId xmlns:p14="http://schemas.microsoft.com/office/powerpoint/2010/main" val="1379565412"/>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40F8797759DCDB4A85695AB6EB890123" ma:contentTypeVersion="4" ma:contentTypeDescription="Създаване на нов документ" ma:contentTypeScope="" ma:versionID="e790d76c258d98a98514f828f38c281f">
  <xsd:schema xmlns:xsd="http://www.w3.org/2001/XMLSchema" xmlns:xs="http://www.w3.org/2001/XMLSchema" xmlns:p="http://schemas.microsoft.com/office/2006/metadata/properties" xmlns:ns2="e7115566-afb6-4371-9ba9-8de1039519ea" targetNamespace="http://schemas.microsoft.com/office/2006/metadata/properties" ma:root="true" ma:fieldsID="43f991bbc6996b371da7d6826b24266f" ns2:_="">
    <xsd:import namespace="e7115566-afb6-4371-9ba9-8de1039519e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115566-afb6-4371-9ba9-8de1039519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FCDC75-AA04-4DFC-9EF4-F04A43D3910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804D370-DC83-42CB-B7E5-8E7683BE8F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115566-afb6-4371-9ba9-8de1039519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AF77B0-4E9F-45D3-A265-6294B1C239D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10421</TotalTime>
  <Words>8017</Words>
  <Application>Microsoft Office PowerPoint</Application>
  <PresentationFormat>Презентация на цял екран (4:3)</PresentationFormat>
  <Paragraphs>549</Paragraphs>
  <Slides>86</Slides>
  <Notes>0</Notes>
  <HiddenSlides>0</HiddenSlides>
  <MMClips>0</MMClips>
  <ScaleCrop>false</ScaleCrop>
  <HeadingPairs>
    <vt:vector size="4" baseType="variant">
      <vt:variant>
        <vt:lpstr>Тема</vt:lpstr>
      </vt:variant>
      <vt:variant>
        <vt:i4>1</vt:i4>
      </vt:variant>
      <vt:variant>
        <vt:lpstr>Заглавия на слайдовете</vt:lpstr>
      </vt:variant>
      <vt:variant>
        <vt:i4>86</vt:i4>
      </vt:variant>
    </vt:vector>
  </HeadingPairs>
  <TitlesOfParts>
    <vt:vector size="87" baseType="lpstr">
      <vt:lpstr>Pixel</vt:lpstr>
      <vt:lpstr>Облачна услуга Google Cloud Platform</vt:lpstr>
      <vt:lpstr>История</vt:lpstr>
      <vt:lpstr>Типове облачни услуги в GCP</vt:lpstr>
      <vt:lpstr>GCP concepts</vt:lpstr>
      <vt:lpstr>Concepts (Cont.)</vt:lpstr>
      <vt:lpstr>Concepts (end)</vt:lpstr>
      <vt:lpstr>Regions and zones</vt:lpstr>
      <vt:lpstr>Cloud locations (17.04.2022)</vt:lpstr>
      <vt:lpstr>Resources Types</vt:lpstr>
      <vt:lpstr>Points of presence (POPs)</vt:lpstr>
      <vt:lpstr>Application deployment considerations</vt:lpstr>
      <vt:lpstr>For compute, use the following strategy:</vt:lpstr>
      <vt:lpstr>Billing </vt:lpstr>
      <vt:lpstr>Google Cloud Free Program</vt:lpstr>
      <vt:lpstr>Free Trial 90-day, $300</vt:lpstr>
      <vt:lpstr>Free Tier</vt:lpstr>
      <vt:lpstr>GCP Regions</vt:lpstr>
      <vt:lpstr>GCP in Europe (17.04.2022)</vt:lpstr>
      <vt:lpstr>Google Data Centers</vt:lpstr>
      <vt:lpstr>Locations</vt:lpstr>
      <vt:lpstr>Networks</vt:lpstr>
      <vt:lpstr>Categories</vt:lpstr>
      <vt:lpstr>Compute</vt:lpstr>
      <vt:lpstr>App Engine</vt:lpstr>
      <vt:lpstr>App Engine environments</vt:lpstr>
      <vt:lpstr>Standard environment</vt:lpstr>
      <vt:lpstr>Flexible environment</vt:lpstr>
      <vt:lpstr>Comparizon</vt:lpstr>
      <vt:lpstr>Bare Metal Solution for Oracle</vt:lpstr>
      <vt:lpstr>Cloud GPUs</vt:lpstr>
      <vt:lpstr>Cloud Run</vt:lpstr>
      <vt:lpstr>Compute Engine</vt:lpstr>
      <vt:lpstr>Virtual machine types</vt:lpstr>
      <vt:lpstr>Презентация на PowerPoint</vt:lpstr>
      <vt:lpstr>Презентация на PowerPoint</vt:lpstr>
      <vt:lpstr>Typical application</vt:lpstr>
      <vt:lpstr>Other features</vt:lpstr>
      <vt:lpstr>Презентация на PowerPoint</vt:lpstr>
      <vt:lpstr>Migrate for Compute Engine</vt:lpstr>
      <vt:lpstr>Spot VMs</vt:lpstr>
      <vt:lpstr>Shielded VMs</vt:lpstr>
      <vt:lpstr>Sole-tenant nodes</vt:lpstr>
      <vt:lpstr>SQL Server on Google Cloud</vt:lpstr>
      <vt:lpstr>Google Cloud VMware Engine</vt:lpstr>
      <vt:lpstr>Storage</vt:lpstr>
      <vt:lpstr>Storage Transfer Service</vt:lpstr>
      <vt:lpstr>Explore common use cases for Storage Transfer Service</vt:lpstr>
      <vt:lpstr>Cloud Storage</vt:lpstr>
      <vt:lpstr>Storage classes for any workload</vt:lpstr>
      <vt:lpstr>Filestore</vt:lpstr>
      <vt:lpstr>Filestore Use cases</vt:lpstr>
      <vt:lpstr>Filestore Use cases (Cont.)</vt:lpstr>
      <vt:lpstr>Filestore performance tiers:</vt:lpstr>
      <vt:lpstr>Local SSD</vt:lpstr>
      <vt:lpstr>Persistent Disk</vt:lpstr>
      <vt:lpstr>Key features</vt:lpstr>
      <vt:lpstr>Features</vt:lpstr>
      <vt:lpstr>Pricing</vt:lpstr>
      <vt:lpstr>Networking</vt:lpstr>
      <vt:lpstr>Google Cloud Armor</vt:lpstr>
      <vt:lpstr>Презентация на PowerPoint</vt:lpstr>
      <vt:lpstr>Pricing</vt:lpstr>
      <vt:lpstr>Cloud CDN</vt:lpstr>
      <vt:lpstr>Using Cloud CDN with HTTP(S) load balancing</vt:lpstr>
      <vt:lpstr>DNS Services</vt:lpstr>
      <vt:lpstr>Cloud IDS</vt:lpstr>
      <vt:lpstr>Cloud IDS example</vt:lpstr>
      <vt:lpstr>Cloud Load Balancing</vt:lpstr>
      <vt:lpstr>Connection options</vt:lpstr>
      <vt:lpstr>Network Connectivity Center</vt:lpstr>
      <vt:lpstr>Private Service Connect</vt:lpstr>
      <vt:lpstr>Features</vt:lpstr>
      <vt:lpstr>Service Directory</vt:lpstr>
      <vt:lpstr>Virtual Private Cloud (VPC)</vt:lpstr>
      <vt:lpstr>Features</vt:lpstr>
      <vt:lpstr>Презентация на PowerPoint</vt:lpstr>
      <vt:lpstr>Databases</vt:lpstr>
      <vt:lpstr>Cloud Bigtable</vt:lpstr>
      <vt:lpstr>Cloud Spanner</vt:lpstr>
      <vt:lpstr>Example</vt:lpstr>
      <vt:lpstr>Cloud SQL</vt:lpstr>
      <vt:lpstr>Firestore</vt:lpstr>
      <vt:lpstr>Pricing</vt:lpstr>
      <vt:lpstr>Firebase Realtime Database</vt:lpstr>
      <vt:lpstr>Memorystore</vt:lpstr>
      <vt:lpstr>Datastream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Мрежова виртуализация</dc:title>
  <dc:creator>Delian Genkov</dc:creator>
  <cp:lastModifiedBy>Delian Genkov</cp:lastModifiedBy>
  <cp:revision>157</cp:revision>
  <dcterms:created xsi:type="dcterms:W3CDTF">2022-02-14T15:35:12Z</dcterms:created>
  <dcterms:modified xsi:type="dcterms:W3CDTF">2024-06-14T20:04:55Z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0x01010040F8797759DCDB4A85695AB6EB890123</vt:lpwstr>
  </property>
</Properties>
</file>