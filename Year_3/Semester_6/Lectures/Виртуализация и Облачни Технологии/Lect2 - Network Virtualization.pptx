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4" r:id="rId11"/>
    <p:sldId id="290" r:id="rId12"/>
    <p:sldId id="263" r:id="rId13"/>
    <p:sldId id="265" r:id="rId14"/>
    <p:sldId id="266" r:id="rId15"/>
    <p:sldId id="289" r:id="rId16"/>
    <p:sldId id="267" r:id="rId17"/>
    <p:sldId id="268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5" r:id="rId31"/>
    <p:sldId id="269" r:id="rId32"/>
    <p:sldId id="284" r:id="rId33"/>
    <p:sldId id="286" r:id="rId34"/>
    <p:sldId id="287" r:id="rId35"/>
    <p:sldId id="288" r:id="rId36"/>
    <p:sldId id="270" r:id="rId37"/>
    <p:sldId id="271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7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анаил Сапунджиев (22172105)" userId="S::f22172105@students.tugab.bg::2d9b8758-6c6c-4fe6-902b-7ea98cf9a140" providerId="AD" clId="Web-{EB2859A5-BCD6-60B5-E236-5DCD905985BD}"/>
    <pc:docChg chg="modSld">
      <pc:chgData name="Данаил Сапунджиев (22172105)" userId="S::f22172105@students.tugab.bg::2d9b8758-6c6c-4fe6-902b-7ea98cf9a140" providerId="AD" clId="Web-{EB2859A5-BCD6-60B5-E236-5DCD905985BD}" dt="2024-05-17T14:46:26.940" v="4" actId="14100"/>
      <pc:docMkLst>
        <pc:docMk/>
      </pc:docMkLst>
      <pc:sldChg chg="modSp">
        <pc:chgData name="Данаил Сапунджиев (22172105)" userId="S::f22172105@students.tugab.bg::2d9b8758-6c6c-4fe6-902b-7ea98cf9a140" providerId="AD" clId="Web-{EB2859A5-BCD6-60B5-E236-5DCD905985BD}" dt="2024-05-17T14:37:18.612" v="2" actId="14100"/>
        <pc:sldMkLst>
          <pc:docMk/>
          <pc:sldMk cId="2380642458" sldId="261"/>
        </pc:sldMkLst>
        <pc:spChg chg="mod">
          <ac:chgData name="Данаил Сапунджиев (22172105)" userId="S::f22172105@students.tugab.bg::2d9b8758-6c6c-4fe6-902b-7ea98cf9a140" providerId="AD" clId="Web-{EB2859A5-BCD6-60B5-E236-5DCD905985BD}" dt="2024-05-17T14:37:18.612" v="2" actId="14100"/>
          <ac:spMkLst>
            <pc:docMk/>
            <pc:sldMk cId="2380642458" sldId="261"/>
            <ac:spMk id="3" creationId="{00000000-0000-0000-0000-000000000000}"/>
          </ac:spMkLst>
        </pc:spChg>
      </pc:sldChg>
      <pc:sldChg chg="modSp">
        <pc:chgData name="Данаил Сапунджиев (22172105)" userId="S::f22172105@students.tugab.bg::2d9b8758-6c6c-4fe6-902b-7ea98cf9a140" providerId="AD" clId="Web-{EB2859A5-BCD6-60B5-E236-5DCD905985BD}" dt="2024-05-17T14:35:30.731" v="1" actId="14100"/>
        <pc:sldMkLst>
          <pc:docMk/>
          <pc:sldMk cId="1710919416" sldId="268"/>
        </pc:sldMkLst>
        <pc:spChg chg="mod">
          <ac:chgData name="Данаил Сапунджиев (22172105)" userId="S::f22172105@students.tugab.bg::2d9b8758-6c6c-4fe6-902b-7ea98cf9a140" providerId="AD" clId="Web-{EB2859A5-BCD6-60B5-E236-5DCD905985BD}" dt="2024-05-17T14:35:30.731" v="1" actId="14100"/>
          <ac:spMkLst>
            <pc:docMk/>
            <pc:sldMk cId="1710919416" sldId="268"/>
            <ac:spMk id="3" creationId="{00000000-0000-0000-0000-000000000000}"/>
          </ac:spMkLst>
        </pc:spChg>
      </pc:sldChg>
      <pc:sldChg chg="modSp">
        <pc:chgData name="Данаил Сапунджиев (22172105)" userId="S::f22172105@students.tugab.bg::2d9b8758-6c6c-4fe6-902b-7ea98cf9a140" providerId="AD" clId="Web-{EB2859A5-BCD6-60B5-E236-5DCD905985BD}" dt="2024-05-17T14:43:32.086" v="3" actId="14100"/>
        <pc:sldMkLst>
          <pc:docMk/>
          <pc:sldMk cId="307108309" sldId="278"/>
        </pc:sldMkLst>
        <pc:spChg chg="mod">
          <ac:chgData name="Данаил Сапунджиев (22172105)" userId="S::f22172105@students.tugab.bg::2d9b8758-6c6c-4fe6-902b-7ea98cf9a140" providerId="AD" clId="Web-{EB2859A5-BCD6-60B5-E236-5DCD905985BD}" dt="2024-05-17T14:43:32.086" v="3" actId="14100"/>
          <ac:spMkLst>
            <pc:docMk/>
            <pc:sldMk cId="307108309" sldId="278"/>
            <ac:spMk id="6147" creationId="{00000000-0000-0000-0000-000000000000}"/>
          </ac:spMkLst>
        </pc:spChg>
      </pc:sldChg>
      <pc:sldChg chg="modSp">
        <pc:chgData name="Данаил Сапунджиев (22172105)" userId="S::f22172105@students.tugab.bg::2d9b8758-6c6c-4fe6-902b-7ea98cf9a140" providerId="AD" clId="Web-{EB2859A5-BCD6-60B5-E236-5DCD905985BD}" dt="2024-05-17T14:31:56.719" v="0" actId="14100"/>
        <pc:sldMkLst>
          <pc:docMk/>
          <pc:sldMk cId="862689870" sldId="282"/>
        </pc:sldMkLst>
        <pc:spChg chg="mod">
          <ac:chgData name="Данаил Сапунджиев (22172105)" userId="S::f22172105@students.tugab.bg::2d9b8758-6c6c-4fe6-902b-7ea98cf9a140" providerId="AD" clId="Web-{EB2859A5-BCD6-60B5-E236-5DCD905985BD}" dt="2024-05-17T14:31:56.719" v="0" actId="14100"/>
          <ac:spMkLst>
            <pc:docMk/>
            <pc:sldMk cId="862689870" sldId="282"/>
            <ac:spMk id="19459" creationId="{00000000-0000-0000-0000-000000000000}"/>
          </ac:spMkLst>
        </pc:spChg>
      </pc:sldChg>
      <pc:sldChg chg="modSp">
        <pc:chgData name="Данаил Сапунджиев (22172105)" userId="S::f22172105@students.tugab.bg::2d9b8758-6c6c-4fe6-902b-7ea98cf9a140" providerId="AD" clId="Web-{EB2859A5-BCD6-60B5-E236-5DCD905985BD}" dt="2024-05-17T14:46:26.940" v="4" actId="14100"/>
        <pc:sldMkLst>
          <pc:docMk/>
          <pc:sldMk cId="1757692902" sldId="283"/>
        </pc:sldMkLst>
        <pc:spChg chg="mod">
          <ac:chgData name="Данаил Сапунджиев (22172105)" userId="S::f22172105@students.tugab.bg::2d9b8758-6c6c-4fe6-902b-7ea98cf9a140" providerId="AD" clId="Web-{EB2859A5-BCD6-60B5-E236-5DCD905985BD}" dt="2024-05-17T14:46:26.940" v="4" actId="14100"/>
          <ac:spMkLst>
            <pc:docMk/>
            <pc:sldMk cId="1757692902" sldId="283"/>
            <ac:spMk id="4608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bg-BG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bg-BG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6C1D6F-C217-4595-BBDC-A49643DC20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5704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36DEF4-0ECE-4FEB-BF1C-E558251B38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817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F99C6F-6374-4848-995E-C1A2E6E1CB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9380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CA6426-C95A-4582-9425-13990CC4AD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242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911359-362B-4B99-8124-5A1B1D8058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3687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C7FAAC-55EF-42E4-91DB-D6107FB4F3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8121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8188B4-65C4-4EB2-82DD-080716DE93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1111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13D3C8-D15E-425C-812C-798D353282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6885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FCDAE-E3B9-45E1-8D8E-9D6AA891A3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66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A2BE4A-294B-4DBB-BDE3-F97A69BC26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3818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25053-FCEA-4CB6-BA25-2CB3A56577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6827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EBB3657B-8497-440A-8321-1B4C1FA0C0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bg-BG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bg-BG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bg-BG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bg-BG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bg-BG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bg-BG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bg-BG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bg-BG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bg-BG" altLang="en-US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6003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189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377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566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754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537" indent="-228594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726" indent="-228594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8914" indent="-228594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103" indent="-228594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bg-BG" altLang="en-US" sz="4600" dirty="0"/>
              <a:t>Мрежова виртуализация</a:t>
            </a:r>
            <a:endParaRPr lang="en-US" altLang="en-US" sz="460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(Network Virtualization)</a:t>
            </a:r>
          </a:p>
        </p:txBody>
      </p:sp>
    </p:spTree>
    <p:extLst>
      <p:ext uri="{BB962C8B-B14F-4D97-AF65-F5344CB8AC3E}">
        <p14:creationId xmlns:p14="http://schemas.microsoft.com/office/powerpoint/2010/main" val="1181157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bg-BG" altLang="en-US" dirty="0"/>
              <a:t>Мрежова виртуализация</a:t>
            </a:r>
            <a:endParaRPr lang="en-US" alt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bg-BG" altLang="en-US" dirty="0"/>
              <a:t>Достъп на виртуални машини до мрежата</a:t>
            </a:r>
          </a:p>
          <a:p>
            <a:pPr eaLnBrk="1" hangingPunct="1"/>
            <a:r>
              <a:rPr lang="bg-BG" altLang="en-US" dirty="0"/>
              <a:t>Използване на виртуални мрежови устройства</a:t>
            </a:r>
            <a:endParaRPr lang="en-US" altLang="en-US" dirty="0"/>
          </a:p>
          <a:p>
            <a:pPr eaLnBrk="1" hangingPunct="1"/>
            <a:r>
              <a:rPr lang="bg-BG" altLang="en-US" dirty="0"/>
              <a:t>Виртуални локални мрежи (</a:t>
            </a:r>
            <a:r>
              <a:rPr lang="en-US" altLang="en-US" dirty="0"/>
              <a:t>VLAN)</a:t>
            </a:r>
          </a:p>
          <a:p>
            <a:pPr eaLnBrk="1" hangingPunct="1"/>
            <a:r>
              <a:rPr lang="bg-BG" altLang="en-US" dirty="0"/>
              <a:t>Виртуални частни мрежи (</a:t>
            </a:r>
            <a:r>
              <a:rPr lang="en-US" altLang="en-US" dirty="0"/>
              <a:t>VPN)</a:t>
            </a:r>
            <a:endParaRPr lang="bg-BG" altLang="en-US" dirty="0"/>
          </a:p>
          <a:p>
            <a:pPr eaLnBrk="1" hangingPunct="1"/>
            <a:r>
              <a:rPr lang="bg-BG" altLang="en-US" dirty="0"/>
              <a:t>Софтуерно дефинирани мрежи </a:t>
            </a:r>
            <a:r>
              <a:rPr lang="en-US" altLang="en-US" dirty="0"/>
              <a:t>(SDN)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76481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Виртуален мрежов контролер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Vmware</a:t>
            </a:r>
            <a:r>
              <a:rPr lang="en-US" dirty="0"/>
              <a:t> Workstation)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836" y="1981200"/>
            <a:ext cx="8478182" cy="471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447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Виртуален мрежов контролер</a:t>
            </a:r>
            <a:br>
              <a:rPr lang="en-US" dirty="0"/>
            </a:br>
            <a:r>
              <a:rPr lang="en-US" dirty="0"/>
              <a:t>(Oracle </a:t>
            </a:r>
            <a:r>
              <a:rPr lang="en-US" dirty="0" err="1"/>
              <a:t>VirtualBox</a:t>
            </a:r>
            <a:r>
              <a:rPr lang="en-US" dirty="0"/>
              <a:t>)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6575" y="1930400"/>
            <a:ext cx="7463882" cy="438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804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45127"/>
          </a:xfrm>
        </p:spPr>
        <p:txBody>
          <a:bodyPr/>
          <a:lstStyle/>
          <a:p>
            <a:r>
              <a:rPr lang="bg-BG" dirty="0"/>
              <a:t>Видове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697" y="1302327"/>
            <a:ext cx="8570994" cy="5371519"/>
          </a:xfrm>
        </p:spPr>
        <p:txBody>
          <a:bodyPr/>
          <a:lstStyle/>
          <a:p>
            <a:r>
              <a:rPr lang="en-US" dirty="0"/>
              <a:t>NAT</a:t>
            </a:r>
          </a:p>
          <a:p>
            <a:r>
              <a:rPr lang="en-US" dirty="0"/>
              <a:t>Bridge</a:t>
            </a:r>
          </a:p>
          <a:p>
            <a:r>
              <a:rPr lang="en-US" dirty="0"/>
              <a:t>Host-only</a:t>
            </a:r>
          </a:p>
          <a:p>
            <a:r>
              <a:rPr lang="en-US" dirty="0"/>
              <a:t>Specific Virtual Network (Internal Network)</a:t>
            </a:r>
          </a:p>
          <a:p>
            <a:pPr marL="0" indent="0">
              <a:buNone/>
            </a:pPr>
            <a:r>
              <a:rPr lang="en-US" dirty="0"/>
              <a:t>Oracle only:</a:t>
            </a:r>
          </a:p>
          <a:p>
            <a:pPr lvl="1"/>
            <a:r>
              <a:rPr lang="en-US" dirty="0"/>
              <a:t>NAT Network – </a:t>
            </a:r>
            <a:r>
              <a:rPr lang="bg-BG" dirty="0"/>
              <a:t>вътрешна мрежа, позволяваща връзки навън</a:t>
            </a:r>
          </a:p>
          <a:p>
            <a:pPr lvl="1"/>
            <a:r>
              <a:rPr lang="en-US" dirty="0"/>
              <a:t>Generic Driver – </a:t>
            </a:r>
            <a:r>
              <a:rPr lang="bg-BG" dirty="0"/>
              <a:t>специални (</a:t>
            </a:r>
            <a:r>
              <a:rPr lang="en-US" dirty="0"/>
              <a:t>UDP Tunnel, VDE)</a:t>
            </a:r>
          </a:p>
          <a:p>
            <a:pPr lvl="1"/>
            <a:r>
              <a:rPr lang="en-US" dirty="0"/>
              <a:t>Cloud Network</a:t>
            </a:r>
          </a:p>
          <a:p>
            <a:pPr lvl="1"/>
            <a:endParaRPr lang="bg-BG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642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57200"/>
            <a:ext cx="8409709" cy="808182"/>
          </a:xfrm>
        </p:spPr>
        <p:txBody>
          <a:bodyPr/>
          <a:lstStyle/>
          <a:p>
            <a:r>
              <a:rPr lang="bg-BG" dirty="0"/>
              <a:t>Виртуален комутатор </a:t>
            </a:r>
            <a:r>
              <a:rPr lang="en-US" dirty="0"/>
              <a:t>(</a:t>
            </a:r>
            <a:r>
              <a:rPr lang="en-US" dirty="0" err="1"/>
              <a:t>Vmware</a:t>
            </a:r>
            <a:r>
              <a:rPr lang="en-US" dirty="0"/>
              <a:t>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857" y="1303123"/>
            <a:ext cx="5724288" cy="54698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966" y="3025127"/>
            <a:ext cx="32766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022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Hyper-V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6364" y="1624859"/>
            <a:ext cx="5394035" cy="508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476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Достъп до физически адаптер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Switched</a:t>
            </a:r>
          </a:p>
          <a:p>
            <a:r>
              <a:rPr lang="en-US" dirty="0"/>
              <a:t>VLAN</a:t>
            </a:r>
          </a:p>
          <a:p>
            <a:r>
              <a:rPr lang="en-US" dirty="0"/>
              <a:t>Port Channel</a:t>
            </a:r>
          </a:p>
          <a:p>
            <a:r>
              <a:rPr lang="bg-BG" dirty="0"/>
              <a:t>Комбинация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287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Други виртуални комутатори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Cisco Nexus 1000V</a:t>
            </a:r>
          </a:p>
          <a:p>
            <a:r>
              <a:rPr lang="en-US" dirty="0"/>
              <a:t>Open </a:t>
            </a:r>
            <a:r>
              <a:rPr lang="en-US" dirty="0" err="1"/>
              <a:t>vSwitch</a:t>
            </a:r>
            <a:endParaRPr lang="en-US" dirty="0"/>
          </a:p>
          <a:p>
            <a:r>
              <a:rPr lang="en-US" dirty="0"/>
              <a:t>Huawei </a:t>
            </a:r>
            <a:r>
              <a:rPr lang="en-US" dirty="0" err="1"/>
              <a:t>CloudEngine</a:t>
            </a:r>
            <a:r>
              <a:rPr lang="en-US" dirty="0"/>
              <a:t> 1800V Virtual Switch</a:t>
            </a:r>
            <a:endParaRPr lang="bg-BG" dirty="0"/>
          </a:p>
          <a:p>
            <a:r>
              <a:rPr lang="en-US" dirty="0" err="1"/>
              <a:t>Kaloom</a:t>
            </a:r>
            <a:r>
              <a:rPr lang="en-US" dirty="0"/>
              <a:t>™ Virtual Switch</a:t>
            </a:r>
          </a:p>
        </p:txBody>
      </p:sp>
    </p:spTree>
    <p:extLst>
      <p:ext uri="{BB962C8B-B14F-4D97-AF65-F5344CB8AC3E}">
        <p14:creationId xmlns:p14="http://schemas.microsoft.com/office/powerpoint/2010/main" val="3214031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Виртуални маршрутизатори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VyOS</a:t>
            </a:r>
            <a:r>
              <a:rPr lang="en-US" dirty="0"/>
              <a:t> – free</a:t>
            </a:r>
          </a:p>
          <a:p>
            <a:r>
              <a:rPr lang="en-US" dirty="0"/>
              <a:t>Cisco Integrated Services Virtual Router</a:t>
            </a:r>
          </a:p>
          <a:p>
            <a:r>
              <a:rPr lang="en-US" dirty="0" err="1"/>
              <a:t>Mikrotik</a:t>
            </a:r>
            <a:r>
              <a:rPr lang="en-US" dirty="0"/>
              <a:t> Cloud Hosted Router (</a:t>
            </a:r>
            <a:r>
              <a:rPr lang="en-US" dirty="0" err="1"/>
              <a:t>RouterOS</a:t>
            </a:r>
            <a:r>
              <a:rPr lang="en-US" dirty="0"/>
              <a:t>)</a:t>
            </a:r>
          </a:p>
          <a:p>
            <a:r>
              <a:rPr lang="en-US" dirty="0"/>
              <a:t>Juniper </a:t>
            </a:r>
            <a:r>
              <a:rPr lang="en-US" dirty="0" err="1"/>
              <a:t>vMX</a:t>
            </a:r>
            <a:r>
              <a:rPr lang="en-US" dirty="0"/>
              <a:t> Universal Routing Platform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084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Виртуални защитни стени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Cisco </a:t>
            </a:r>
            <a:r>
              <a:rPr lang="en-US" dirty="0" err="1"/>
              <a:t>ASAv</a:t>
            </a:r>
            <a:endParaRPr lang="en-US" dirty="0"/>
          </a:p>
          <a:p>
            <a:r>
              <a:rPr lang="en-US" dirty="0"/>
              <a:t>Checkpoint</a:t>
            </a:r>
          </a:p>
          <a:p>
            <a:r>
              <a:rPr lang="en-US" dirty="0"/>
              <a:t>F5</a:t>
            </a:r>
          </a:p>
          <a:p>
            <a:r>
              <a:rPr lang="en-US" dirty="0"/>
              <a:t>Palo Alto</a:t>
            </a:r>
          </a:p>
          <a:p>
            <a:r>
              <a:rPr lang="en-US" dirty="0" err="1"/>
              <a:t>PFSence</a:t>
            </a:r>
            <a:endParaRPr lang="en-US" dirty="0"/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20156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Balancer</a:t>
            </a:r>
          </a:p>
        </p:txBody>
      </p:sp>
      <p:pic>
        <p:nvPicPr>
          <p:cNvPr id="1026" name="Picture 2" descr="https://miro.medium.com/max/875/1*tEaZGz-p1-E2ytNjl5RPJg.jpe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928" y="1648485"/>
            <a:ext cx="6825672" cy="4932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2272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Виртуален </a:t>
            </a:r>
            <a:r>
              <a:rPr lang="en-US" dirty="0"/>
              <a:t>Load Balancer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Free </a:t>
            </a:r>
            <a:r>
              <a:rPr lang="en-US" dirty="0" err="1"/>
              <a:t>LoadMaster</a:t>
            </a:r>
            <a:r>
              <a:rPr lang="en-US" dirty="0"/>
              <a:t> Load Balancer</a:t>
            </a:r>
          </a:p>
          <a:p>
            <a:r>
              <a:rPr lang="en-US" dirty="0"/>
              <a:t>Kemp</a:t>
            </a:r>
          </a:p>
          <a:p>
            <a:r>
              <a:rPr lang="en-US" dirty="0"/>
              <a:t>F5</a:t>
            </a:r>
          </a:p>
          <a:p>
            <a:r>
              <a:rPr lang="en-US" dirty="0" err="1"/>
              <a:t>nginx</a:t>
            </a:r>
            <a:endParaRPr lang="en-US" dirty="0"/>
          </a:p>
          <a:p>
            <a:r>
              <a:rPr lang="en-US" dirty="0" err="1"/>
              <a:t>HAProxy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6515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Виртуални мрежи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431590"/>
          </a:xfrm>
        </p:spPr>
        <p:txBody>
          <a:bodyPr/>
          <a:lstStyle/>
          <a:p>
            <a:r>
              <a:rPr lang="en-US" dirty="0"/>
              <a:t>Virtual Local Area Network (VLAN) – </a:t>
            </a:r>
            <a:r>
              <a:rPr lang="bg-BG" dirty="0"/>
              <a:t>за разделяне на ресурси на една физическа инфраструктура</a:t>
            </a:r>
          </a:p>
          <a:p>
            <a:r>
              <a:rPr lang="en-US" dirty="0"/>
              <a:t>Virtual Private Network (VPN) – </a:t>
            </a:r>
            <a:r>
              <a:rPr lang="bg-BG" dirty="0"/>
              <a:t>за свързване на ресурси на различни инфраструктури</a:t>
            </a:r>
          </a:p>
          <a:p>
            <a:r>
              <a:rPr lang="en-US" dirty="0" err="1"/>
              <a:t>VxLAN</a:t>
            </a:r>
            <a:r>
              <a:rPr lang="en-US" dirty="0"/>
              <a:t> (Virtual </a:t>
            </a:r>
            <a:r>
              <a:rPr lang="en-US" dirty="0" err="1"/>
              <a:t>eXtensible</a:t>
            </a:r>
            <a:r>
              <a:rPr lang="en-US" dirty="0"/>
              <a:t> LAN)</a:t>
            </a:r>
          </a:p>
          <a:p>
            <a:r>
              <a:rPr lang="en-US" dirty="0"/>
              <a:t>GENEVE</a:t>
            </a:r>
          </a:p>
        </p:txBody>
      </p:sp>
    </p:spTree>
    <p:extLst>
      <p:ext uri="{BB962C8B-B14F-4D97-AF65-F5344CB8AC3E}">
        <p14:creationId xmlns:p14="http://schemas.microsoft.com/office/powerpoint/2010/main" val="1710919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bg-BG"/>
              <a:t>VLAN</a:t>
            </a:r>
            <a:endParaRPr lang="bg-BG" altLang="bg-BG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bg-BG" altLang="bg-BG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484313"/>
            <a:ext cx="6645275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512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 dirty="0"/>
              <a:t>Гръбнак (</a:t>
            </a:r>
            <a:r>
              <a:rPr lang="en-US" altLang="bg-BG" dirty="0"/>
              <a:t>Trunk)</a:t>
            </a:r>
            <a:endParaRPr lang="bg-BG" altLang="bg-BG" dirty="0"/>
          </a:p>
        </p:txBody>
      </p:sp>
      <p:pic>
        <p:nvPicPr>
          <p:cNvPr id="717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4375" y="1643063"/>
            <a:ext cx="7504113" cy="3759200"/>
          </a:xfrm>
          <a:noFill/>
        </p:spPr>
      </p:pic>
      <p:sp>
        <p:nvSpPr>
          <p:cNvPr id="7172" name="TextBox 4"/>
          <p:cNvSpPr txBox="1">
            <a:spLocks noChangeArrowheads="1"/>
          </p:cNvSpPr>
          <p:nvPr/>
        </p:nvSpPr>
        <p:spPr bwMode="auto">
          <a:xfrm>
            <a:off x="1071563" y="5786438"/>
            <a:ext cx="50911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bg-BG" altLang="bg-BG" sz="2400" dirty="0"/>
              <a:t>Протоколи: </a:t>
            </a:r>
            <a:r>
              <a:rPr lang="en-US" altLang="bg-BG" sz="2400" dirty="0"/>
              <a:t>IEEE 802.1q, Cisco ISL</a:t>
            </a:r>
            <a:endParaRPr lang="bg-BG" altLang="bg-BG" sz="2400" dirty="0"/>
          </a:p>
        </p:txBody>
      </p:sp>
    </p:spTree>
    <p:extLst>
      <p:ext uri="{BB962C8B-B14F-4D97-AF65-F5344CB8AC3E}">
        <p14:creationId xmlns:p14="http://schemas.microsoft.com/office/powerpoint/2010/main" val="1591589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Типове </a:t>
            </a:r>
            <a:r>
              <a:rPr lang="en-US" altLang="bg-BG"/>
              <a:t>VLAN</a:t>
            </a:r>
            <a:endParaRPr lang="bg-BG" altLang="bg-BG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altLang="bg-BG"/>
              <a:t>Статични</a:t>
            </a:r>
          </a:p>
          <a:p>
            <a:r>
              <a:rPr lang="bg-BG" altLang="bg-BG"/>
              <a:t>Порт-базирани</a:t>
            </a:r>
          </a:p>
          <a:p>
            <a:r>
              <a:rPr lang="bg-BG" altLang="bg-BG"/>
              <a:t>Динамични</a:t>
            </a:r>
          </a:p>
          <a:p>
            <a:endParaRPr lang="bg-BG" altLang="bg-BG"/>
          </a:p>
          <a:p>
            <a:r>
              <a:rPr lang="bg-BG" altLang="bg-BG"/>
              <a:t>Географски</a:t>
            </a:r>
          </a:p>
          <a:p>
            <a:r>
              <a:rPr lang="bg-BG" altLang="bg-BG"/>
              <a:t>От край до край (</a:t>
            </a:r>
            <a:r>
              <a:rPr lang="en-US" altLang="bg-BG"/>
              <a:t>End-to-end</a:t>
            </a:r>
            <a:r>
              <a:rPr lang="bg-BG" altLang="bg-BG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03155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Маршрутизация между </a:t>
            </a:r>
            <a:r>
              <a:rPr lang="en-US" altLang="bg-BG"/>
              <a:t>VLAN</a:t>
            </a:r>
            <a:endParaRPr lang="bg-BG" altLang="bg-BG"/>
          </a:p>
        </p:txBody>
      </p:sp>
      <p:pic>
        <p:nvPicPr>
          <p:cNvPr id="9219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57313" y="1646238"/>
            <a:ext cx="5857875" cy="5091112"/>
          </a:xfrm>
          <a:noFill/>
        </p:spPr>
      </p:pic>
    </p:spTree>
    <p:extLst>
      <p:ext uri="{BB962C8B-B14F-4D97-AF65-F5344CB8AC3E}">
        <p14:creationId xmlns:p14="http://schemas.microsoft.com/office/powerpoint/2010/main" val="1947191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bg-BG" dirty="0"/>
              <a:t>VPN</a:t>
            </a:r>
            <a:r>
              <a:rPr lang="bg-BG" altLang="bg-BG" dirty="0"/>
              <a:t> същност</a:t>
            </a:r>
          </a:p>
        </p:txBody>
      </p:sp>
      <p:pic>
        <p:nvPicPr>
          <p:cNvPr id="409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9100" y="1757363"/>
            <a:ext cx="8081963" cy="4457700"/>
          </a:xfrm>
          <a:noFill/>
        </p:spPr>
      </p:pic>
    </p:spTree>
    <p:extLst>
      <p:ext uri="{BB962C8B-B14F-4D97-AF65-F5344CB8AC3E}">
        <p14:creationId xmlns:p14="http://schemas.microsoft.com/office/powerpoint/2010/main" val="3638786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bg-BG" altLang="bg-BG"/>
              <a:t>Типове </a:t>
            </a:r>
            <a:r>
              <a:rPr lang="en-US" altLang="bg-BG"/>
              <a:t>VPN</a:t>
            </a:r>
            <a:endParaRPr lang="bg-BG" altLang="bg-BG"/>
          </a:p>
        </p:txBody>
      </p:sp>
      <p:sp>
        <p:nvSpPr>
          <p:cNvPr id="512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bg-BG"/>
              <a:t>Site-to-Site (LAN-to-LAN)</a:t>
            </a:r>
          </a:p>
          <a:p>
            <a:pPr lvl="1" eaLnBrk="1" hangingPunct="1"/>
            <a:r>
              <a:rPr lang="en-US" altLang="bg-BG"/>
              <a:t>Intranet VPN – </a:t>
            </a:r>
            <a:r>
              <a:rPr lang="bg-BG" altLang="bg-BG"/>
              <a:t>свързва отделни офиси и мрежи на компанията</a:t>
            </a:r>
            <a:endParaRPr lang="en-US" altLang="bg-BG"/>
          </a:p>
          <a:p>
            <a:pPr lvl="1" eaLnBrk="1" hangingPunct="1"/>
            <a:r>
              <a:rPr lang="en-US" altLang="bg-BG"/>
              <a:t>Extranet</a:t>
            </a:r>
            <a:r>
              <a:rPr lang="bg-BG" altLang="bg-BG"/>
              <a:t> </a:t>
            </a:r>
            <a:r>
              <a:rPr lang="en-US" altLang="bg-BG"/>
              <a:t>VPN – </a:t>
            </a:r>
            <a:r>
              <a:rPr lang="bg-BG" altLang="bg-BG"/>
              <a:t>свързва части от мрежата на компанията с външни организации</a:t>
            </a:r>
            <a:endParaRPr lang="en-US" altLang="bg-BG"/>
          </a:p>
          <a:p>
            <a:pPr eaLnBrk="1" hangingPunct="1"/>
            <a:r>
              <a:rPr lang="en-US" altLang="bg-BG"/>
              <a:t>Remote Access</a:t>
            </a:r>
            <a:r>
              <a:rPr lang="bg-BG" altLang="bg-BG"/>
              <a:t> – свързва отдалечени компютри (потребители) към мрежата на компанията</a:t>
            </a:r>
          </a:p>
        </p:txBody>
      </p:sp>
    </p:spTree>
    <p:extLst>
      <p:ext uri="{BB962C8B-B14F-4D97-AF65-F5344CB8AC3E}">
        <p14:creationId xmlns:p14="http://schemas.microsoft.com/office/powerpoint/2010/main" val="2501487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bg-BG"/>
              <a:t>VPN </a:t>
            </a:r>
            <a:r>
              <a:rPr lang="bg-BG" altLang="bg-BG"/>
              <a:t>по нива</a:t>
            </a:r>
          </a:p>
        </p:txBody>
      </p:sp>
      <p:sp>
        <p:nvSpPr>
          <p:cNvPr id="614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3944220"/>
          </a:xfrm>
        </p:spPr>
        <p:txBody>
          <a:bodyPr/>
          <a:lstStyle/>
          <a:p>
            <a:pPr eaLnBrk="1" hangingPunct="1"/>
            <a:r>
              <a:rPr lang="en-US" altLang="bg-BG"/>
              <a:t>Layer 2</a:t>
            </a:r>
          </a:p>
          <a:p>
            <a:pPr lvl="2" eaLnBrk="1" hangingPunct="1"/>
            <a:r>
              <a:rPr lang="en-US" altLang="bg-BG"/>
              <a:t>GRE</a:t>
            </a:r>
          </a:p>
          <a:p>
            <a:pPr lvl="2" eaLnBrk="1" hangingPunct="1"/>
            <a:r>
              <a:rPr lang="en-US" altLang="bg-BG"/>
              <a:t>PPTP</a:t>
            </a:r>
          </a:p>
          <a:p>
            <a:pPr lvl="2" eaLnBrk="1" hangingPunct="1"/>
            <a:r>
              <a:rPr lang="en-US" altLang="bg-BG"/>
              <a:t>L2TP</a:t>
            </a:r>
          </a:p>
          <a:p>
            <a:pPr eaLnBrk="1" hangingPunct="1"/>
            <a:r>
              <a:rPr lang="en-US" altLang="bg-BG"/>
              <a:t>Layer 3</a:t>
            </a:r>
          </a:p>
          <a:p>
            <a:pPr lvl="2" eaLnBrk="1" hangingPunct="1"/>
            <a:r>
              <a:rPr lang="en-US" altLang="bg-BG"/>
              <a:t>IPSec</a:t>
            </a:r>
          </a:p>
          <a:p>
            <a:pPr lvl="2" eaLnBrk="1" hangingPunct="1"/>
            <a:r>
              <a:rPr lang="en-US" altLang="bg-BG"/>
              <a:t>MPLS</a:t>
            </a:r>
            <a:endParaRPr lang="bg-BG" altLang="bg-BG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bg-BG"/>
              <a:t>Layer 4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bg-BG"/>
              <a:t>	SSL/TLS VPN</a:t>
            </a:r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07108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bg-BG" altLang="bg-BG"/>
              <a:t>Тунели</a:t>
            </a:r>
          </a:p>
        </p:txBody>
      </p:sp>
      <p:pic>
        <p:nvPicPr>
          <p:cNvPr id="717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3713" y="1958975"/>
            <a:ext cx="8221662" cy="3898900"/>
          </a:xfrm>
          <a:noFill/>
        </p:spPr>
      </p:pic>
    </p:spTree>
    <p:extLst>
      <p:ext uri="{BB962C8B-B14F-4D97-AF65-F5344CB8AC3E}">
        <p14:creationId xmlns:p14="http://schemas.microsoft.com/office/powerpoint/2010/main" val="2521329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14425"/>
          </a:xfrm>
        </p:spPr>
        <p:txBody>
          <a:bodyPr/>
          <a:lstStyle/>
          <a:p>
            <a:pPr eaLnBrk="1" hangingPunct="1"/>
            <a:r>
              <a:rPr lang="en-US" altLang="bg-BG"/>
              <a:t>IPSec (Secure IP) </a:t>
            </a:r>
            <a:endParaRPr lang="bg-BG" altLang="bg-BG"/>
          </a:p>
        </p:txBody>
      </p:sp>
      <p:sp>
        <p:nvSpPr>
          <p:cNvPr id="1536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428625" y="1571625"/>
            <a:ext cx="8229600" cy="4929188"/>
          </a:xfrm>
        </p:spPr>
        <p:txBody>
          <a:bodyPr/>
          <a:lstStyle/>
          <a:p>
            <a:pPr eaLnBrk="1" hangingPunct="1"/>
            <a:r>
              <a:rPr lang="bg-BG" altLang="bg-BG"/>
              <a:t>Серия препоръки на </a:t>
            </a:r>
            <a:r>
              <a:rPr lang="en-US" altLang="bg-BG"/>
              <a:t>IETF</a:t>
            </a:r>
          </a:p>
          <a:p>
            <a:pPr eaLnBrk="1" hangingPunct="1"/>
            <a:r>
              <a:rPr lang="bg-BG" altLang="bg-BG"/>
              <a:t>Разделя автентичността и поверителността</a:t>
            </a:r>
            <a:endParaRPr lang="en-US" altLang="bg-BG"/>
          </a:p>
          <a:p>
            <a:pPr eaLnBrk="1" hangingPunct="1"/>
            <a:r>
              <a:rPr lang="en-US" altLang="bg-BG"/>
              <a:t>Authentication Header (AH) </a:t>
            </a:r>
            <a:r>
              <a:rPr lang="bg-BG" altLang="bg-BG"/>
              <a:t>се грижи за цялостта и автентичността на данните</a:t>
            </a:r>
            <a:endParaRPr lang="en-US" altLang="bg-BG"/>
          </a:p>
          <a:p>
            <a:pPr eaLnBrk="1" hangingPunct="1"/>
            <a:r>
              <a:rPr lang="en-US" altLang="bg-BG"/>
              <a:t>Encapsulating Security Protocol (ESP) </a:t>
            </a:r>
            <a:r>
              <a:rPr lang="bg-BG" altLang="bg-BG"/>
              <a:t>осигурява цялост и поверителност</a:t>
            </a:r>
          </a:p>
          <a:p>
            <a:pPr eaLnBrk="1" hangingPunct="1"/>
            <a:r>
              <a:rPr lang="bg-BG" altLang="bg-BG"/>
              <a:t>Могат да се използват самостоятелно или заедно</a:t>
            </a:r>
          </a:p>
        </p:txBody>
      </p:sp>
    </p:spTree>
    <p:extLst>
      <p:ext uri="{BB962C8B-B14F-4D97-AF65-F5344CB8AC3E}">
        <p14:creationId xmlns:p14="http://schemas.microsoft.com/office/powerpoint/2010/main" val="3114932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73113"/>
          </a:xfrm>
        </p:spPr>
        <p:txBody>
          <a:bodyPr/>
          <a:lstStyle/>
          <a:p>
            <a:r>
              <a:rPr lang="bg-BG" altLang="bg-BG"/>
              <a:t>Разнообразие на протоколи</a:t>
            </a:r>
          </a:p>
        </p:txBody>
      </p:sp>
      <p:sp>
        <p:nvSpPr>
          <p:cNvPr id="1638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bg-BG" altLang="bg-BG"/>
          </a:p>
        </p:txBody>
      </p:sp>
      <p:pic>
        <p:nvPicPr>
          <p:cNvPr id="1638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1230313"/>
            <a:ext cx="8189913" cy="540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0308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/>
              <a:t>SSL/TLS VPN</a:t>
            </a:r>
            <a:endParaRPr lang="bg-BG" altLang="bg-BG"/>
          </a:p>
        </p:txBody>
      </p:sp>
      <p:sp>
        <p:nvSpPr>
          <p:cNvPr id="1945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457200" y="1844675"/>
            <a:ext cx="8229600" cy="4568115"/>
          </a:xfrm>
        </p:spPr>
        <p:txBody>
          <a:bodyPr/>
          <a:lstStyle/>
          <a:p>
            <a:r>
              <a:rPr lang="en-US" altLang="bg-BG"/>
              <a:t>SSL Portal VPN – </a:t>
            </a:r>
            <a:r>
              <a:rPr lang="bg-BG" altLang="bg-BG"/>
              <a:t>връзка към </a:t>
            </a:r>
            <a:r>
              <a:rPr lang="en-US" altLang="bg-BG"/>
              <a:t>web </a:t>
            </a:r>
            <a:r>
              <a:rPr lang="bg-BG" altLang="bg-BG"/>
              <a:t>сайт, пренасяща много </a:t>
            </a:r>
            <a:r>
              <a:rPr lang="en-US" altLang="bg-BG"/>
              <a:t>web-</a:t>
            </a:r>
            <a:r>
              <a:rPr lang="bg-BG" altLang="bg-BG"/>
              <a:t>базирани услуги</a:t>
            </a:r>
          </a:p>
          <a:p>
            <a:r>
              <a:rPr lang="en-US" altLang="bg-BG"/>
              <a:t>SSL Tunnel VPN</a:t>
            </a:r>
            <a:r>
              <a:rPr lang="bg-BG" altLang="bg-BG"/>
              <a:t> – връзка към устройство (</a:t>
            </a:r>
            <a:r>
              <a:rPr lang="en-US" altLang="bg-BG"/>
              <a:t>router, </a:t>
            </a:r>
            <a:r>
              <a:rPr lang="bg-BG" altLang="bg-BG"/>
              <a:t>сървър), позволяваща всякакви услуги</a:t>
            </a:r>
          </a:p>
          <a:p>
            <a:r>
              <a:rPr lang="en-US" altLang="bg-BG"/>
              <a:t>OpenVPN – </a:t>
            </a:r>
            <a:r>
              <a:rPr lang="bg-BG" altLang="bg-BG"/>
              <a:t>поддържа </a:t>
            </a:r>
            <a:r>
              <a:rPr lang="en-US" altLang="bg-BG"/>
              <a:t>Linux, Windows, MacOS </a:t>
            </a:r>
            <a:r>
              <a:rPr lang="bg-BG" altLang="bg-BG"/>
              <a:t>и др.</a:t>
            </a:r>
            <a:r>
              <a:rPr lang="en-US" altLang="bg-BG"/>
              <a:t> Wireguard</a:t>
            </a:r>
            <a:endParaRPr lang="bg-BG" altLang="bg-BG"/>
          </a:p>
          <a:p>
            <a:r>
              <a:rPr lang="bg-BG" altLang="bg-BG"/>
              <a:t>Използва виртуален адаптер</a:t>
            </a:r>
          </a:p>
        </p:txBody>
      </p:sp>
    </p:spTree>
    <p:extLst>
      <p:ext uri="{BB962C8B-B14F-4D97-AF65-F5344CB8AC3E}">
        <p14:creationId xmlns:p14="http://schemas.microsoft.com/office/powerpoint/2010/main" val="8626898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/>
              <a:t>VXLAN</a:t>
            </a:r>
            <a:endParaRPr lang="bg-BG" altLang="bg-BG"/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456104" y="1711817"/>
            <a:ext cx="8229600" cy="5046606"/>
          </a:xfrm>
        </p:spPr>
        <p:txBody>
          <a:bodyPr/>
          <a:lstStyle/>
          <a:p>
            <a:r>
              <a:rPr lang="en-US" altLang="bg-BG"/>
              <a:t>Vendors such as Intel, VMware, Arista, and Broadcom have developed a technology that creates Layer 2 tunnels, the Virtual Extensible Local Area Network (VXLAN). VXLAN is an example of software-defined cloud networking (SDCN). Fundamentally, VXLAN provides Layer 2 tunneling connections between cloud services separated by Layer 3 network segmentation.</a:t>
            </a:r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7576929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VxLAN</a:t>
            </a:r>
            <a:endParaRPr lang="en-US" dirty="0"/>
          </a:p>
        </p:txBody>
      </p:sp>
      <p:pic>
        <p:nvPicPr>
          <p:cNvPr id="14338" name="Picture 2" descr="VXLA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63963"/>
            <a:ext cx="8219525" cy="5014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47125" y="6478528"/>
            <a:ext cx="27880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Source: opticomfiber.com</a:t>
            </a:r>
          </a:p>
        </p:txBody>
      </p:sp>
    </p:spTree>
    <p:extLst>
      <p:ext uri="{BB962C8B-B14F-4D97-AF65-F5344CB8AC3E}">
        <p14:creationId xmlns:p14="http://schemas.microsoft.com/office/powerpoint/2010/main" val="6385384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VxLAN</a:t>
            </a:r>
            <a:endParaRPr lang="en-US" dirty="0"/>
          </a:p>
        </p:txBody>
      </p:sp>
      <p:pic>
        <p:nvPicPr>
          <p:cNvPr id="1026" name="Picture 2" descr="Overlay Underlay Network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407" y="1783469"/>
            <a:ext cx="6213448" cy="473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57200" y="6488668"/>
            <a:ext cx="3890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Source: https://networklessons.com/</a:t>
            </a:r>
          </a:p>
        </p:txBody>
      </p:sp>
    </p:spTree>
    <p:extLst>
      <p:ext uri="{BB962C8B-B14F-4D97-AF65-F5344CB8AC3E}">
        <p14:creationId xmlns:p14="http://schemas.microsoft.com/office/powerpoint/2010/main" val="3857370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VxLAN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VXLAN Network Identifier (VNI) – 24 bit    (1 - 16,777,215)</a:t>
            </a:r>
          </a:p>
          <a:p>
            <a:r>
              <a:rPr lang="en-US" dirty="0"/>
              <a:t>VXLAN tunnel endpoint (VTEP):</a:t>
            </a:r>
          </a:p>
          <a:p>
            <a:pPr lvl="1"/>
            <a:r>
              <a:rPr lang="en-US" dirty="0"/>
              <a:t>Software (host-based)</a:t>
            </a:r>
          </a:p>
          <a:p>
            <a:pPr lvl="1"/>
            <a:r>
              <a:rPr lang="en-US" dirty="0"/>
              <a:t>Hardware (gateway)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88668"/>
            <a:ext cx="3890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Source: https://networklessons.com/</a:t>
            </a:r>
          </a:p>
        </p:txBody>
      </p:sp>
    </p:spTree>
    <p:extLst>
      <p:ext uri="{BB962C8B-B14F-4D97-AF65-F5344CB8AC3E}">
        <p14:creationId xmlns:p14="http://schemas.microsoft.com/office/powerpoint/2010/main" val="41596024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</a:t>
            </a:r>
            <a:r>
              <a:rPr lang="en-US" dirty="0" err="1"/>
              <a:t>VxLAN</a:t>
            </a:r>
            <a:endParaRPr lang="en-US" dirty="0"/>
          </a:p>
        </p:txBody>
      </p:sp>
      <p:pic>
        <p:nvPicPr>
          <p:cNvPr id="15362" name="Picture 2" descr="Vxlan Vtep Software Hypervisor Virtual Switch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42" y="1727769"/>
            <a:ext cx="7811194" cy="4552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57200" y="6488668"/>
            <a:ext cx="3890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Source: https://networklessons.com/</a:t>
            </a:r>
          </a:p>
        </p:txBody>
      </p:sp>
    </p:spTree>
    <p:extLst>
      <p:ext uri="{BB962C8B-B14F-4D97-AF65-F5344CB8AC3E}">
        <p14:creationId xmlns:p14="http://schemas.microsoft.com/office/powerpoint/2010/main" val="41009441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</a:t>
            </a:r>
            <a:r>
              <a:rPr lang="en-US" dirty="0" err="1"/>
              <a:t>VxLAN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087" y="1888838"/>
            <a:ext cx="7832295" cy="456525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488668"/>
            <a:ext cx="3890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Source: https://networklessons.com/</a:t>
            </a:r>
          </a:p>
        </p:txBody>
      </p:sp>
    </p:spTree>
    <p:extLst>
      <p:ext uri="{BB962C8B-B14F-4D97-AF65-F5344CB8AC3E}">
        <p14:creationId xmlns:p14="http://schemas.microsoft.com/office/powerpoint/2010/main" val="15577020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GENEVE (Generic Network Virtualization Encapsulation) </a:t>
            </a:r>
          </a:p>
        </p:txBody>
      </p:sp>
      <p:pic>
        <p:nvPicPr>
          <p:cNvPr id="16386" name="Picture 2" descr="https://storage.googleapis.com/blogs-images/ciscoblogs/1/2020/11/VXLAN-vs-GENEVE-Format-768x274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067" y="1982065"/>
            <a:ext cx="8502041" cy="303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57200" y="6301571"/>
            <a:ext cx="2595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175A2"/>
                </a:solidFill>
                <a:latin typeface="CiscoSans"/>
              </a:rPr>
              <a:t>Source: Lukas </a:t>
            </a:r>
            <a:r>
              <a:rPr lang="en-US" dirty="0" err="1">
                <a:solidFill>
                  <a:srgbClr val="0175A2"/>
                </a:solidFill>
                <a:latin typeface="CiscoSans"/>
              </a:rPr>
              <a:t>Krattiger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2842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VMware NSX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476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Defined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462421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40F8797759DCDB4A85695AB6EB890123" ma:contentTypeVersion="4" ma:contentTypeDescription="Създаване на нов документ" ma:contentTypeScope="" ma:versionID="e790d76c258d98a98514f828f38c281f">
  <xsd:schema xmlns:xsd="http://www.w3.org/2001/XMLSchema" xmlns:xs="http://www.w3.org/2001/XMLSchema" xmlns:p="http://schemas.microsoft.com/office/2006/metadata/properties" xmlns:ns2="e7115566-afb6-4371-9ba9-8de1039519ea" targetNamespace="http://schemas.microsoft.com/office/2006/metadata/properties" ma:root="true" ma:fieldsID="43f991bbc6996b371da7d6826b24266f" ns2:_="">
    <xsd:import namespace="e7115566-afb6-4371-9ba9-8de1039519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115566-afb6-4371-9ba9-8de1039519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ъдържание"/>
        <xsd:element ref="dc:title" minOccurs="0" maxOccurs="1" ma:index="4" ma:displayName="Заглав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A671FC-BEFB-44D2-8392-DE6343FD61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689877-4446-4C7D-BD03-94F0131BD93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1E0586D-09FD-4FE4-9335-F7387B6355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115566-afb6-4371-9ba9-8de1039519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17489</TotalTime>
  <Words>524</Words>
  <Application>Microsoft Office PowerPoint</Application>
  <PresentationFormat>Презентация на цял екран (4:3)</PresentationFormat>
  <Paragraphs>117</Paragraphs>
  <Slides>34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34</vt:i4>
      </vt:variant>
    </vt:vector>
  </HeadingPairs>
  <TitlesOfParts>
    <vt:vector size="35" baseType="lpstr">
      <vt:lpstr>Pixel</vt:lpstr>
      <vt:lpstr>Мрежова виртуализация</vt:lpstr>
      <vt:lpstr>Мрежова виртуализация</vt:lpstr>
      <vt:lpstr>Виртуален мрежов контролер (Vmware Workstation)</vt:lpstr>
      <vt:lpstr>Виртуален мрежов контролер (Oracle VirtualBox)</vt:lpstr>
      <vt:lpstr>Видове</vt:lpstr>
      <vt:lpstr>Виртуален комутатор (Vmware)</vt:lpstr>
      <vt:lpstr>Hyper-V</vt:lpstr>
      <vt:lpstr>Достъп до физически адаптер</vt:lpstr>
      <vt:lpstr>Други виртуални комутатори</vt:lpstr>
      <vt:lpstr>Виртуални маршрутизатори</vt:lpstr>
      <vt:lpstr>Виртуални защитни стени</vt:lpstr>
      <vt:lpstr>Load Balancer</vt:lpstr>
      <vt:lpstr>Виртуален Load Balancer</vt:lpstr>
      <vt:lpstr>Виртуални мрежи</vt:lpstr>
      <vt:lpstr>VLAN</vt:lpstr>
      <vt:lpstr>Гръбнак (Trunk)</vt:lpstr>
      <vt:lpstr>Типове VLAN</vt:lpstr>
      <vt:lpstr>Маршрутизация между VLAN</vt:lpstr>
      <vt:lpstr>VPN същност</vt:lpstr>
      <vt:lpstr>Типове VPN</vt:lpstr>
      <vt:lpstr>VPN по нива</vt:lpstr>
      <vt:lpstr>Тунели</vt:lpstr>
      <vt:lpstr>IPSec (Secure IP) </vt:lpstr>
      <vt:lpstr>Разнообразие на протоколи</vt:lpstr>
      <vt:lpstr>SSL/TLS VPN</vt:lpstr>
      <vt:lpstr>VXLAN</vt:lpstr>
      <vt:lpstr>VxLAN</vt:lpstr>
      <vt:lpstr>VxLAN</vt:lpstr>
      <vt:lpstr>VxLAN</vt:lpstr>
      <vt:lpstr>Software VxLAN</vt:lpstr>
      <vt:lpstr>Hardware VxLAN</vt:lpstr>
      <vt:lpstr>GENEVE (Generic Network Virtualization Encapsulation) </vt:lpstr>
      <vt:lpstr>VMware NSX</vt:lpstr>
      <vt:lpstr>Software Defined Networking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Мрежова виртуализация</dc:title>
  <dc:creator>Delian Genkov</dc:creator>
  <cp:lastModifiedBy>Delian Genkov</cp:lastModifiedBy>
  <cp:revision>32</cp:revision>
  <dcterms:created xsi:type="dcterms:W3CDTF">2022-02-14T15:35:12Z</dcterms:created>
  <dcterms:modified xsi:type="dcterms:W3CDTF">2024-05-28T06:49:20Z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0x01010040F8797759DCDB4A85695AB6EB890123</vt:lpwstr>
  </property>
</Properties>
</file>