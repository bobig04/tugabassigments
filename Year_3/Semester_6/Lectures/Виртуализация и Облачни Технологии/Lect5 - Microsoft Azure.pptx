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8"/>
  </p:notesMasterIdLst>
  <p:sldIdLst>
    <p:sldId id="257" r:id="rId5"/>
    <p:sldId id="258" r:id="rId6"/>
    <p:sldId id="259" r:id="rId7"/>
    <p:sldId id="260" r:id="rId8"/>
    <p:sldId id="303" r:id="rId9"/>
    <p:sldId id="304" r:id="rId10"/>
    <p:sldId id="311" r:id="rId11"/>
    <p:sldId id="312" r:id="rId12"/>
    <p:sldId id="313" r:id="rId13"/>
    <p:sldId id="308" r:id="rId14"/>
    <p:sldId id="314" r:id="rId15"/>
    <p:sldId id="315" r:id="rId16"/>
    <p:sldId id="309" r:id="rId17"/>
    <p:sldId id="310" r:id="rId18"/>
    <p:sldId id="316" r:id="rId19"/>
    <p:sldId id="317" r:id="rId20"/>
    <p:sldId id="305" r:id="rId21"/>
    <p:sldId id="306" r:id="rId22"/>
    <p:sldId id="307" r:id="rId23"/>
    <p:sldId id="320" r:id="rId24"/>
    <p:sldId id="321" r:id="rId25"/>
    <p:sldId id="322" r:id="rId26"/>
    <p:sldId id="324" r:id="rId27"/>
    <p:sldId id="357" r:id="rId28"/>
    <p:sldId id="358" r:id="rId29"/>
    <p:sldId id="359" r:id="rId30"/>
    <p:sldId id="360" r:id="rId31"/>
    <p:sldId id="361" r:id="rId32"/>
    <p:sldId id="362" r:id="rId33"/>
    <p:sldId id="363" r:id="rId34"/>
    <p:sldId id="364" r:id="rId35"/>
    <p:sldId id="323" r:id="rId36"/>
    <p:sldId id="342" r:id="rId37"/>
    <p:sldId id="343" r:id="rId38"/>
    <p:sldId id="344" r:id="rId39"/>
    <p:sldId id="345" r:id="rId40"/>
    <p:sldId id="346" r:id="rId41"/>
    <p:sldId id="347" r:id="rId42"/>
    <p:sldId id="348" r:id="rId43"/>
    <p:sldId id="349" r:id="rId44"/>
    <p:sldId id="325" r:id="rId45"/>
    <p:sldId id="326" r:id="rId46"/>
    <p:sldId id="328" r:id="rId47"/>
    <p:sldId id="329" r:id="rId48"/>
    <p:sldId id="330" r:id="rId49"/>
    <p:sldId id="331" r:id="rId50"/>
    <p:sldId id="332" r:id="rId51"/>
    <p:sldId id="333" r:id="rId52"/>
    <p:sldId id="319" r:id="rId53"/>
    <p:sldId id="327" r:id="rId54"/>
    <p:sldId id="334" r:id="rId55"/>
    <p:sldId id="335" r:id="rId56"/>
    <p:sldId id="336" r:id="rId57"/>
    <p:sldId id="337" r:id="rId58"/>
    <p:sldId id="338" r:id="rId59"/>
    <p:sldId id="339" r:id="rId60"/>
    <p:sldId id="340" r:id="rId61"/>
    <p:sldId id="341" r:id="rId62"/>
    <p:sldId id="350" r:id="rId63"/>
    <p:sldId id="351" r:id="rId64"/>
    <p:sldId id="352" r:id="rId65"/>
    <p:sldId id="353" r:id="rId66"/>
    <p:sldId id="354" r:id="rId67"/>
    <p:sldId id="355" r:id="rId68"/>
    <p:sldId id="356" r:id="rId69"/>
    <p:sldId id="365" r:id="rId70"/>
    <p:sldId id="366" r:id="rId71"/>
    <p:sldId id="367" r:id="rId72"/>
    <p:sldId id="368" r:id="rId73"/>
    <p:sldId id="369" r:id="rId74"/>
    <p:sldId id="370" r:id="rId75"/>
    <p:sldId id="371" r:id="rId76"/>
    <p:sldId id="372" r:id="rId77"/>
    <p:sldId id="373" r:id="rId78"/>
    <p:sldId id="374" r:id="rId79"/>
    <p:sldId id="375" r:id="rId80"/>
    <p:sldId id="376" r:id="rId81"/>
    <p:sldId id="377" r:id="rId82"/>
    <p:sldId id="378" r:id="rId83"/>
    <p:sldId id="379" r:id="rId84"/>
    <p:sldId id="380" r:id="rId85"/>
    <p:sldId id="381" r:id="rId86"/>
    <p:sldId id="382" r:id="rId87"/>
    <p:sldId id="383" r:id="rId88"/>
    <p:sldId id="384" r:id="rId89"/>
    <p:sldId id="385" r:id="rId90"/>
    <p:sldId id="386" r:id="rId91"/>
    <p:sldId id="387" r:id="rId92"/>
    <p:sldId id="388" r:id="rId93"/>
    <p:sldId id="389" r:id="rId94"/>
    <p:sldId id="390" r:id="rId95"/>
    <p:sldId id="391" r:id="rId96"/>
    <p:sldId id="392"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8" autoAdjust="0"/>
    <p:restoredTop sz="94660"/>
  </p:normalViewPr>
  <p:slideViewPr>
    <p:cSldViewPr snapToGrid="0">
      <p:cViewPr varScale="1">
        <p:scale>
          <a:sx n="88" d="100"/>
          <a:sy n="88" d="100"/>
        </p:scale>
        <p:origin x="110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6BF817-F362-4C41-ABF4-2F8696C8150F}" type="datetimeFigureOut">
              <a:rPr lang="en-US" smtClean="0"/>
              <a:t>6/13/2025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0CCEB-ECC4-4F05-AC10-6D0D7B6E7000}" type="slidenum">
              <a:rPr lang="en-US" smtClean="0"/>
              <a:t>‹#›</a:t>
            </a:fld>
            <a:endParaRPr lang="en-US"/>
          </a:p>
        </p:txBody>
      </p:sp>
    </p:spTree>
    <p:extLst>
      <p:ext uri="{BB962C8B-B14F-4D97-AF65-F5344CB8AC3E}">
        <p14:creationId xmlns:p14="http://schemas.microsoft.com/office/powerpoint/2010/main" val="3810851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bg-BG" altLang="en-US"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altLang="en-US" noProof="0"/>
              <a:t>Click to edit Master title style</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en-US" altLang="en-US" noProof="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en-US"/>
          </a:p>
        </p:txBody>
      </p:sp>
      <p:sp>
        <p:nvSpPr>
          <p:cNvPr id="19" name="Rectangle 17"/>
          <p:cNvSpPr>
            <a:spLocks noGrp="1" noChangeArrowheads="1"/>
          </p:cNvSpPr>
          <p:nvPr>
            <p:ph type="ftr" sz="quarter" idx="11"/>
          </p:nvPr>
        </p:nvSpPr>
        <p:spPr/>
        <p:txBody>
          <a:bodyPr/>
          <a:lstStyle>
            <a:lvl1pPr>
              <a:defRPr/>
            </a:lvl1pPr>
          </a:lstStyle>
          <a:p>
            <a:pPr>
              <a:defRPr/>
            </a:pPr>
            <a:endParaRPr lang="en-US" altLang="en-US"/>
          </a:p>
        </p:txBody>
      </p:sp>
      <p:sp>
        <p:nvSpPr>
          <p:cNvPr id="20" name="Rectangle 18"/>
          <p:cNvSpPr>
            <a:spLocks noGrp="1" noChangeArrowheads="1"/>
          </p:cNvSpPr>
          <p:nvPr>
            <p:ph type="sldNum" sz="quarter" idx="12"/>
          </p:nvPr>
        </p:nvSpPr>
        <p:spPr/>
        <p:txBody>
          <a:bodyPr/>
          <a:lstStyle>
            <a:lvl1pPr>
              <a:defRPr/>
            </a:lvl1pPr>
          </a:lstStyle>
          <a:p>
            <a:pPr>
              <a:defRPr/>
            </a:pPr>
            <a:fld id="{316C1D6F-C217-4595-BBDC-A49643DC20F7}" type="slidenum">
              <a:rPr lang="en-US" altLang="en-US"/>
              <a:pPr>
                <a:defRPr/>
              </a:pPr>
              <a:t>‹#›</a:t>
            </a:fld>
            <a:endParaRPr lang="en-US" altLang="en-US"/>
          </a:p>
        </p:txBody>
      </p:sp>
    </p:spTree>
    <p:extLst>
      <p:ext uri="{BB962C8B-B14F-4D97-AF65-F5344CB8AC3E}">
        <p14:creationId xmlns:p14="http://schemas.microsoft.com/office/powerpoint/2010/main" val="2865704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1636DEF4-0ECE-4FEB-BF1C-E558251B38A6}"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38177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0DF99C6F-6374-4848-995E-C1A2E6E1CB87}"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30938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8ECA6426-C95A-4582-9425-13990CC4AD06}"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22242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3"/>
          <p:cNvSpPr>
            <a:spLocks noGrp="1" noChangeArrowheads="1"/>
          </p:cNvSpPr>
          <p:nvPr>
            <p:ph type="sldNum" sz="quarter" idx="11"/>
          </p:nvPr>
        </p:nvSpPr>
        <p:spPr>
          <a:ln/>
        </p:spPr>
        <p:txBody>
          <a:bodyPr/>
          <a:lstStyle>
            <a:lvl1pPr>
              <a:defRPr/>
            </a:lvl1pPr>
          </a:lstStyle>
          <a:p>
            <a:pPr>
              <a:defRPr/>
            </a:pPr>
            <a:fld id="{F7911359-362B-4B99-8124-5A1B1D8058CF}" type="slidenum">
              <a:rPr lang="en-US" altLang="en-US"/>
              <a:pPr>
                <a:defRPr/>
              </a:pPr>
              <a:t>‹#›</a:t>
            </a:fld>
            <a:endParaRPr lang="en-US" alt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013687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3"/>
          <p:cNvSpPr>
            <a:spLocks noGrp="1" noChangeArrowheads="1"/>
          </p:cNvSpPr>
          <p:nvPr>
            <p:ph type="sldNum" sz="quarter" idx="11"/>
          </p:nvPr>
        </p:nvSpPr>
        <p:spPr>
          <a:ln/>
        </p:spPr>
        <p:txBody>
          <a:bodyPr/>
          <a:lstStyle>
            <a:lvl1pPr>
              <a:defRPr/>
            </a:lvl1pPr>
          </a:lstStyle>
          <a:p>
            <a:pPr>
              <a:defRPr/>
            </a:pPr>
            <a:fld id="{62C7FAAC-55EF-42E4-91DB-D6107FB4F399}" type="slidenum">
              <a:rPr lang="en-US" altLang="en-US"/>
              <a:pPr>
                <a:defRPr/>
              </a:pPr>
              <a:t>‹#›</a:t>
            </a:fld>
            <a:endParaRPr lang="en-US" alt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48121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3"/>
          <p:cNvSpPr>
            <a:spLocks noGrp="1" noChangeArrowheads="1"/>
          </p:cNvSpPr>
          <p:nvPr>
            <p:ph type="sldNum" sz="quarter" idx="11"/>
          </p:nvPr>
        </p:nvSpPr>
        <p:spPr>
          <a:ln/>
        </p:spPr>
        <p:txBody>
          <a:bodyPr/>
          <a:lstStyle>
            <a:lvl1pPr>
              <a:defRPr/>
            </a:lvl1pPr>
          </a:lstStyle>
          <a:p>
            <a:pPr>
              <a:defRPr/>
            </a:pPr>
            <a:fld id="{8B8188B4-65C4-4EB2-82DD-080716DE93B8}" type="slidenum">
              <a:rPr lang="en-US" altLang="en-US"/>
              <a:pPr>
                <a:defRPr/>
              </a:pPr>
              <a:t>‹#›</a:t>
            </a:fld>
            <a:endParaRPr lang="en-US" alt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51111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AB13D3C8-D15E-425C-812C-798D353282F2}"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37688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774FCDAE-E3B9-45E1-8D8E-9D6AA891A33D}"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1466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0CA2BE4A-294B-4DBB-BDE3-F97A69BC2691}"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5938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p:cNvSpPr>
            <a:spLocks noGrp="1" noChangeArrowheads="1"/>
          </p:cNvSpPr>
          <p:nvPr>
            <p:ph type="sldNum" sz="quarter" idx="11"/>
          </p:nvPr>
        </p:nvSpPr>
        <p:spPr>
          <a:ln/>
        </p:spPr>
        <p:txBody>
          <a:bodyPr/>
          <a:lstStyle>
            <a:lvl1pPr>
              <a:defRPr/>
            </a:lvl1pPr>
          </a:lstStyle>
          <a:p>
            <a:pPr>
              <a:defRPr/>
            </a:pPr>
            <a:fld id="{E5825053-FCEA-4CB6-BA25-2CB3A5657763}" type="slidenum">
              <a:rPr lang="en-US" altLang="en-US"/>
              <a:pPr>
                <a:defRPr/>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33682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en-US"/>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EBB3657B-8497-440A-8321-1B4C1FA0C0EE}" type="slidenum">
              <a:rPr lang="en-US" altLang="en-US"/>
              <a:pPr>
                <a:defRPr/>
              </a:pPr>
              <a:t>‹#›</a:t>
            </a:fld>
            <a:endParaRPr lang="en-US"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bg-BG"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bg-BG"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Tree>
    <p:extLst>
      <p:ext uri="{BB962C8B-B14F-4D97-AF65-F5344CB8AC3E}">
        <p14:creationId xmlns:p14="http://schemas.microsoft.com/office/powerpoint/2010/main" val="35460033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189" algn="l" rtl="0" fontAlgn="base">
        <a:spcBef>
          <a:spcPct val="0"/>
        </a:spcBef>
        <a:spcAft>
          <a:spcPct val="0"/>
        </a:spcAft>
        <a:defRPr sz="4400">
          <a:solidFill>
            <a:schemeClr val="tx1"/>
          </a:solidFill>
          <a:latin typeface="Arial" charset="0"/>
        </a:defRPr>
      </a:lvl6pPr>
      <a:lvl7pPr marL="914377" algn="l" rtl="0" fontAlgn="base">
        <a:spcBef>
          <a:spcPct val="0"/>
        </a:spcBef>
        <a:spcAft>
          <a:spcPct val="0"/>
        </a:spcAft>
        <a:defRPr sz="4400">
          <a:solidFill>
            <a:schemeClr val="tx1"/>
          </a:solidFill>
          <a:latin typeface="Arial" charset="0"/>
        </a:defRPr>
      </a:lvl7pPr>
      <a:lvl8pPr marL="1371566" algn="l" rtl="0" fontAlgn="base">
        <a:spcBef>
          <a:spcPct val="0"/>
        </a:spcBef>
        <a:spcAft>
          <a:spcPct val="0"/>
        </a:spcAft>
        <a:defRPr sz="4400">
          <a:solidFill>
            <a:schemeClr val="tx1"/>
          </a:solidFill>
          <a:latin typeface="Arial" charset="0"/>
        </a:defRPr>
      </a:lvl8pPr>
      <a:lvl9pPr marL="1828754" algn="l" rtl="0" fontAlgn="base">
        <a:spcBef>
          <a:spcPct val="0"/>
        </a:spcBef>
        <a:spcAft>
          <a:spcPct val="0"/>
        </a:spcAft>
        <a:defRPr sz="4400">
          <a:solidFill>
            <a:schemeClr val="tx1"/>
          </a:solidFill>
          <a:latin typeface="Arial" charset="0"/>
        </a:defRPr>
      </a:lvl9pPr>
    </p:titleStyle>
    <p:body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portal.azure.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azure.microsoft.com/services/kubernetes-servi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docs.microsoft.com/en-us/microsoft-365/compliance/data-classification-overview" TargetMode="External"/><Relationship Id="rId2" Type="http://schemas.openxmlformats.org/officeDocument/2006/relationships/hyperlink" Target="https://docs.microsoft.com/en-us/microsoft-365/compliance/sensitivity-labels"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bg-BG" altLang="en-US" sz="4600" dirty="0"/>
              <a:t>Облачна услуга </a:t>
            </a:r>
            <a:r>
              <a:rPr lang="en-US" altLang="en-US" sz="4600" dirty="0"/>
              <a:t>Microsoft Azure</a:t>
            </a:r>
          </a:p>
        </p:txBody>
      </p:sp>
      <p:sp>
        <p:nvSpPr>
          <p:cNvPr id="3075" name="Rectangle 3"/>
          <p:cNvSpPr>
            <a:spLocks noGrp="1" noChangeArrowheads="1"/>
          </p:cNvSpPr>
          <p:nvPr>
            <p:ph type="subTitle" idx="1"/>
          </p:nvPr>
        </p:nvSpPr>
        <p:spPr/>
        <p:txBody>
          <a:bodyPr/>
          <a:lstStyle/>
          <a:p>
            <a:pPr eaLnBrk="1" hangingPunct="1"/>
            <a:r>
              <a:rPr lang="en-US" altLang="en-US" dirty="0"/>
              <a:t>(Microsoft Azure Cloud Service)</a:t>
            </a:r>
          </a:p>
        </p:txBody>
      </p:sp>
    </p:spTree>
    <p:extLst>
      <p:ext uri="{BB962C8B-B14F-4D97-AF65-F5344CB8AC3E}">
        <p14:creationId xmlns:p14="http://schemas.microsoft.com/office/powerpoint/2010/main" val="118115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457200"/>
            <a:ext cx="8229600" cy="1131455"/>
          </a:xfrm>
        </p:spPr>
        <p:txBody>
          <a:bodyPr/>
          <a:lstStyle/>
          <a:p>
            <a:pPr eaLnBrk="1" hangingPunct="1"/>
            <a:r>
              <a:rPr lang="bg-BG" altLang="en-US" dirty="0"/>
              <a:t>История</a:t>
            </a:r>
            <a:endParaRPr lang="en-US" altLang="en-US" dirty="0"/>
          </a:p>
        </p:txBody>
      </p:sp>
      <p:sp>
        <p:nvSpPr>
          <p:cNvPr id="4099" name="Rectangle 3"/>
          <p:cNvSpPr>
            <a:spLocks noGrp="1" noChangeArrowheads="1"/>
          </p:cNvSpPr>
          <p:nvPr>
            <p:ph type="body" idx="1"/>
          </p:nvPr>
        </p:nvSpPr>
        <p:spPr>
          <a:xfrm>
            <a:off x="189346" y="1482437"/>
            <a:ext cx="8705272" cy="3886200"/>
          </a:xfrm>
        </p:spPr>
        <p:txBody>
          <a:bodyPr/>
          <a:lstStyle/>
          <a:p>
            <a:pPr eaLnBrk="1" hangingPunct="1"/>
            <a:r>
              <a:rPr lang="en-US" altLang="en-US" dirty="0"/>
              <a:t>Azure is a cloud computing platform which was launched by Microsoft in February 2010. It is an open and flexible cloud platform which helps in development, data storage, service hosting, and service management. The Azure tool hosts web applications over the internet with the help of Microsoft data centers.</a:t>
            </a:r>
            <a:endParaRPr lang="en-US" altLang="en-US" b="1" dirty="0"/>
          </a:p>
        </p:txBody>
      </p:sp>
    </p:spTree>
    <p:extLst>
      <p:ext uri="{BB962C8B-B14F-4D97-AF65-F5344CB8AC3E}">
        <p14:creationId xmlns:p14="http://schemas.microsoft.com/office/powerpoint/2010/main" val="67648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442960" cy="1014549"/>
          </a:xfrm>
        </p:spPr>
        <p:txBody>
          <a:bodyPr/>
          <a:lstStyle/>
          <a:p>
            <a:r>
              <a:rPr lang="bg-BG" dirty="0"/>
              <a:t>Типове облачни услуги в </a:t>
            </a:r>
            <a:r>
              <a:rPr lang="en-US" dirty="0"/>
              <a:t>Azure</a:t>
            </a:r>
          </a:p>
        </p:txBody>
      </p:sp>
      <p:sp>
        <p:nvSpPr>
          <p:cNvPr id="3" name="Content Placeholder 2"/>
          <p:cNvSpPr>
            <a:spLocks noGrp="1"/>
          </p:cNvSpPr>
          <p:nvPr>
            <p:ph idx="1"/>
          </p:nvPr>
        </p:nvSpPr>
        <p:spPr/>
        <p:txBody>
          <a:bodyPr/>
          <a:lstStyle/>
          <a:p>
            <a:r>
              <a:rPr lang="en-US" dirty="0"/>
              <a:t>Resource Utilization</a:t>
            </a:r>
            <a:endParaRPr lang="bg-BG" dirty="0"/>
          </a:p>
          <a:p>
            <a:r>
              <a:rPr lang="en-US" dirty="0"/>
              <a:t>Remote Workforce Enablement</a:t>
            </a:r>
            <a:endParaRPr lang="bg-BG" dirty="0"/>
          </a:p>
          <a:p>
            <a:r>
              <a:rPr lang="en-US" dirty="0"/>
              <a:t>Security</a:t>
            </a:r>
          </a:p>
        </p:txBody>
      </p:sp>
      <p:pic>
        <p:nvPicPr>
          <p:cNvPr id="4" name="Picture 3"/>
          <p:cNvPicPr>
            <a:picLocks noChangeAspect="1"/>
          </p:cNvPicPr>
          <p:nvPr/>
        </p:nvPicPr>
        <p:blipFill>
          <a:blip r:embed="rId2"/>
          <a:stretch>
            <a:fillRect/>
          </a:stretch>
        </p:blipFill>
        <p:spPr>
          <a:xfrm>
            <a:off x="528637" y="1471749"/>
            <a:ext cx="8086725" cy="5105400"/>
          </a:xfrm>
          <a:prstGeom prst="rect">
            <a:avLst/>
          </a:prstGeom>
        </p:spPr>
      </p:pic>
    </p:spTree>
    <p:extLst>
      <p:ext uri="{BB962C8B-B14F-4D97-AF65-F5344CB8AC3E}">
        <p14:creationId xmlns:p14="http://schemas.microsoft.com/office/powerpoint/2010/main" val="4238447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55964"/>
          </a:xfrm>
        </p:spPr>
        <p:txBody>
          <a:bodyPr/>
          <a:lstStyle/>
          <a:p>
            <a:r>
              <a:rPr lang="en-US" b="1" dirty="0"/>
              <a:t>Azure concepts</a:t>
            </a:r>
          </a:p>
        </p:txBody>
      </p:sp>
      <p:graphicFrame>
        <p:nvGraphicFramePr>
          <p:cNvPr id="4" name="Table 3"/>
          <p:cNvGraphicFramePr>
            <a:graphicFrameLocks noGrp="1"/>
          </p:cNvGraphicFramePr>
          <p:nvPr>
            <p:extLst>
              <p:ext uri="{D42A27DB-BD31-4B8C-83A1-F6EECF244321}">
                <p14:modId xmlns:p14="http://schemas.microsoft.com/office/powerpoint/2010/main" val="625456889"/>
              </p:ext>
            </p:extLst>
          </p:nvPr>
        </p:nvGraphicFramePr>
        <p:xfrm>
          <a:off x="296091" y="1789612"/>
          <a:ext cx="8673738" cy="4292661"/>
        </p:xfrm>
        <a:graphic>
          <a:graphicData uri="http://schemas.openxmlformats.org/drawingml/2006/table">
            <a:tbl>
              <a:tblPr/>
              <a:tblGrid>
                <a:gridCol w="1419498">
                  <a:extLst>
                    <a:ext uri="{9D8B030D-6E8A-4147-A177-3AD203B41FA5}">
                      <a16:colId xmlns:a16="http://schemas.microsoft.com/office/drawing/2014/main" val="59221497"/>
                    </a:ext>
                  </a:extLst>
                </a:gridCol>
                <a:gridCol w="7254240">
                  <a:extLst>
                    <a:ext uri="{9D8B030D-6E8A-4147-A177-3AD203B41FA5}">
                      <a16:colId xmlns:a16="http://schemas.microsoft.com/office/drawing/2014/main" val="318336279"/>
                    </a:ext>
                  </a:extLst>
                </a:gridCol>
              </a:tblGrid>
              <a:tr h="189571">
                <a:tc>
                  <a:txBody>
                    <a:bodyPr/>
                    <a:lstStyle/>
                    <a:p>
                      <a:pPr algn="l"/>
                      <a:r>
                        <a:rPr lang="en-US" sz="1800" dirty="0">
                          <a:effectLst/>
                        </a:rPr>
                        <a:t>Concept Name</a:t>
                      </a:r>
                    </a:p>
                  </a:txBody>
                  <a:tcPr marL="47393" marR="47393" marT="23696" marB="23696" anchor="ctr">
                    <a:lnL>
                      <a:noFill/>
                    </a:lnL>
                    <a:lnR>
                      <a:noFill/>
                    </a:lnR>
                    <a:lnT>
                      <a:noFill/>
                    </a:lnT>
                    <a:lnB w="7620" cap="flat" cmpd="sng" algn="ctr">
                      <a:solidFill>
                        <a:srgbClr val="EEEEEE"/>
                      </a:solidFill>
                      <a:prstDash val="solid"/>
                      <a:round/>
                      <a:headEnd type="none" w="med" len="med"/>
                      <a:tailEnd type="none" w="med" len="med"/>
                    </a:lnB>
                    <a:solidFill>
                      <a:srgbClr val="F9F9F9"/>
                    </a:solidFill>
                  </a:tcPr>
                </a:tc>
                <a:tc>
                  <a:txBody>
                    <a:bodyPr/>
                    <a:lstStyle/>
                    <a:p>
                      <a:pPr algn="l"/>
                      <a:r>
                        <a:rPr lang="en-US" sz="1800">
                          <a:effectLst/>
                        </a:rPr>
                        <a:t>Description</a:t>
                      </a:r>
                    </a:p>
                  </a:txBody>
                  <a:tcPr marL="47393" marR="47393" marT="23696" marB="23696" anchor="ctr">
                    <a:lnL>
                      <a:noFill/>
                    </a:lnL>
                    <a:lnR>
                      <a:noFill/>
                    </a:lnR>
                    <a:lnT>
                      <a:noFill/>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458571575"/>
                  </a:ext>
                </a:extLst>
              </a:tr>
              <a:tr h="1469173">
                <a:tc>
                  <a:txBody>
                    <a:bodyPr/>
                    <a:lstStyle/>
                    <a:p>
                      <a:r>
                        <a:rPr lang="en-US" sz="1800" b="1" dirty="0">
                          <a:effectLst/>
                        </a:rPr>
                        <a:t>Regions</a:t>
                      </a:r>
                      <a:endParaRPr lang="en-US" sz="1800" dirty="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r>
                        <a:rPr lang="en-US" sz="1800">
                          <a:effectLst/>
                        </a:rPr>
                        <a:t>Azure is a global cloud platform which is available across various regions around the world. When you request a service, application, or VM in Azure, you are first asked to specify a region. The selected region represents datacenter where your application runs.</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919408531"/>
                  </a:ext>
                </a:extLst>
              </a:tr>
              <a:tr h="1326995">
                <a:tc>
                  <a:txBody>
                    <a:bodyPr/>
                    <a:lstStyle/>
                    <a:p>
                      <a:r>
                        <a:rPr lang="en-US" sz="1800" b="1">
                          <a:effectLst/>
                        </a:rPr>
                        <a:t>Datacenter</a:t>
                      </a:r>
                      <a:endParaRPr lang="en-US" sz="180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a:effectLst/>
                        </a:rPr>
                        <a:t>In Azure, you can deploy your applications into a variety of data centers around the globe. So, it is advisable to select a region which is closer to most of your customers. It helps you to reduce latency in network requests.</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790141110"/>
                  </a:ext>
                </a:extLst>
              </a:tr>
              <a:tr h="900461">
                <a:tc>
                  <a:txBody>
                    <a:bodyPr/>
                    <a:lstStyle/>
                    <a:p>
                      <a:r>
                        <a:rPr lang="en-US" sz="1800" b="1">
                          <a:effectLst/>
                        </a:rPr>
                        <a:t>Azure portal</a:t>
                      </a:r>
                      <a:endParaRPr lang="en-US" sz="180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a:noFill/>
                    </a:lnB>
                    <a:solidFill>
                      <a:srgbClr val="FFFFFF"/>
                    </a:solidFill>
                  </a:tcPr>
                </a:tc>
                <a:tc>
                  <a:txBody>
                    <a:bodyPr/>
                    <a:lstStyle/>
                    <a:p>
                      <a:r>
                        <a:rPr lang="en-US" sz="1800" dirty="0">
                          <a:effectLst/>
                        </a:rPr>
                        <a:t>The Azure portal is a web-based application which can be used to create, manage and remove Azure resource and services. It is located at </a:t>
                      </a:r>
                      <a:r>
                        <a:rPr lang="en-US" sz="1800" u="none" strike="noStrike" dirty="0">
                          <a:effectLst/>
                          <a:hlinkClick r:id="rId2"/>
                        </a:rPr>
                        <a:t>https://portal.azure.com</a:t>
                      </a:r>
                      <a:r>
                        <a:rPr lang="en-US" sz="1800" dirty="0">
                          <a:effectLst/>
                        </a:rPr>
                        <a:t>.</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624504787"/>
                  </a:ext>
                </a:extLst>
              </a:tr>
            </a:tbl>
          </a:graphicData>
        </a:graphic>
      </p:graphicFrame>
    </p:spTree>
    <p:extLst>
      <p:ext uri="{BB962C8B-B14F-4D97-AF65-F5344CB8AC3E}">
        <p14:creationId xmlns:p14="http://schemas.microsoft.com/office/powerpoint/2010/main" val="2353804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Concepts (Cont.)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59180894"/>
              </p:ext>
            </p:extLst>
          </p:nvPr>
        </p:nvGraphicFramePr>
        <p:xfrm>
          <a:off x="457200" y="1981200"/>
          <a:ext cx="8229600" cy="4130411"/>
        </p:xfrm>
        <a:graphic>
          <a:graphicData uri="http://schemas.openxmlformats.org/drawingml/2006/table">
            <a:tbl>
              <a:tblPr/>
              <a:tblGrid>
                <a:gridCol w="2207623">
                  <a:extLst>
                    <a:ext uri="{9D8B030D-6E8A-4147-A177-3AD203B41FA5}">
                      <a16:colId xmlns:a16="http://schemas.microsoft.com/office/drawing/2014/main" val="3389183090"/>
                    </a:ext>
                  </a:extLst>
                </a:gridCol>
                <a:gridCol w="6021977">
                  <a:extLst>
                    <a:ext uri="{9D8B030D-6E8A-4147-A177-3AD203B41FA5}">
                      <a16:colId xmlns:a16="http://schemas.microsoft.com/office/drawing/2014/main" val="3562176959"/>
                    </a:ext>
                  </a:extLst>
                </a:gridCol>
              </a:tblGrid>
              <a:tr h="1184817">
                <a:tc>
                  <a:txBody>
                    <a:bodyPr/>
                    <a:lstStyle/>
                    <a:p>
                      <a:r>
                        <a:rPr lang="en-US" sz="1800" b="1">
                          <a:effectLst/>
                        </a:rPr>
                        <a:t>Resources</a:t>
                      </a:r>
                      <a:endParaRPr lang="en-US" sz="180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a:effectLst/>
                        </a:rPr>
                        <a:t>Azure resource is an individual computer, networking data or app hosting services which charged individually. Some common resources are virtual machines( VM), storage account, or SQL databases.</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114569495"/>
                  </a:ext>
                </a:extLst>
              </a:tr>
              <a:tr h="900461">
                <a:tc>
                  <a:txBody>
                    <a:bodyPr/>
                    <a:lstStyle/>
                    <a:p>
                      <a:r>
                        <a:rPr lang="en-US" sz="1800" b="1">
                          <a:effectLst/>
                        </a:rPr>
                        <a:t>Resource groups</a:t>
                      </a:r>
                      <a:endParaRPr lang="en-US" sz="180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r>
                        <a:rPr lang="en-US" sz="1800">
                          <a:effectLst/>
                        </a:rPr>
                        <a:t>An Azure resource group is a container which holds related resource for an Azure solution. It may include every resource or just resource which you wants to manage.</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069226491"/>
                  </a:ext>
                </a:extLst>
              </a:tr>
              <a:tr h="900461">
                <a:tc>
                  <a:txBody>
                    <a:bodyPr/>
                    <a:lstStyle/>
                    <a:p>
                      <a:r>
                        <a:rPr lang="en-US" sz="1800" b="1">
                          <a:effectLst/>
                        </a:rPr>
                        <a:t>Resource Manager templates</a:t>
                      </a:r>
                      <a:endParaRPr lang="en-US" sz="180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a:effectLst/>
                        </a:rPr>
                        <a:t>It is a JSON which defines one or more resource to deploy to a resource group. It also establishes dependencies between deployed resources.</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254734445"/>
                  </a:ext>
                </a:extLst>
              </a:tr>
              <a:tr h="900461">
                <a:tc>
                  <a:txBody>
                    <a:bodyPr/>
                    <a:lstStyle/>
                    <a:p>
                      <a:r>
                        <a:rPr lang="en-US" sz="1800" b="1">
                          <a:effectLst/>
                        </a:rPr>
                        <a:t>Automation:</a:t>
                      </a:r>
                      <a:endParaRPr lang="en-US" sz="1800">
                        <a:effectLst/>
                      </a:endParaRPr>
                    </a:p>
                  </a:txBody>
                  <a:tcPr marL="47393" marR="47393" marT="23696" marB="23696" anchor="ctr">
                    <a:lnL>
                      <a:noFill/>
                    </a:lnL>
                    <a:lnR>
                      <a:noFill/>
                    </a:lnR>
                    <a:lnT w="7620" cap="flat" cmpd="sng" algn="ctr">
                      <a:solidFill>
                        <a:srgbClr val="EEEEEE"/>
                      </a:solidFill>
                      <a:prstDash val="solid"/>
                      <a:round/>
                      <a:headEnd type="none" w="med" len="med"/>
                      <a:tailEnd type="none" w="med" len="med"/>
                    </a:lnT>
                    <a:lnB>
                      <a:noFill/>
                    </a:lnB>
                    <a:solidFill>
                      <a:srgbClr val="FFFFFF"/>
                    </a:solidFill>
                  </a:tcPr>
                </a:tc>
                <a:tc>
                  <a:txBody>
                    <a:bodyPr/>
                    <a:lstStyle/>
                    <a:p>
                      <a:r>
                        <a:rPr lang="en-US" sz="1800" dirty="0">
                          <a:effectLst/>
                        </a:rPr>
                        <a:t>Azure allows you to automate the process of creating, managing and deleting resource by using PowerShell or the Azure command-line Interface(CLI).</a:t>
                      </a:r>
                    </a:p>
                  </a:txBody>
                  <a:tcPr marL="47393" marR="47393" marT="23696" marB="23696" anchor="ctr">
                    <a:lnL>
                      <a:noFill/>
                    </a:lnL>
                    <a:lnR>
                      <a:noFill/>
                    </a:lnR>
                    <a:lnT w="7620"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110163981"/>
                  </a:ext>
                </a:extLst>
              </a:tr>
            </a:tbl>
          </a:graphicData>
        </a:graphic>
      </p:graphicFrame>
    </p:spTree>
    <p:extLst>
      <p:ext uri="{BB962C8B-B14F-4D97-AF65-F5344CB8AC3E}">
        <p14:creationId xmlns:p14="http://schemas.microsoft.com/office/powerpoint/2010/main" val="1136057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Concepts (end)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7731694"/>
              </p:ext>
            </p:extLst>
          </p:nvPr>
        </p:nvGraphicFramePr>
        <p:xfrm>
          <a:off x="457197" y="1915737"/>
          <a:ext cx="8229602" cy="4565766"/>
        </p:xfrm>
        <a:graphic>
          <a:graphicData uri="http://schemas.openxmlformats.org/drawingml/2006/table">
            <a:tbl>
              <a:tblPr/>
              <a:tblGrid>
                <a:gridCol w="4114801">
                  <a:extLst>
                    <a:ext uri="{9D8B030D-6E8A-4147-A177-3AD203B41FA5}">
                      <a16:colId xmlns:a16="http://schemas.microsoft.com/office/drawing/2014/main" val="3942636399"/>
                    </a:ext>
                  </a:extLst>
                </a:gridCol>
                <a:gridCol w="4114801">
                  <a:extLst>
                    <a:ext uri="{9D8B030D-6E8A-4147-A177-3AD203B41FA5}">
                      <a16:colId xmlns:a16="http://schemas.microsoft.com/office/drawing/2014/main" val="4153244327"/>
                    </a:ext>
                  </a:extLst>
                </a:gridCol>
              </a:tblGrid>
              <a:tr h="1472045">
                <a:tc>
                  <a:txBody>
                    <a:bodyPr/>
                    <a:lstStyle/>
                    <a:p>
                      <a:r>
                        <a:rPr lang="en-US" sz="1800" b="1" dirty="0">
                          <a:effectLst/>
                        </a:rPr>
                        <a:t>Azure PowerShell</a:t>
                      </a:r>
                      <a:endParaRPr lang="en-US" sz="1800" dirty="0">
                        <a:effectLst/>
                      </a:endParaRP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r>
                        <a:rPr lang="en-US" sz="1800">
                          <a:effectLst/>
                        </a:rPr>
                        <a:t>PowerShell is a set of modules that offer cmdlets to manage Azure. In most cases, you are allowed to use, the cmdlets command for the same tasks which you are performing in the Azure portal.</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578250236"/>
                  </a:ext>
                </a:extLst>
              </a:tr>
              <a:tr h="942109">
                <a:tc>
                  <a:txBody>
                    <a:bodyPr/>
                    <a:lstStyle/>
                    <a:p>
                      <a:r>
                        <a:rPr lang="en-US" sz="1800" b="1">
                          <a:effectLst/>
                        </a:rPr>
                        <a:t>Azure command-line interface(CLI)</a:t>
                      </a:r>
                      <a:endParaRPr lang="en-US" sz="1800">
                        <a:effectLst/>
                      </a:endParaRP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r>
                        <a:rPr lang="en-US" sz="1800">
                          <a:effectLst/>
                        </a:rPr>
                        <a:t>The Azure CLI is a tool that you can use to create, manage, and remove Azure resources from the command line.</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636874"/>
                  </a:ext>
                </a:extLst>
              </a:tr>
              <a:tr h="1472045">
                <a:tc>
                  <a:txBody>
                    <a:bodyPr/>
                    <a:lstStyle/>
                    <a:p>
                      <a:r>
                        <a:rPr lang="en-US" sz="1800" b="1">
                          <a:effectLst/>
                        </a:rPr>
                        <a:t>REST APIs</a:t>
                      </a:r>
                      <a:endParaRPr lang="en-US" sz="1800">
                        <a:effectLst/>
                      </a:endParaRPr>
                    </a:p>
                  </a:txBody>
                  <a:tcPr marL="58882" marR="58882" marT="29441" marB="29441" anchor="ctr">
                    <a:lnL>
                      <a:noFill/>
                    </a:lnL>
                    <a:lnR>
                      <a:noFill/>
                    </a:lnR>
                    <a:lnT w="7620" cap="flat" cmpd="sng" algn="ctr">
                      <a:solidFill>
                        <a:srgbClr val="EEEEEE"/>
                      </a:solidFill>
                      <a:prstDash val="solid"/>
                      <a:round/>
                      <a:headEnd type="none" w="med" len="med"/>
                      <a:tailEnd type="none" w="med" len="med"/>
                    </a:lnT>
                    <a:lnB>
                      <a:noFill/>
                    </a:lnB>
                    <a:solidFill>
                      <a:srgbClr val="F9F9F9"/>
                    </a:solidFill>
                  </a:tcPr>
                </a:tc>
                <a:tc>
                  <a:txBody>
                    <a:bodyPr/>
                    <a:lstStyle/>
                    <a:p>
                      <a:r>
                        <a:rPr lang="en-US" sz="1800" dirty="0">
                          <a:effectLst/>
                        </a:rPr>
                        <a:t>Azure is built on a set of REST APIs help you perform the same operation that you do in Azure portal </a:t>
                      </a:r>
                      <a:r>
                        <a:rPr lang="en-US" sz="1800" dirty="0" err="1">
                          <a:effectLst/>
                        </a:rPr>
                        <a:t>Ul</a:t>
                      </a:r>
                      <a:r>
                        <a:rPr lang="en-US" sz="1800" dirty="0">
                          <a:effectLst/>
                        </a:rPr>
                        <a:t>. It allows your Azure resources and apps to be manipulated via any third party software application.</a:t>
                      </a:r>
                    </a:p>
                  </a:txBody>
                  <a:tcPr marL="58882" marR="58882" marT="29441" marB="29441" anchor="ctr">
                    <a:lnL>
                      <a:noFill/>
                    </a:lnL>
                    <a:lnR>
                      <a:noFill/>
                    </a:lnR>
                    <a:lnT w="7620"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859253017"/>
                  </a:ext>
                </a:extLst>
              </a:tr>
            </a:tbl>
          </a:graphicData>
        </a:graphic>
      </p:graphicFrame>
    </p:spTree>
    <p:extLst>
      <p:ext uri="{BB962C8B-B14F-4D97-AF65-F5344CB8AC3E}">
        <p14:creationId xmlns:p14="http://schemas.microsoft.com/office/powerpoint/2010/main" val="797085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Datacenters</a:t>
            </a:r>
          </a:p>
        </p:txBody>
      </p:sp>
      <p:sp>
        <p:nvSpPr>
          <p:cNvPr id="3" name="Content Placeholder 2"/>
          <p:cNvSpPr>
            <a:spLocks noGrp="1"/>
          </p:cNvSpPr>
          <p:nvPr>
            <p:ph idx="1"/>
          </p:nvPr>
        </p:nvSpPr>
        <p:spPr>
          <a:xfrm>
            <a:off x="457200" y="1828800"/>
            <a:ext cx="8229600" cy="3886200"/>
          </a:xfrm>
        </p:spPr>
        <p:txBody>
          <a:bodyPr/>
          <a:lstStyle/>
          <a:p>
            <a:r>
              <a:rPr lang="en-US" dirty="0"/>
              <a:t>Datacenters help connect and empower our daily lives</a:t>
            </a:r>
          </a:p>
          <a:p>
            <a:r>
              <a:rPr lang="en-US" dirty="0"/>
              <a:t>Hundreds of Azure datacenters store and manage data around the world.</a:t>
            </a:r>
          </a:p>
          <a:p>
            <a:r>
              <a:rPr lang="en-US" dirty="0"/>
              <a:t>Azure datacenters are unique physical buildings located all over the globe that house a group of networked computer servers, each equipped with independent power, cooling, and networking.</a:t>
            </a:r>
          </a:p>
        </p:txBody>
      </p:sp>
    </p:spTree>
    <p:extLst>
      <p:ext uri="{BB962C8B-B14F-4D97-AF65-F5344CB8AC3E}">
        <p14:creationId xmlns:p14="http://schemas.microsoft.com/office/powerpoint/2010/main" val="2186725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71154"/>
          </a:xfrm>
        </p:spPr>
        <p:txBody>
          <a:bodyPr/>
          <a:lstStyle/>
          <a:p>
            <a:r>
              <a:rPr lang="en-US" dirty="0"/>
              <a:t>Regions</a:t>
            </a:r>
          </a:p>
        </p:txBody>
      </p:sp>
      <p:sp>
        <p:nvSpPr>
          <p:cNvPr id="3" name="Content Placeholder 2"/>
          <p:cNvSpPr>
            <a:spLocks noGrp="1"/>
          </p:cNvSpPr>
          <p:nvPr>
            <p:ph idx="1"/>
          </p:nvPr>
        </p:nvSpPr>
        <p:spPr>
          <a:xfrm>
            <a:off x="108855" y="1293223"/>
            <a:ext cx="8860974" cy="3886200"/>
          </a:xfrm>
        </p:spPr>
        <p:txBody>
          <a:bodyPr/>
          <a:lstStyle/>
          <a:p>
            <a:r>
              <a:rPr lang="en-US" dirty="0"/>
              <a:t>With more global regions than any other cloud provider, Azure gives customers the flexibility to deploy applications where they need.</a:t>
            </a:r>
          </a:p>
          <a:p>
            <a:r>
              <a:rPr lang="en-US" dirty="0"/>
              <a:t>A region is a set of datacenters deployed within a latency-defined perimeter and connected through a dedicated regional low-latency network. While solution suites Microsoft 365 and Dynamics 365 deploy in geographies, Azure itself deploys in regions, each with distinct pricing and service availability.</a:t>
            </a:r>
          </a:p>
        </p:txBody>
      </p:sp>
    </p:spTree>
    <p:extLst>
      <p:ext uri="{BB962C8B-B14F-4D97-AF65-F5344CB8AC3E}">
        <p14:creationId xmlns:p14="http://schemas.microsoft.com/office/powerpoint/2010/main" val="989430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 Zones</a:t>
            </a:r>
          </a:p>
        </p:txBody>
      </p:sp>
      <p:sp>
        <p:nvSpPr>
          <p:cNvPr id="3" name="Content Placeholder 2"/>
          <p:cNvSpPr>
            <a:spLocks noGrp="1"/>
          </p:cNvSpPr>
          <p:nvPr>
            <p:ph idx="1"/>
          </p:nvPr>
        </p:nvSpPr>
        <p:spPr>
          <a:xfrm>
            <a:off x="387531" y="1676400"/>
            <a:ext cx="8229600" cy="3886200"/>
          </a:xfrm>
        </p:spPr>
        <p:txBody>
          <a:bodyPr/>
          <a:lstStyle/>
          <a:p>
            <a:r>
              <a:rPr lang="en-US" dirty="0"/>
              <a:t>Availability Zones protect your applications and data from datacenter failures.</a:t>
            </a:r>
          </a:p>
          <a:p>
            <a:r>
              <a:rPr lang="en-US" dirty="0"/>
              <a:t>Azure Availability Zones, which are made up of a minimum of three zones, allow customers to spread their infrastructure and applications across discrete and dispersed datacenters for added resiliency, high availability, and the confidence that data traversing between Availability Zones is always encrypted.</a:t>
            </a:r>
          </a:p>
        </p:txBody>
      </p:sp>
    </p:spTree>
    <p:extLst>
      <p:ext uri="{BB962C8B-B14F-4D97-AF65-F5344CB8AC3E}">
        <p14:creationId xmlns:p14="http://schemas.microsoft.com/office/powerpoint/2010/main" val="775433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47166" cy="1354183"/>
          </a:xfrm>
        </p:spPr>
        <p:txBody>
          <a:bodyPr/>
          <a:lstStyle/>
          <a:p>
            <a:r>
              <a:rPr lang="en-US" b="1" dirty="0"/>
              <a:t>Regions and availability zones</a:t>
            </a:r>
            <a:endParaRPr lang="en-US" dirty="0"/>
          </a:p>
        </p:txBody>
      </p:sp>
      <p:pic>
        <p:nvPicPr>
          <p:cNvPr id="4" name="Content Placeholder 3"/>
          <p:cNvPicPr>
            <a:picLocks noGrp="1" noChangeAspect="1"/>
          </p:cNvPicPr>
          <p:nvPr>
            <p:ph idx="1"/>
          </p:nvPr>
        </p:nvPicPr>
        <p:blipFill>
          <a:blip r:embed="rId2"/>
          <a:stretch>
            <a:fillRect/>
          </a:stretch>
        </p:blipFill>
        <p:spPr>
          <a:xfrm>
            <a:off x="343589" y="1689463"/>
            <a:ext cx="8574387" cy="5104928"/>
          </a:xfrm>
          <a:prstGeom prst="rect">
            <a:avLst/>
          </a:prstGeom>
        </p:spPr>
      </p:pic>
    </p:spTree>
    <p:extLst>
      <p:ext uri="{BB962C8B-B14F-4D97-AF65-F5344CB8AC3E}">
        <p14:creationId xmlns:p14="http://schemas.microsoft.com/office/powerpoint/2010/main" val="4084756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79714"/>
          </a:xfrm>
        </p:spPr>
        <p:txBody>
          <a:bodyPr/>
          <a:lstStyle/>
          <a:p>
            <a:r>
              <a:rPr lang="en-US" dirty="0"/>
              <a:t>Edge Zones</a:t>
            </a:r>
          </a:p>
        </p:txBody>
      </p:sp>
      <p:sp>
        <p:nvSpPr>
          <p:cNvPr id="3" name="Content Placeholder 2"/>
          <p:cNvSpPr>
            <a:spLocks noGrp="1"/>
          </p:cNvSpPr>
          <p:nvPr>
            <p:ph idx="1"/>
          </p:nvPr>
        </p:nvSpPr>
        <p:spPr>
          <a:xfrm>
            <a:off x="274320" y="1258388"/>
            <a:ext cx="8229600" cy="3886200"/>
          </a:xfrm>
        </p:spPr>
        <p:txBody>
          <a:bodyPr/>
          <a:lstStyle/>
          <a:p>
            <a:r>
              <a:rPr lang="en-US" dirty="0"/>
              <a:t>Extending through Edge Zones means better delivery of latency-sensitive services in densely populated cities.</a:t>
            </a:r>
          </a:p>
          <a:p>
            <a:r>
              <a:rPr lang="en-US" dirty="0"/>
              <a:t>Edge Zones are small-footprint extensions of Azure placed in population centers that are far from Azure regions. Azure public MEC (multi-access edge compute) integrates Azure compute and services with mobile operator 5G connectivity for low-latency applications at the operator edge.</a:t>
            </a:r>
          </a:p>
        </p:txBody>
      </p:sp>
    </p:spTree>
    <p:extLst>
      <p:ext uri="{BB962C8B-B14F-4D97-AF65-F5344CB8AC3E}">
        <p14:creationId xmlns:p14="http://schemas.microsoft.com/office/powerpoint/2010/main" val="1881678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Geographies</a:t>
            </a:r>
          </a:p>
        </p:txBody>
      </p:sp>
      <p:sp>
        <p:nvSpPr>
          <p:cNvPr id="3" name="Content Placeholder 2"/>
          <p:cNvSpPr>
            <a:spLocks noGrp="1"/>
          </p:cNvSpPr>
          <p:nvPr>
            <p:ph idx="1"/>
          </p:nvPr>
        </p:nvSpPr>
        <p:spPr>
          <a:xfrm>
            <a:off x="335280" y="1615440"/>
            <a:ext cx="8229600" cy="3886200"/>
          </a:xfrm>
        </p:spPr>
        <p:txBody>
          <a:bodyPr/>
          <a:lstStyle/>
          <a:p>
            <a:r>
              <a:rPr lang="en-US" dirty="0"/>
              <a:t>An Azure geography is a distinct market, typically containing one or more regions.</a:t>
            </a:r>
          </a:p>
          <a:p>
            <a:r>
              <a:rPr lang="en-US" dirty="0"/>
              <a:t>Geographies allow customers with specific data residency (where data is stored and processed) and compliance needs to keep their data and applications close. Through their connection to our dedicated high-capacity networking infrastructure, geographies are fault-tolerant to withstand complete region failure.</a:t>
            </a:r>
          </a:p>
        </p:txBody>
      </p:sp>
    </p:spTree>
    <p:extLst>
      <p:ext uri="{BB962C8B-B14F-4D97-AF65-F5344CB8AC3E}">
        <p14:creationId xmlns:p14="http://schemas.microsoft.com/office/powerpoint/2010/main" val="2371304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2297"/>
          </a:xfrm>
        </p:spPr>
        <p:txBody>
          <a:bodyPr/>
          <a:lstStyle/>
          <a:p>
            <a:r>
              <a:rPr lang="en-US" dirty="0"/>
              <a:t>Azure regions with AZ</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54793356"/>
              </p:ext>
            </p:extLst>
          </p:nvPr>
        </p:nvGraphicFramePr>
        <p:xfrm>
          <a:off x="457200" y="1410788"/>
          <a:ext cx="8429896" cy="5238810"/>
        </p:xfrm>
        <a:graphic>
          <a:graphicData uri="http://schemas.openxmlformats.org/drawingml/2006/table">
            <a:tbl>
              <a:tblPr/>
              <a:tblGrid>
                <a:gridCol w="2107474">
                  <a:extLst>
                    <a:ext uri="{9D8B030D-6E8A-4147-A177-3AD203B41FA5}">
                      <a16:colId xmlns:a16="http://schemas.microsoft.com/office/drawing/2014/main" val="4254710442"/>
                    </a:ext>
                  </a:extLst>
                </a:gridCol>
                <a:gridCol w="2107474">
                  <a:extLst>
                    <a:ext uri="{9D8B030D-6E8A-4147-A177-3AD203B41FA5}">
                      <a16:colId xmlns:a16="http://schemas.microsoft.com/office/drawing/2014/main" val="3417381919"/>
                    </a:ext>
                  </a:extLst>
                </a:gridCol>
                <a:gridCol w="2107474">
                  <a:extLst>
                    <a:ext uri="{9D8B030D-6E8A-4147-A177-3AD203B41FA5}">
                      <a16:colId xmlns:a16="http://schemas.microsoft.com/office/drawing/2014/main" val="3154806785"/>
                    </a:ext>
                  </a:extLst>
                </a:gridCol>
                <a:gridCol w="2107474">
                  <a:extLst>
                    <a:ext uri="{9D8B030D-6E8A-4147-A177-3AD203B41FA5}">
                      <a16:colId xmlns:a16="http://schemas.microsoft.com/office/drawing/2014/main" val="1369073429"/>
                    </a:ext>
                  </a:extLst>
                </a:gridCol>
              </a:tblGrid>
              <a:tr h="296877">
                <a:tc>
                  <a:txBody>
                    <a:bodyPr/>
                    <a:lstStyle/>
                    <a:p>
                      <a:pPr algn="l" fontAlgn="t"/>
                      <a:r>
                        <a:rPr lang="en-US" sz="1800" dirty="0">
                          <a:effectLst/>
                          <a:latin typeface="+mj-lt"/>
                        </a:rPr>
                        <a:t>Americas</a:t>
                      </a:r>
                    </a:p>
                  </a:txBody>
                  <a:tcPr marL="55517" marR="55517" marT="27759" marB="27759">
                    <a:lnL>
                      <a:noFill/>
                    </a:lnL>
                    <a:lnR>
                      <a:noFill/>
                    </a:lnR>
                    <a:lnT>
                      <a:noFill/>
                    </a:lnT>
                    <a:lnB>
                      <a:noFill/>
                    </a:lnB>
                  </a:tcPr>
                </a:tc>
                <a:tc>
                  <a:txBody>
                    <a:bodyPr/>
                    <a:lstStyle/>
                    <a:p>
                      <a:pPr algn="l" fontAlgn="t"/>
                      <a:r>
                        <a:rPr lang="en-US" sz="1800">
                          <a:effectLst/>
                          <a:latin typeface="+mj-lt"/>
                        </a:rPr>
                        <a:t>Europe</a:t>
                      </a:r>
                    </a:p>
                  </a:txBody>
                  <a:tcPr marL="55517" marR="55517" marT="27759" marB="27759">
                    <a:lnL>
                      <a:noFill/>
                    </a:lnL>
                    <a:lnR>
                      <a:noFill/>
                    </a:lnR>
                    <a:lnT>
                      <a:noFill/>
                    </a:lnT>
                    <a:lnB>
                      <a:noFill/>
                    </a:lnB>
                  </a:tcPr>
                </a:tc>
                <a:tc>
                  <a:txBody>
                    <a:bodyPr/>
                    <a:lstStyle/>
                    <a:p>
                      <a:pPr algn="l" fontAlgn="t"/>
                      <a:r>
                        <a:rPr lang="en-US" sz="1800" dirty="0">
                          <a:effectLst/>
                          <a:latin typeface="+mj-lt"/>
                        </a:rPr>
                        <a:t>Africa</a:t>
                      </a:r>
                    </a:p>
                  </a:txBody>
                  <a:tcPr marL="55517" marR="55517" marT="27759" marB="27759">
                    <a:lnL>
                      <a:noFill/>
                    </a:lnL>
                    <a:lnR>
                      <a:noFill/>
                    </a:lnR>
                    <a:lnT>
                      <a:noFill/>
                    </a:lnT>
                    <a:lnB>
                      <a:noFill/>
                    </a:lnB>
                  </a:tcPr>
                </a:tc>
                <a:tc>
                  <a:txBody>
                    <a:bodyPr/>
                    <a:lstStyle/>
                    <a:p>
                      <a:pPr algn="l" fontAlgn="t"/>
                      <a:r>
                        <a:rPr lang="en-US" sz="1800" dirty="0">
                          <a:effectLst/>
                          <a:latin typeface="+mj-lt"/>
                        </a:rPr>
                        <a:t>Asia Pacific</a:t>
                      </a:r>
                    </a:p>
                  </a:txBody>
                  <a:tcPr marL="55517" marR="55517" marT="27759" marB="27759">
                    <a:lnL>
                      <a:noFill/>
                    </a:lnL>
                    <a:lnR>
                      <a:noFill/>
                    </a:lnR>
                    <a:lnT>
                      <a:noFill/>
                    </a:lnT>
                    <a:lnB>
                      <a:noFill/>
                    </a:lnB>
                  </a:tcPr>
                </a:tc>
                <a:extLst>
                  <a:ext uri="{0D108BD9-81ED-4DB2-BD59-A6C34878D82A}">
                    <a16:rowId xmlns:a16="http://schemas.microsoft.com/office/drawing/2014/main" val="3068428098"/>
                  </a:ext>
                </a:extLst>
              </a:tr>
              <a:tr h="738570">
                <a:tc>
                  <a:txBody>
                    <a:bodyPr/>
                    <a:lstStyle/>
                    <a:p>
                      <a:pPr algn="l" fontAlgn="t"/>
                      <a:r>
                        <a:rPr lang="en-US" sz="1800" dirty="0">
                          <a:effectLst/>
                          <a:latin typeface="+mj-lt"/>
                        </a:rPr>
                        <a:t>Brazil South</a:t>
                      </a:r>
                    </a:p>
                  </a:txBody>
                  <a:tcPr marL="55517" marR="55517" marT="27759" marB="27759">
                    <a:lnL>
                      <a:noFill/>
                    </a:lnL>
                    <a:lnR>
                      <a:noFill/>
                    </a:lnR>
                    <a:lnT>
                      <a:noFill/>
                    </a:lnT>
                    <a:lnB>
                      <a:noFill/>
                    </a:lnB>
                  </a:tcPr>
                </a:tc>
                <a:tc>
                  <a:txBody>
                    <a:bodyPr/>
                    <a:lstStyle/>
                    <a:p>
                      <a:pPr algn="l" fontAlgn="t"/>
                      <a:r>
                        <a:rPr lang="en-US" sz="1800" dirty="0">
                          <a:effectLst/>
                          <a:latin typeface="+mj-lt"/>
                        </a:rPr>
                        <a:t>France Central</a:t>
                      </a:r>
                    </a:p>
                  </a:txBody>
                  <a:tcPr marL="55517" marR="55517" marT="27759" marB="27759">
                    <a:lnL>
                      <a:noFill/>
                    </a:lnL>
                    <a:lnR>
                      <a:noFill/>
                    </a:lnR>
                    <a:lnT>
                      <a:noFill/>
                    </a:lnT>
                    <a:lnB>
                      <a:noFill/>
                    </a:lnB>
                  </a:tcPr>
                </a:tc>
                <a:tc>
                  <a:txBody>
                    <a:bodyPr/>
                    <a:lstStyle/>
                    <a:p>
                      <a:pPr algn="l" fontAlgn="t"/>
                      <a:r>
                        <a:rPr lang="en-US" sz="1800">
                          <a:effectLst/>
                          <a:latin typeface="+mj-lt"/>
                        </a:rPr>
                        <a:t>South Africa North</a:t>
                      </a:r>
                    </a:p>
                  </a:txBody>
                  <a:tcPr marL="55517" marR="55517" marT="27759" marB="27759">
                    <a:lnL>
                      <a:noFill/>
                    </a:lnL>
                    <a:lnR>
                      <a:noFill/>
                    </a:lnR>
                    <a:lnT>
                      <a:noFill/>
                    </a:lnT>
                    <a:lnB>
                      <a:noFill/>
                    </a:lnB>
                  </a:tcPr>
                </a:tc>
                <a:tc>
                  <a:txBody>
                    <a:bodyPr/>
                    <a:lstStyle/>
                    <a:p>
                      <a:pPr algn="l" fontAlgn="t"/>
                      <a:r>
                        <a:rPr lang="en-US" sz="1800">
                          <a:effectLst/>
                          <a:latin typeface="+mj-lt"/>
                        </a:rPr>
                        <a:t>Australia East</a:t>
                      </a:r>
                    </a:p>
                  </a:txBody>
                  <a:tcPr marL="55517" marR="55517" marT="27759" marB="27759">
                    <a:lnL>
                      <a:noFill/>
                    </a:lnL>
                    <a:lnR>
                      <a:noFill/>
                    </a:lnR>
                    <a:lnT>
                      <a:noFill/>
                    </a:lnT>
                    <a:lnB>
                      <a:noFill/>
                    </a:lnB>
                  </a:tcPr>
                </a:tc>
                <a:extLst>
                  <a:ext uri="{0D108BD9-81ED-4DB2-BD59-A6C34878D82A}">
                    <a16:rowId xmlns:a16="http://schemas.microsoft.com/office/drawing/2014/main" val="1487574792"/>
                  </a:ext>
                </a:extLst>
              </a:tr>
              <a:tr h="738570">
                <a:tc>
                  <a:txBody>
                    <a:bodyPr/>
                    <a:lstStyle/>
                    <a:p>
                      <a:pPr algn="l" fontAlgn="t"/>
                      <a:r>
                        <a:rPr lang="en-US" sz="1800">
                          <a:effectLst/>
                          <a:latin typeface="+mj-lt"/>
                        </a:rPr>
                        <a:t>Canada Central</a:t>
                      </a:r>
                    </a:p>
                  </a:txBody>
                  <a:tcPr marL="55517" marR="55517" marT="27759" marB="27759">
                    <a:lnL>
                      <a:noFill/>
                    </a:lnL>
                    <a:lnR>
                      <a:noFill/>
                    </a:lnR>
                    <a:lnT>
                      <a:noFill/>
                    </a:lnT>
                    <a:lnB>
                      <a:noFill/>
                    </a:lnB>
                  </a:tcPr>
                </a:tc>
                <a:tc>
                  <a:txBody>
                    <a:bodyPr/>
                    <a:lstStyle/>
                    <a:p>
                      <a:pPr algn="l" fontAlgn="t"/>
                      <a:r>
                        <a:rPr lang="en-US" sz="1800">
                          <a:effectLst/>
                          <a:latin typeface="+mj-lt"/>
                        </a:rPr>
                        <a:t>Germany West Central</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r>
                        <a:rPr lang="en-US" sz="1800">
                          <a:effectLst/>
                          <a:latin typeface="+mj-lt"/>
                        </a:rPr>
                        <a:t>Central India</a:t>
                      </a:r>
                    </a:p>
                  </a:txBody>
                  <a:tcPr marL="55517" marR="55517" marT="27759" marB="27759">
                    <a:lnL>
                      <a:noFill/>
                    </a:lnL>
                    <a:lnR>
                      <a:noFill/>
                    </a:lnR>
                    <a:lnT>
                      <a:noFill/>
                    </a:lnT>
                    <a:lnB>
                      <a:noFill/>
                    </a:lnB>
                  </a:tcPr>
                </a:tc>
                <a:extLst>
                  <a:ext uri="{0D108BD9-81ED-4DB2-BD59-A6C34878D82A}">
                    <a16:rowId xmlns:a16="http://schemas.microsoft.com/office/drawing/2014/main" val="4194634434"/>
                  </a:ext>
                </a:extLst>
              </a:tr>
              <a:tr h="516999">
                <a:tc>
                  <a:txBody>
                    <a:bodyPr/>
                    <a:lstStyle/>
                    <a:p>
                      <a:pPr algn="l" fontAlgn="t"/>
                      <a:r>
                        <a:rPr lang="en-US" sz="1800">
                          <a:effectLst/>
                          <a:latin typeface="+mj-lt"/>
                        </a:rPr>
                        <a:t>Central US</a:t>
                      </a:r>
                    </a:p>
                  </a:txBody>
                  <a:tcPr marL="55517" marR="55517" marT="27759" marB="27759">
                    <a:lnL>
                      <a:noFill/>
                    </a:lnL>
                    <a:lnR>
                      <a:noFill/>
                    </a:lnR>
                    <a:lnT>
                      <a:noFill/>
                    </a:lnT>
                    <a:lnB>
                      <a:noFill/>
                    </a:lnB>
                  </a:tcPr>
                </a:tc>
                <a:tc>
                  <a:txBody>
                    <a:bodyPr/>
                    <a:lstStyle/>
                    <a:p>
                      <a:pPr algn="l" fontAlgn="t"/>
                      <a:r>
                        <a:rPr lang="en-US" sz="1800">
                          <a:effectLst/>
                          <a:latin typeface="+mj-lt"/>
                        </a:rPr>
                        <a:t>North Europe</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r>
                        <a:rPr lang="en-US" sz="1800">
                          <a:effectLst/>
                          <a:latin typeface="+mj-lt"/>
                        </a:rPr>
                        <a:t>Japan East</a:t>
                      </a:r>
                    </a:p>
                  </a:txBody>
                  <a:tcPr marL="55517" marR="55517" marT="27759" marB="27759">
                    <a:lnL>
                      <a:noFill/>
                    </a:lnL>
                    <a:lnR>
                      <a:noFill/>
                    </a:lnR>
                    <a:lnT>
                      <a:noFill/>
                    </a:lnT>
                    <a:lnB>
                      <a:noFill/>
                    </a:lnB>
                  </a:tcPr>
                </a:tc>
                <a:extLst>
                  <a:ext uri="{0D108BD9-81ED-4DB2-BD59-A6C34878D82A}">
                    <a16:rowId xmlns:a16="http://schemas.microsoft.com/office/drawing/2014/main" val="4046805188"/>
                  </a:ext>
                </a:extLst>
              </a:tr>
              <a:tr h="516999">
                <a:tc>
                  <a:txBody>
                    <a:bodyPr/>
                    <a:lstStyle/>
                    <a:p>
                      <a:pPr algn="l" fontAlgn="t"/>
                      <a:r>
                        <a:rPr lang="en-US" sz="1800">
                          <a:effectLst/>
                          <a:latin typeface="+mj-lt"/>
                        </a:rPr>
                        <a:t>East US</a:t>
                      </a:r>
                    </a:p>
                  </a:txBody>
                  <a:tcPr marL="55517" marR="55517" marT="27759" marB="27759">
                    <a:lnL>
                      <a:noFill/>
                    </a:lnL>
                    <a:lnR>
                      <a:noFill/>
                    </a:lnR>
                    <a:lnT>
                      <a:noFill/>
                    </a:lnT>
                    <a:lnB>
                      <a:noFill/>
                    </a:lnB>
                  </a:tcPr>
                </a:tc>
                <a:tc>
                  <a:txBody>
                    <a:bodyPr/>
                    <a:lstStyle/>
                    <a:p>
                      <a:pPr algn="l" fontAlgn="t"/>
                      <a:r>
                        <a:rPr lang="en-US" sz="1800">
                          <a:effectLst/>
                          <a:latin typeface="+mj-lt"/>
                        </a:rPr>
                        <a:t>Norway East</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r>
                        <a:rPr lang="en-US" sz="1800">
                          <a:effectLst/>
                          <a:latin typeface="+mj-lt"/>
                        </a:rPr>
                        <a:t>Korea Central</a:t>
                      </a:r>
                    </a:p>
                  </a:txBody>
                  <a:tcPr marL="55517" marR="55517" marT="27759" marB="27759">
                    <a:lnL>
                      <a:noFill/>
                    </a:lnL>
                    <a:lnR>
                      <a:noFill/>
                    </a:lnR>
                    <a:lnT>
                      <a:noFill/>
                    </a:lnT>
                    <a:lnB>
                      <a:noFill/>
                    </a:lnB>
                  </a:tcPr>
                </a:tc>
                <a:extLst>
                  <a:ext uri="{0D108BD9-81ED-4DB2-BD59-A6C34878D82A}">
                    <a16:rowId xmlns:a16="http://schemas.microsoft.com/office/drawing/2014/main" val="539677618"/>
                  </a:ext>
                </a:extLst>
              </a:tr>
              <a:tr h="516999">
                <a:tc>
                  <a:txBody>
                    <a:bodyPr/>
                    <a:lstStyle/>
                    <a:p>
                      <a:pPr algn="l" fontAlgn="t"/>
                      <a:r>
                        <a:rPr lang="en-US" sz="1800">
                          <a:effectLst/>
                          <a:latin typeface="+mj-lt"/>
                        </a:rPr>
                        <a:t>East US 2</a:t>
                      </a:r>
                    </a:p>
                  </a:txBody>
                  <a:tcPr marL="55517" marR="55517" marT="27759" marB="27759">
                    <a:lnL>
                      <a:noFill/>
                    </a:lnL>
                    <a:lnR>
                      <a:noFill/>
                    </a:lnR>
                    <a:lnT>
                      <a:noFill/>
                    </a:lnT>
                    <a:lnB>
                      <a:noFill/>
                    </a:lnB>
                  </a:tcPr>
                </a:tc>
                <a:tc>
                  <a:txBody>
                    <a:bodyPr/>
                    <a:lstStyle/>
                    <a:p>
                      <a:pPr algn="l" fontAlgn="t"/>
                      <a:r>
                        <a:rPr lang="en-US" sz="1800">
                          <a:effectLst/>
                          <a:latin typeface="+mj-lt"/>
                        </a:rPr>
                        <a:t>UK South</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r>
                        <a:rPr lang="en-US" sz="1800" dirty="0">
                          <a:effectLst/>
                          <a:latin typeface="+mj-lt"/>
                        </a:rPr>
                        <a:t>Southeast Asia</a:t>
                      </a:r>
                    </a:p>
                  </a:txBody>
                  <a:tcPr marL="55517" marR="55517" marT="27759" marB="27759">
                    <a:lnL>
                      <a:noFill/>
                    </a:lnL>
                    <a:lnR>
                      <a:noFill/>
                    </a:lnR>
                    <a:lnT>
                      <a:noFill/>
                    </a:lnT>
                    <a:lnB>
                      <a:noFill/>
                    </a:lnB>
                  </a:tcPr>
                </a:tc>
                <a:extLst>
                  <a:ext uri="{0D108BD9-81ED-4DB2-BD59-A6C34878D82A}">
                    <a16:rowId xmlns:a16="http://schemas.microsoft.com/office/drawing/2014/main" val="677919827"/>
                  </a:ext>
                </a:extLst>
              </a:tr>
              <a:tr h="516999">
                <a:tc>
                  <a:txBody>
                    <a:bodyPr/>
                    <a:lstStyle/>
                    <a:p>
                      <a:pPr algn="l" fontAlgn="t"/>
                      <a:r>
                        <a:rPr lang="en-US" sz="1800">
                          <a:effectLst/>
                          <a:latin typeface="+mj-lt"/>
                        </a:rPr>
                        <a:t>South Central US</a:t>
                      </a:r>
                    </a:p>
                  </a:txBody>
                  <a:tcPr marL="55517" marR="55517" marT="27759" marB="27759">
                    <a:lnL>
                      <a:noFill/>
                    </a:lnL>
                    <a:lnR>
                      <a:noFill/>
                    </a:lnR>
                    <a:lnT>
                      <a:noFill/>
                    </a:lnT>
                    <a:lnB>
                      <a:noFill/>
                    </a:lnB>
                  </a:tcPr>
                </a:tc>
                <a:tc>
                  <a:txBody>
                    <a:bodyPr/>
                    <a:lstStyle/>
                    <a:p>
                      <a:pPr algn="l" fontAlgn="t"/>
                      <a:r>
                        <a:rPr lang="en-US" sz="1800">
                          <a:effectLst/>
                          <a:latin typeface="+mj-lt"/>
                        </a:rPr>
                        <a:t>West Europe</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r>
                        <a:rPr lang="en-US" sz="1800">
                          <a:effectLst/>
                          <a:latin typeface="+mj-lt"/>
                        </a:rPr>
                        <a:t>East Asia</a:t>
                      </a:r>
                    </a:p>
                  </a:txBody>
                  <a:tcPr marL="55517" marR="55517" marT="27759" marB="27759">
                    <a:lnL>
                      <a:noFill/>
                    </a:lnL>
                    <a:lnR>
                      <a:noFill/>
                    </a:lnR>
                    <a:lnT>
                      <a:noFill/>
                    </a:lnT>
                    <a:lnB>
                      <a:noFill/>
                    </a:lnB>
                  </a:tcPr>
                </a:tc>
                <a:extLst>
                  <a:ext uri="{0D108BD9-81ED-4DB2-BD59-A6C34878D82A}">
                    <a16:rowId xmlns:a16="http://schemas.microsoft.com/office/drawing/2014/main" val="2015429465"/>
                  </a:ext>
                </a:extLst>
              </a:tr>
              <a:tr h="516999">
                <a:tc>
                  <a:txBody>
                    <a:bodyPr/>
                    <a:lstStyle/>
                    <a:p>
                      <a:pPr algn="l" fontAlgn="t"/>
                      <a:r>
                        <a:rPr lang="en-US" sz="1800">
                          <a:effectLst/>
                          <a:latin typeface="+mj-lt"/>
                        </a:rPr>
                        <a:t>US Gov Virginia</a:t>
                      </a:r>
                    </a:p>
                  </a:txBody>
                  <a:tcPr marL="55517" marR="55517" marT="27759" marB="27759">
                    <a:lnL>
                      <a:noFill/>
                    </a:lnL>
                    <a:lnR>
                      <a:noFill/>
                    </a:lnR>
                    <a:lnT>
                      <a:noFill/>
                    </a:lnT>
                    <a:lnB>
                      <a:noFill/>
                    </a:lnB>
                  </a:tcPr>
                </a:tc>
                <a:tc>
                  <a:txBody>
                    <a:bodyPr/>
                    <a:lstStyle/>
                    <a:p>
                      <a:pPr algn="l" fontAlgn="t"/>
                      <a:r>
                        <a:rPr lang="en-US" sz="1800">
                          <a:effectLst/>
                          <a:latin typeface="+mj-lt"/>
                        </a:rPr>
                        <a:t>Sweden Central</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r>
                        <a:rPr lang="en-US" sz="1800">
                          <a:effectLst/>
                          <a:latin typeface="+mj-lt"/>
                        </a:rPr>
                        <a:t>China North 3</a:t>
                      </a:r>
                    </a:p>
                  </a:txBody>
                  <a:tcPr marL="55517" marR="55517" marT="27759" marB="27759">
                    <a:lnL>
                      <a:noFill/>
                    </a:lnL>
                    <a:lnR>
                      <a:noFill/>
                    </a:lnR>
                    <a:lnT>
                      <a:noFill/>
                    </a:lnT>
                    <a:lnB>
                      <a:noFill/>
                    </a:lnB>
                  </a:tcPr>
                </a:tc>
                <a:extLst>
                  <a:ext uri="{0D108BD9-81ED-4DB2-BD59-A6C34878D82A}">
                    <a16:rowId xmlns:a16="http://schemas.microsoft.com/office/drawing/2014/main" val="1314253263"/>
                  </a:ext>
                </a:extLst>
              </a:tr>
              <a:tr h="516999">
                <a:tc>
                  <a:txBody>
                    <a:bodyPr/>
                    <a:lstStyle/>
                    <a:p>
                      <a:pPr algn="l" fontAlgn="t"/>
                      <a:r>
                        <a:rPr lang="en-US" sz="1800">
                          <a:effectLst/>
                          <a:latin typeface="+mj-lt"/>
                        </a:rPr>
                        <a:t>West US 2</a:t>
                      </a:r>
                    </a:p>
                  </a:txBody>
                  <a:tcPr marL="55517" marR="55517" marT="27759" marB="27759">
                    <a:lnL>
                      <a:noFill/>
                    </a:lnL>
                    <a:lnR>
                      <a:noFill/>
                    </a:lnR>
                    <a:lnT>
                      <a:noFill/>
                    </a:lnT>
                    <a:lnB>
                      <a:noFill/>
                    </a:lnB>
                  </a:tcPr>
                </a:tc>
                <a:tc>
                  <a:txBody>
                    <a:bodyPr/>
                    <a:lstStyle/>
                    <a:p>
                      <a:pPr algn="l" fontAlgn="t"/>
                      <a:r>
                        <a:rPr lang="en-US" sz="1800">
                          <a:effectLst/>
                          <a:latin typeface="+mj-lt"/>
                        </a:rPr>
                        <a:t>Switzerland North*</a:t>
                      </a: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tc>
                  <a:txBody>
                    <a:bodyPr/>
                    <a:lstStyle/>
                    <a:p>
                      <a:pPr algn="l" fontAlgn="t"/>
                      <a:endParaRPr lang="en-US" sz="1800">
                        <a:effectLst/>
                        <a:latin typeface="+mj-lt"/>
                      </a:endParaRPr>
                    </a:p>
                  </a:txBody>
                  <a:tcPr marL="55517" marR="55517" marT="27759" marB="27759">
                    <a:lnL>
                      <a:noFill/>
                    </a:lnL>
                    <a:lnR>
                      <a:noFill/>
                    </a:lnR>
                    <a:lnT>
                      <a:noFill/>
                    </a:lnT>
                    <a:lnB>
                      <a:noFill/>
                    </a:lnB>
                  </a:tcPr>
                </a:tc>
                <a:extLst>
                  <a:ext uri="{0D108BD9-81ED-4DB2-BD59-A6C34878D82A}">
                    <a16:rowId xmlns:a16="http://schemas.microsoft.com/office/drawing/2014/main" val="3954196622"/>
                  </a:ext>
                </a:extLst>
              </a:tr>
              <a:tr h="296877">
                <a:tc>
                  <a:txBody>
                    <a:bodyPr/>
                    <a:lstStyle/>
                    <a:p>
                      <a:pPr algn="l" fontAlgn="t"/>
                      <a:r>
                        <a:rPr lang="en-US" sz="1800" b="0" i="0" dirty="0">
                          <a:solidFill>
                            <a:srgbClr val="171717"/>
                          </a:solidFill>
                          <a:effectLst/>
                          <a:latin typeface="+mj-lt"/>
                        </a:rPr>
                        <a:t>West US 3</a:t>
                      </a:r>
                    </a:p>
                  </a:txBody>
                  <a:tcPr marL="55517" marR="55517" marT="27759" marB="27759">
                    <a:lnL>
                      <a:noFill/>
                    </a:lnL>
                    <a:lnR>
                      <a:noFill/>
                    </a:lnR>
                    <a:lnT>
                      <a:noFill/>
                    </a:lnT>
                    <a:lnB>
                      <a:noFill/>
                    </a:lnB>
                    <a:solidFill>
                      <a:srgbClr val="FFFFFF"/>
                    </a:solidFill>
                  </a:tcPr>
                </a:tc>
                <a:tc>
                  <a:txBody>
                    <a:bodyPr/>
                    <a:lstStyle/>
                    <a:p>
                      <a:pPr algn="l" fontAlgn="t"/>
                      <a:endParaRPr lang="en-US" sz="1800" b="0" i="0">
                        <a:solidFill>
                          <a:srgbClr val="171717"/>
                        </a:solidFill>
                        <a:effectLst/>
                        <a:latin typeface="+mj-lt"/>
                      </a:endParaRPr>
                    </a:p>
                  </a:txBody>
                  <a:tcPr marL="55517" marR="55517" marT="27759" marB="27759">
                    <a:lnL>
                      <a:noFill/>
                    </a:lnL>
                    <a:lnR>
                      <a:noFill/>
                    </a:lnR>
                    <a:lnT>
                      <a:noFill/>
                    </a:lnT>
                    <a:lnB>
                      <a:noFill/>
                    </a:lnB>
                    <a:solidFill>
                      <a:srgbClr val="FFFFFF"/>
                    </a:solidFill>
                  </a:tcPr>
                </a:tc>
                <a:tc>
                  <a:txBody>
                    <a:bodyPr/>
                    <a:lstStyle/>
                    <a:p>
                      <a:pPr algn="l" fontAlgn="t"/>
                      <a:endParaRPr lang="en-US" sz="1800" b="0" i="0">
                        <a:solidFill>
                          <a:srgbClr val="171717"/>
                        </a:solidFill>
                        <a:effectLst/>
                        <a:latin typeface="+mj-lt"/>
                      </a:endParaRPr>
                    </a:p>
                  </a:txBody>
                  <a:tcPr marL="55517" marR="55517" marT="27759" marB="27759">
                    <a:lnL>
                      <a:noFill/>
                    </a:lnL>
                    <a:lnR>
                      <a:noFill/>
                    </a:lnR>
                    <a:lnT>
                      <a:noFill/>
                    </a:lnT>
                    <a:lnB>
                      <a:noFill/>
                    </a:lnB>
                    <a:solidFill>
                      <a:srgbClr val="FFFFFF"/>
                    </a:solidFill>
                  </a:tcPr>
                </a:tc>
                <a:tc>
                  <a:txBody>
                    <a:bodyPr/>
                    <a:lstStyle/>
                    <a:p>
                      <a:endParaRPr lang="en-US" sz="1800" dirty="0">
                        <a:latin typeface="+mj-lt"/>
                      </a:endParaRPr>
                    </a:p>
                  </a:txBody>
                  <a:tcPr marL="55517" marR="55517" marT="27759" marB="27759">
                    <a:lnL>
                      <a:noFill/>
                    </a:lnL>
                    <a:lnT>
                      <a:noFill/>
                    </a:lnT>
                  </a:tcPr>
                </a:tc>
                <a:extLst>
                  <a:ext uri="{0D108BD9-81ED-4DB2-BD59-A6C34878D82A}">
                    <a16:rowId xmlns:a16="http://schemas.microsoft.com/office/drawing/2014/main" val="3786786577"/>
                  </a:ext>
                </a:extLst>
              </a:tr>
            </a:tbl>
          </a:graphicData>
        </a:graphic>
      </p:graphicFrame>
    </p:spTree>
    <p:extLst>
      <p:ext uri="{BB962C8B-B14F-4D97-AF65-F5344CB8AC3E}">
        <p14:creationId xmlns:p14="http://schemas.microsoft.com/office/powerpoint/2010/main" val="942190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in Europe</a:t>
            </a:r>
          </a:p>
        </p:txBody>
      </p:sp>
      <p:sp>
        <p:nvSpPr>
          <p:cNvPr id="3" name="Content Placeholder 2"/>
          <p:cNvSpPr>
            <a:spLocks noGrp="1"/>
          </p:cNvSpPr>
          <p:nvPr>
            <p:ph idx="1"/>
          </p:nvPr>
        </p:nvSpPr>
        <p:spPr>
          <a:xfrm>
            <a:off x="396239" y="1624149"/>
            <a:ext cx="4959532" cy="4942114"/>
          </a:xfrm>
        </p:spPr>
        <p:txBody>
          <a:bodyPr/>
          <a:lstStyle/>
          <a:p>
            <a:r>
              <a:rPr lang="en-US" dirty="0"/>
              <a:t>Austria </a:t>
            </a:r>
          </a:p>
          <a:p>
            <a:r>
              <a:rPr lang="en-US" dirty="0"/>
              <a:t>Belgium </a:t>
            </a:r>
          </a:p>
          <a:p>
            <a:r>
              <a:rPr lang="en-US" dirty="0"/>
              <a:t>Denmark </a:t>
            </a:r>
          </a:p>
          <a:p>
            <a:r>
              <a:rPr lang="en-US" dirty="0"/>
              <a:t>North Europe (Ireland) </a:t>
            </a:r>
          </a:p>
          <a:p>
            <a:r>
              <a:rPr lang="en-US" dirty="0"/>
              <a:t>West Europe (Netherlands)</a:t>
            </a:r>
          </a:p>
          <a:p>
            <a:r>
              <a:rPr lang="en-US" dirty="0"/>
              <a:t>Finland</a:t>
            </a:r>
          </a:p>
          <a:p>
            <a:r>
              <a:rPr lang="en-US" dirty="0"/>
              <a:t>France</a:t>
            </a:r>
          </a:p>
          <a:p>
            <a:r>
              <a:rPr lang="en-US" dirty="0"/>
              <a:t>Germany </a:t>
            </a:r>
          </a:p>
          <a:p>
            <a:pPr marL="0" indent="0">
              <a:buNone/>
            </a:pPr>
            <a:endParaRPr lang="en-US" dirty="0"/>
          </a:p>
        </p:txBody>
      </p:sp>
      <p:sp>
        <p:nvSpPr>
          <p:cNvPr id="4" name="Content Placeholder 2"/>
          <p:cNvSpPr txBox="1">
            <a:spLocks/>
          </p:cNvSpPr>
          <p:nvPr/>
        </p:nvSpPr>
        <p:spPr bwMode="auto">
          <a:xfrm>
            <a:off x="4852851" y="1611087"/>
            <a:ext cx="3742509" cy="4942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r>
              <a:rPr lang="en-US" kern="0" dirty="0"/>
              <a:t>Greece </a:t>
            </a:r>
          </a:p>
          <a:p>
            <a:r>
              <a:rPr lang="en-US" kern="0" dirty="0"/>
              <a:t>Italy </a:t>
            </a:r>
          </a:p>
          <a:p>
            <a:r>
              <a:rPr lang="en-US" kern="0" dirty="0"/>
              <a:t>Norway </a:t>
            </a:r>
          </a:p>
          <a:p>
            <a:r>
              <a:rPr lang="en-US" kern="0" dirty="0"/>
              <a:t>Poland </a:t>
            </a:r>
          </a:p>
          <a:p>
            <a:r>
              <a:rPr lang="en-US" kern="0" dirty="0"/>
              <a:t>Spain </a:t>
            </a:r>
          </a:p>
          <a:p>
            <a:r>
              <a:rPr lang="en-US" kern="0" dirty="0"/>
              <a:t>Sweden </a:t>
            </a:r>
          </a:p>
          <a:p>
            <a:r>
              <a:rPr lang="en-US" kern="0" dirty="0"/>
              <a:t>Switzerland </a:t>
            </a:r>
          </a:p>
          <a:p>
            <a:r>
              <a:rPr lang="en-US" kern="0" dirty="0"/>
              <a:t>United Kingdom</a:t>
            </a:r>
          </a:p>
        </p:txBody>
      </p:sp>
    </p:spTree>
    <p:extLst>
      <p:ext uri="{BB962C8B-B14F-4D97-AF65-F5344CB8AC3E}">
        <p14:creationId xmlns:p14="http://schemas.microsoft.com/office/powerpoint/2010/main" val="1923920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Connections</a:t>
            </a:r>
          </a:p>
        </p:txBody>
      </p:sp>
      <p:sp>
        <p:nvSpPr>
          <p:cNvPr id="5" name="Content Placeholder 4"/>
          <p:cNvSpPr>
            <a:spLocks noGrp="1"/>
          </p:cNvSpPr>
          <p:nvPr>
            <p:ph idx="1"/>
          </p:nvPr>
        </p:nvSpPr>
        <p:spPr>
          <a:xfrm>
            <a:off x="457200" y="3204754"/>
            <a:ext cx="8229600" cy="2662646"/>
          </a:xfrm>
        </p:spPr>
        <p:txBody>
          <a:bodyPr/>
          <a:lstStyle/>
          <a:p>
            <a:r>
              <a:rPr lang="en-US" sz="2000" dirty="0"/>
              <a:t>Network points-of-presence (</a:t>
            </a:r>
            <a:r>
              <a:rPr lang="en-US" sz="2000" dirty="0" err="1"/>
              <a:t>PoPs</a:t>
            </a:r>
            <a:r>
              <a:rPr lang="en-US" sz="2000" dirty="0"/>
              <a:t>) optimize network performance for Azure cloud services.</a:t>
            </a:r>
          </a:p>
          <a:p>
            <a:r>
              <a:rPr lang="en-US" sz="2000" dirty="0"/>
              <a:t>To route services the fastest way possible, these local access points to and from the vast Microsoft global network typically operate at very fast latency within highly dense economic and population centers.</a:t>
            </a:r>
          </a:p>
          <a:p>
            <a:r>
              <a:rPr lang="en-US" sz="2000" dirty="0"/>
              <a:t>Azure Orbital ground stations connect satellites to the earth.</a:t>
            </a:r>
          </a:p>
          <a:p>
            <a:r>
              <a:rPr lang="en-US" sz="2000" dirty="0"/>
              <a:t>Extend the utility of Azure capabilities through the power of space infrastructure. </a:t>
            </a:r>
          </a:p>
        </p:txBody>
      </p:sp>
      <p:pic>
        <p:nvPicPr>
          <p:cNvPr id="6" name="Picture 5"/>
          <p:cNvPicPr>
            <a:picLocks noChangeAspect="1"/>
          </p:cNvPicPr>
          <p:nvPr/>
        </p:nvPicPr>
        <p:blipFill>
          <a:blip r:embed="rId2"/>
          <a:stretch>
            <a:fillRect/>
          </a:stretch>
        </p:blipFill>
        <p:spPr>
          <a:xfrm>
            <a:off x="457200" y="1581695"/>
            <a:ext cx="8115300" cy="1447800"/>
          </a:xfrm>
          <a:prstGeom prst="rect">
            <a:avLst/>
          </a:prstGeom>
        </p:spPr>
      </p:pic>
    </p:spTree>
    <p:extLst>
      <p:ext uri="{BB962C8B-B14F-4D97-AF65-F5344CB8AC3E}">
        <p14:creationId xmlns:p14="http://schemas.microsoft.com/office/powerpoint/2010/main" val="3979234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89629"/>
          </a:xfrm>
        </p:spPr>
        <p:txBody>
          <a:bodyPr/>
          <a:lstStyle/>
          <a:p>
            <a:r>
              <a:rPr lang="en-US" dirty="0"/>
              <a:t>Project Natick</a:t>
            </a:r>
          </a:p>
        </p:txBody>
      </p:sp>
      <p:pic>
        <p:nvPicPr>
          <p:cNvPr id="4" name="Content Placeholder 3"/>
          <p:cNvPicPr>
            <a:picLocks noGrp="1" noChangeAspect="1"/>
          </p:cNvPicPr>
          <p:nvPr>
            <p:ph idx="1"/>
          </p:nvPr>
        </p:nvPicPr>
        <p:blipFill>
          <a:blip r:embed="rId2"/>
          <a:stretch>
            <a:fillRect/>
          </a:stretch>
        </p:blipFill>
        <p:spPr>
          <a:xfrm>
            <a:off x="792479" y="1446829"/>
            <a:ext cx="7341326" cy="5327825"/>
          </a:xfrm>
          <a:prstGeom prst="rect">
            <a:avLst/>
          </a:prstGeom>
        </p:spPr>
      </p:pic>
    </p:spTree>
    <p:extLst>
      <p:ext uri="{BB962C8B-B14F-4D97-AF65-F5344CB8AC3E}">
        <p14:creationId xmlns:p14="http://schemas.microsoft.com/office/powerpoint/2010/main" val="1521655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57942"/>
          </a:xfrm>
        </p:spPr>
        <p:txBody>
          <a:bodyPr/>
          <a:lstStyle/>
          <a:p>
            <a:r>
              <a:rPr lang="en-US" dirty="0"/>
              <a:t>Azure Categories (Domains)</a:t>
            </a:r>
          </a:p>
        </p:txBody>
      </p:sp>
      <p:sp>
        <p:nvSpPr>
          <p:cNvPr id="3" name="Content Placeholder 2"/>
          <p:cNvSpPr>
            <a:spLocks noGrp="1"/>
          </p:cNvSpPr>
          <p:nvPr>
            <p:ph idx="1"/>
          </p:nvPr>
        </p:nvSpPr>
        <p:spPr>
          <a:xfrm>
            <a:off x="396240" y="1415142"/>
            <a:ext cx="2686594" cy="5342709"/>
          </a:xfrm>
        </p:spPr>
        <p:txBody>
          <a:bodyPr/>
          <a:lstStyle/>
          <a:p>
            <a:r>
              <a:rPr lang="en-US" dirty="0"/>
              <a:t>General</a:t>
            </a:r>
          </a:p>
          <a:p>
            <a:r>
              <a:rPr lang="en-US" dirty="0"/>
              <a:t>Compute</a:t>
            </a:r>
          </a:p>
          <a:p>
            <a:r>
              <a:rPr lang="en-US" dirty="0"/>
              <a:t>Networking</a:t>
            </a:r>
          </a:p>
          <a:p>
            <a:r>
              <a:rPr lang="en-US" dirty="0"/>
              <a:t>Storage</a:t>
            </a:r>
          </a:p>
          <a:p>
            <a:r>
              <a:rPr lang="en-US" dirty="0"/>
              <a:t>Web</a:t>
            </a:r>
          </a:p>
          <a:p>
            <a:r>
              <a:rPr lang="en-US" dirty="0"/>
              <a:t>Mobile</a:t>
            </a:r>
          </a:p>
          <a:p>
            <a:r>
              <a:rPr lang="en-US" dirty="0"/>
              <a:t>Containers</a:t>
            </a:r>
          </a:p>
          <a:p>
            <a:r>
              <a:rPr lang="en-US" dirty="0"/>
              <a:t>Databases</a:t>
            </a:r>
          </a:p>
          <a:p>
            <a:r>
              <a:rPr lang="en-US" dirty="0"/>
              <a:t>Analytics</a:t>
            </a:r>
          </a:p>
          <a:p>
            <a:endParaRPr lang="en-US" dirty="0"/>
          </a:p>
        </p:txBody>
      </p:sp>
      <p:sp>
        <p:nvSpPr>
          <p:cNvPr id="4" name="Content Placeholder 2"/>
          <p:cNvSpPr txBox="1">
            <a:spLocks/>
          </p:cNvSpPr>
          <p:nvPr/>
        </p:nvSpPr>
        <p:spPr bwMode="auto">
          <a:xfrm>
            <a:off x="2978330" y="1415142"/>
            <a:ext cx="2960915" cy="5342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r>
              <a:rPr lang="en-US" kern="0" dirty="0"/>
              <a:t>AI + machine learning</a:t>
            </a:r>
          </a:p>
          <a:p>
            <a:r>
              <a:rPr lang="en-US" kern="0" dirty="0"/>
              <a:t>Internet of things</a:t>
            </a:r>
          </a:p>
          <a:p>
            <a:r>
              <a:rPr lang="en-US" kern="0" dirty="0"/>
              <a:t>Mixed reality</a:t>
            </a:r>
          </a:p>
          <a:p>
            <a:r>
              <a:rPr lang="en-US" kern="0" dirty="0"/>
              <a:t>Integration</a:t>
            </a:r>
          </a:p>
          <a:p>
            <a:r>
              <a:rPr lang="en-US" kern="0" dirty="0"/>
              <a:t>Identity</a:t>
            </a:r>
          </a:p>
          <a:p>
            <a:r>
              <a:rPr lang="en-US" kern="0" dirty="0"/>
              <a:t>Security</a:t>
            </a:r>
          </a:p>
          <a:p>
            <a:r>
              <a:rPr lang="en-US" kern="0" dirty="0"/>
              <a:t>DevOps</a:t>
            </a:r>
          </a:p>
        </p:txBody>
      </p:sp>
      <p:sp>
        <p:nvSpPr>
          <p:cNvPr id="5" name="Content Placeholder 2"/>
          <p:cNvSpPr txBox="1">
            <a:spLocks/>
          </p:cNvSpPr>
          <p:nvPr/>
        </p:nvSpPr>
        <p:spPr bwMode="auto">
          <a:xfrm>
            <a:off x="5832565" y="1415141"/>
            <a:ext cx="2960915" cy="5342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2971" indent="-228594"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160" indent="-228594"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349" indent="-228594"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537"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726"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8914"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103" indent="-228594"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r>
              <a:rPr lang="en-US" kern="0" dirty="0"/>
              <a:t>Migration</a:t>
            </a:r>
          </a:p>
          <a:p>
            <a:r>
              <a:rPr lang="en-US" kern="0" dirty="0"/>
              <a:t>Monitor</a:t>
            </a:r>
          </a:p>
          <a:p>
            <a:r>
              <a:rPr lang="en-US" kern="0" dirty="0"/>
              <a:t>Management and governance</a:t>
            </a:r>
          </a:p>
          <a:p>
            <a:r>
              <a:rPr lang="en-US" kern="0" dirty="0"/>
              <a:t>Intune</a:t>
            </a:r>
          </a:p>
          <a:p>
            <a:r>
              <a:rPr lang="en-US" kern="0" dirty="0"/>
              <a:t>Hybrid + </a:t>
            </a:r>
            <a:r>
              <a:rPr lang="en-US" kern="0" dirty="0" err="1"/>
              <a:t>multicloud</a:t>
            </a:r>
            <a:endParaRPr lang="en-US" kern="0" dirty="0"/>
          </a:p>
          <a:p>
            <a:r>
              <a:rPr lang="en-US" kern="0" dirty="0"/>
              <a:t>Other</a:t>
            </a:r>
          </a:p>
        </p:txBody>
      </p:sp>
    </p:spTree>
    <p:extLst>
      <p:ext uri="{BB962C8B-B14F-4D97-AF65-F5344CB8AC3E}">
        <p14:creationId xmlns:p14="http://schemas.microsoft.com/office/powerpoint/2010/main" val="56537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a:t>
            </a:r>
          </a:p>
        </p:txBody>
      </p:sp>
      <p:pic>
        <p:nvPicPr>
          <p:cNvPr id="4" name="Content Placeholder 3"/>
          <p:cNvPicPr>
            <a:picLocks noGrp="1" noChangeAspect="1"/>
          </p:cNvPicPr>
          <p:nvPr>
            <p:ph idx="1"/>
          </p:nvPr>
        </p:nvPicPr>
        <p:blipFill>
          <a:blip r:embed="rId2"/>
          <a:stretch>
            <a:fillRect/>
          </a:stretch>
        </p:blipFill>
        <p:spPr>
          <a:xfrm>
            <a:off x="209130" y="1959429"/>
            <a:ext cx="8802876" cy="4223657"/>
          </a:xfrm>
          <a:prstGeom prst="rect">
            <a:avLst/>
          </a:prstGeom>
        </p:spPr>
      </p:pic>
    </p:spTree>
    <p:extLst>
      <p:ext uri="{BB962C8B-B14F-4D97-AF65-F5344CB8AC3E}">
        <p14:creationId xmlns:p14="http://schemas.microsoft.com/office/powerpoint/2010/main" val="2646502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(cont.)</a:t>
            </a:r>
          </a:p>
        </p:txBody>
      </p:sp>
      <p:pic>
        <p:nvPicPr>
          <p:cNvPr id="4" name="Content Placeholder 3"/>
          <p:cNvPicPr>
            <a:picLocks noGrp="1" noChangeAspect="1"/>
          </p:cNvPicPr>
          <p:nvPr>
            <p:ph idx="1"/>
          </p:nvPr>
        </p:nvPicPr>
        <p:blipFill>
          <a:blip r:embed="rId2"/>
          <a:stretch>
            <a:fillRect/>
          </a:stretch>
        </p:blipFill>
        <p:spPr>
          <a:xfrm>
            <a:off x="235640" y="2255521"/>
            <a:ext cx="8724237" cy="3317966"/>
          </a:xfrm>
          <a:prstGeom prst="rect">
            <a:avLst/>
          </a:prstGeom>
        </p:spPr>
      </p:pic>
    </p:spTree>
    <p:extLst>
      <p:ext uri="{BB962C8B-B14F-4D97-AF65-F5344CB8AC3E}">
        <p14:creationId xmlns:p14="http://schemas.microsoft.com/office/powerpoint/2010/main" val="2980118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options</a:t>
            </a:r>
          </a:p>
        </p:txBody>
      </p:sp>
      <p:sp>
        <p:nvSpPr>
          <p:cNvPr id="3" name="Content Placeholder 2"/>
          <p:cNvSpPr>
            <a:spLocks noGrp="1"/>
          </p:cNvSpPr>
          <p:nvPr>
            <p:ph idx="1"/>
          </p:nvPr>
        </p:nvSpPr>
        <p:spPr/>
        <p:txBody>
          <a:bodyPr/>
          <a:lstStyle/>
          <a:p>
            <a:r>
              <a:rPr lang="en-US" dirty="0"/>
              <a:t>Virtual machines are software emulations of physical computers.</a:t>
            </a:r>
          </a:p>
          <a:p>
            <a:r>
              <a:rPr lang="en-US" dirty="0"/>
              <a:t>Virtual machine scale sets are an Azure compute resource that you can use to deploy and manage a set of identical VMs. With all VMs configured the same, virtual machine scale sets are designed to support true </a:t>
            </a:r>
            <a:r>
              <a:rPr lang="en-US" dirty="0" err="1"/>
              <a:t>autoscale</a:t>
            </a:r>
            <a:r>
              <a:rPr lang="en-US" dirty="0"/>
              <a:t>. </a:t>
            </a:r>
          </a:p>
        </p:txBody>
      </p:sp>
    </p:spTree>
    <p:extLst>
      <p:ext uri="{BB962C8B-B14F-4D97-AF65-F5344CB8AC3E}">
        <p14:creationId xmlns:p14="http://schemas.microsoft.com/office/powerpoint/2010/main" val="428996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options (cont.)</a:t>
            </a:r>
          </a:p>
        </p:txBody>
      </p:sp>
      <p:sp>
        <p:nvSpPr>
          <p:cNvPr id="3" name="Content Placeholder 2"/>
          <p:cNvSpPr>
            <a:spLocks noGrp="1"/>
          </p:cNvSpPr>
          <p:nvPr>
            <p:ph idx="1"/>
          </p:nvPr>
        </p:nvSpPr>
        <p:spPr/>
        <p:txBody>
          <a:bodyPr/>
          <a:lstStyle/>
          <a:p>
            <a:r>
              <a:rPr lang="en-US" dirty="0"/>
              <a:t>Containers and Kubernetes - Container Instances and Azure Kubernetes Service are Azure compute resources that you can use to deploy and manage containers.</a:t>
            </a:r>
          </a:p>
          <a:p>
            <a:r>
              <a:rPr lang="en-US" dirty="0"/>
              <a:t>App Service - With Azure App Service, you can quickly build, deploy, and scale enterprise-grade web, mobile, and API apps running on any platform (PaaS).</a:t>
            </a:r>
          </a:p>
        </p:txBody>
      </p:sp>
    </p:spTree>
    <p:extLst>
      <p:ext uri="{BB962C8B-B14F-4D97-AF65-F5344CB8AC3E}">
        <p14:creationId xmlns:p14="http://schemas.microsoft.com/office/powerpoint/2010/main" val="904645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options (end)</a:t>
            </a:r>
          </a:p>
        </p:txBody>
      </p:sp>
      <p:sp>
        <p:nvSpPr>
          <p:cNvPr id="3" name="Content Placeholder 2"/>
          <p:cNvSpPr>
            <a:spLocks noGrp="1"/>
          </p:cNvSpPr>
          <p:nvPr>
            <p:ph idx="1"/>
          </p:nvPr>
        </p:nvSpPr>
        <p:spPr>
          <a:xfrm>
            <a:off x="457199" y="1981200"/>
            <a:ext cx="8390709" cy="3886200"/>
          </a:xfrm>
        </p:spPr>
        <p:txBody>
          <a:bodyPr/>
          <a:lstStyle/>
          <a:p>
            <a:r>
              <a:rPr lang="en-US" dirty="0"/>
              <a:t>Functions are ideal when you're concerned only about the code running your service and not the underlying platform or infrastructure. They're commonly used when you need to perform work in response to an event (often via a REST request), timer, or message from another Azure service, and when that work can be completed quickly, within seconds or less.</a:t>
            </a:r>
          </a:p>
        </p:txBody>
      </p:sp>
    </p:spTree>
    <p:extLst>
      <p:ext uri="{BB962C8B-B14F-4D97-AF65-F5344CB8AC3E}">
        <p14:creationId xmlns:p14="http://schemas.microsoft.com/office/powerpoint/2010/main" val="2285873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VM checklist</a:t>
            </a:r>
          </a:p>
        </p:txBody>
      </p:sp>
      <p:sp>
        <p:nvSpPr>
          <p:cNvPr id="3" name="Content Placeholder 2"/>
          <p:cNvSpPr>
            <a:spLocks noGrp="1"/>
          </p:cNvSpPr>
          <p:nvPr>
            <p:ph idx="1"/>
          </p:nvPr>
        </p:nvSpPr>
        <p:spPr/>
        <p:txBody>
          <a:bodyPr/>
          <a:lstStyle/>
          <a:p>
            <a:r>
              <a:rPr lang="en-US" dirty="0"/>
              <a:t>Start with the network</a:t>
            </a:r>
          </a:p>
          <a:p>
            <a:r>
              <a:rPr lang="en-US" dirty="0"/>
              <a:t>Name the VM</a:t>
            </a:r>
          </a:p>
          <a:p>
            <a:r>
              <a:rPr lang="en-US" dirty="0"/>
              <a:t>Decide the location for the VM</a:t>
            </a:r>
          </a:p>
          <a:p>
            <a:r>
              <a:rPr lang="en-US" dirty="0"/>
              <a:t>Determine the size of the VM</a:t>
            </a:r>
          </a:p>
          <a:p>
            <a:r>
              <a:rPr lang="en-US" dirty="0"/>
              <a:t>Understanding the pricing model</a:t>
            </a:r>
          </a:p>
          <a:p>
            <a:r>
              <a:rPr lang="en-US" dirty="0"/>
              <a:t>Storage for the VM</a:t>
            </a:r>
          </a:p>
          <a:p>
            <a:r>
              <a:rPr lang="en-US" dirty="0"/>
              <a:t>Select an operating system</a:t>
            </a:r>
          </a:p>
        </p:txBody>
      </p:sp>
    </p:spTree>
    <p:extLst>
      <p:ext uri="{BB962C8B-B14F-4D97-AF65-F5344CB8AC3E}">
        <p14:creationId xmlns:p14="http://schemas.microsoft.com/office/powerpoint/2010/main" val="2700708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to use VMs</a:t>
            </a:r>
            <a:endParaRPr lang="en-US" dirty="0"/>
          </a:p>
        </p:txBody>
      </p:sp>
      <p:sp>
        <p:nvSpPr>
          <p:cNvPr id="3" name="Content Placeholder 2"/>
          <p:cNvSpPr>
            <a:spLocks noGrp="1"/>
          </p:cNvSpPr>
          <p:nvPr>
            <p:ph idx="1"/>
          </p:nvPr>
        </p:nvSpPr>
        <p:spPr>
          <a:xfrm>
            <a:off x="387532" y="1615440"/>
            <a:ext cx="8229600" cy="3886200"/>
          </a:xfrm>
        </p:spPr>
        <p:txBody>
          <a:bodyPr/>
          <a:lstStyle/>
          <a:p>
            <a:r>
              <a:rPr lang="en-US" dirty="0"/>
              <a:t>VMs are an ideal choice when you need:</a:t>
            </a:r>
          </a:p>
          <a:p>
            <a:pPr lvl="1"/>
            <a:r>
              <a:rPr lang="en-US" dirty="0"/>
              <a:t>Total control over the operating system (OS).</a:t>
            </a:r>
          </a:p>
          <a:p>
            <a:pPr lvl="1"/>
            <a:r>
              <a:rPr lang="en-US" dirty="0"/>
              <a:t>The ability to run custom software.</a:t>
            </a:r>
          </a:p>
          <a:p>
            <a:pPr lvl="1"/>
            <a:r>
              <a:rPr lang="en-US" dirty="0"/>
              <a:t>To use custom hosting configurations.</a:t>
            </a:r>
          </a:p>
          <a:p>
            <a:r>
              <a:rPr lang="en-US" dirty="0"/>
              <a:t>Scenarios for VM use:</a:t>
            </a:r>
          </a:p>
          <a:p>
            <a:pPr lvl="1"/>
            <a:r>
              <a:rPr lang="en-US" dirty="0"/>
              <a:t>During testing and development. </a:t>
            </a:r>
          </a:p>
          <a:p>
            <a:pPr lvl="1"/>
            <a:r>
              <a:rPr lang="en-US" dirty="0"/>
              <a:t>When running applications in the cloud.</a:t>
            </a:r>
          </a:p>
          <a:p>
            <a:pPr lvl="1"/>
            <a:r>
              <a:rPr lang="en-US" dirty="0"/>
              <a:t>When extending your datacenter to the cloud</a:t>
            </a:r>
          </a:p>
          <a:p>
            <a:pPr lvl="1"/>
            <a:r>
              <a:rPr lang="en-US" dirty="0"/>
              <a:t>During disaster recovery.</a:t>
            </a:r>
          </a:p>
        </p:txBody>
      </p:sp>
    </p:spTree>
    <p:extLst>
      <p:ext uri="{BB962C8B-B14F-4D97-AF65-F5344CB8AC3E}">
        <p14:creationId xmlns:p14="http://schemas.microsoft.com/office/powerpoint/2010/main" val="3489930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14251"/>
          </a:xfrm>
        </p:spPr>
        <p:txBody>
          <a:bodyPr/>
          <a:lstStyle/>
          <a:p>
            <a:r>
              <a:rPr lang="en-US" b="1" dirty="0"/>
              <a:t>Azure Batch</a:t>
            </a:r>
            <a:endParaRPr lang="en-US" dirty="0"/>
          </a:p>
        </p:txBody>
      </p:sp>
      <p:sp>
        <p:nvSpPr>
          <p:cNvPr id="3" name="Content Placeholder 2"/>
          <p:cNvSpPr>
            <a:spLocks noGrp="1"/>
          </p:cNvSpPr>
          <p:nvPr>
            <p:ph idx="1"/>
          </p:nvPr>
        </p:nvSpPr>
        <p:spPr>
          <a:xfrm>
            <a:off x="152400" y="1271451"/>
            <a:ext cx="8721634" cy="3886200"/>
          </a:xfrm>
        </p:spPr>
        <p:txBody>
          <a:bodyPr/>
          <a:lstStyle/>
          <a:p>
            <a:r>
              <a:rPr lang="en-US" sz="2800" dirty="0"/>
              <a:t>Azure Batch enables large-scale parallel and high-performance computing (HPC) batch jobs with the ability to scale to tens, hundreds, or thousands of VMs.</a:t>
            </a:r>
          </a:p>
          <a:p>
            <a:r>
              <a:rPr lang="en-US" sz="2800" dirty="0"/>
              <a:t>When you're ready to run a job, Batch does the following:</a:t>
            </a:r>
          </a:p>
          <a:p>
            <a:pPr lvl="1"/>
            <a:r>
              <a:rPr lang="en-US" sz="2400" dirty="0"/>
              <a:t>Starts a pool of compute VMs for you.</a:t>
            </a:r>
          </a:p>
          <a:p>
            <a:pPr lvl="1"/>
            <a:r>
              <a:rPr lang="en-US" sz="2400" dirty="0"/>
              <a:t>Installs applications and staging data.</a:t>
            </a:r>
          </a:p>
          <a:p>
            <a:pPr lvl="1"/>
            <a:r>
              <a:rPr lang="en-US" sz="2400" dirty="0"/>
              <a:t>Runs jobs with as many tasks as you have.</a:t>
            </a:r>
          </a:p>
          <a:p>
            <a:pPr lvl="1"/>
            <a:r>
              <a:rPr lang="en-US" sz="2400" dirty="0"/>
              <a:t>Identifies failures.</a:t>
            </a:r>
          </a:p>
          <a:p>
            <a:pPr lvl="1"/>
            <a:r>
              <a:rPr lang="en-US" sz="2400" dirty="0" err="1"/>
              <a:t>Requeues</a:t>
            </a:r>
            <a:r>
              <a:rPr lang="en-US" sz="2400" dirty="0"/>
              <a:t> work.</a:t>
            </a:r>
          </a:p>
          <a:p>
            <a:pPr lvl="1"/>
            <a:r>
              <a:rPr lang="en-US" sz="2400" dirty="0"/>
              <a:t>Scales down the pool as work completes.</a:t>
            </a:r>
          </a:p>
          <a:p>
            <a:endParaRPr lang="en-US" dirty="0"/>
          </a:p>
        </p:txBody>
      </p:sp>
    </p:spTree>
    <p:extLst>
      <p:ext uri="{BB962C8B-B14F-4D97-AF65-F5344CB8AC3E}">
        <p14:creationId xmlns:p14="http://schemas.microsoft.com/office/powerpoint/2010/main" val="863992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131" y="457200"/>
            <a:ext cx="8673737" cy="892629"/>
          </a:xfrm>
        </p:spPr>
        <p:txBody>
          <a:bodyPr/>
          <a:lstStyle/>
          <a:p>
            <a:r>
              <a:rPr lang="en-US" dirty="0"/>
              <a:t>when to use Azure App Service</a:t>
            </a:r>
          </a:p>
        </p:txBody>
      </p:sp>
      <p:sp>
        <p:nvSpPr>
          <p:cNvPr id="3" name="Content Placeholder 2"/>
          <p:cNvSpPr>
            <a:spLocks noGrp="1"/>
          </p:cNvSpPr>
          <p:nvPr>
            <p:ph idx="1"/>
          </p:nvPr>
        </p:nvSpPr>
        <p:spPr>
          <a:xfrm>
            <a:off x="235131" y="1280160"/>
            <a:ext cx="8839200" cy="3886200"/>
          </a:xfrm>
        </p:spPr>
        <p:txBody>
          <a:bodyPr/>
          <a:lstStyle/>
          <a:p>
            <a:r>
              <a:rPr lang="en-US" sz="2400" dirty="0"/>
              <a:t>App Service enables you to build and host web apps, background jobs, mobile back-ends, and RESTful APIs in the programming language of your choice without managing infrastructure. It offers automatic scaling and high availability. App Service supports Windows and Linux and enables automated deployments from GitHub, Azure DevOps, or any </a:t>
            </a:r>
            <a:r>
              <a:rPr lang="en-US" sz="2400" dirty="0" err="1"/>
              <a:t>Git</a:t>
            </a:r>
            <a:r>
              <a:rPr lang="en-US" sz="2400" dirty="0"/>
              <a:t> repo to support a continuous deployment model.</a:t>
            </a:r>
          </a:p>
          <a:p>
            <a:r>
              <a:rPr lang="en-US" sz="2400" dirty="0"/>
              <a:t>With App Service, you can host most common app service styles like:</a:t>
            </a:r>
          </a:p>
          <a:p>
            <a:pPr lvl="1"/>
            <a:r>
              <a:rPr lang="en-US" sz="2400" dirty="0"/>
              <a:t>Web apps - ASP.NET, Java, Ruby, Node.js, PHP, Python.</a:t>
            </a:r>
          </a:p>
          <a:p>
            <a:pPr lvl="1"/>
            <a:r>
              <a:rPr lang="en-US" sz="2400" dirty="0"/>
              <a:t>API apps - REST-based web APIs.</a:t>
            </a:r>
          </a:p>
          <a:p>
            <a:pPr lvl="1"/>
            <a:r>
              <a:rPr lang="en-US" sz="2400" dirty="0" err="1"/>
              <a:t>WebJobs</a:t>
            </a:r>
            <a:r>
              <a:rPr lang="en-US" sz="2400" dirty="0"/>
              <a:t> - run a program (.exe, Java, PHP, Python, or Node.js) or script (.</a:t>
            </a:r>
            <a:r>
              <a:rPr lang="en-US" sz="2400" dirty="0" err="1"/>
              <a:t>cmd</a:t>
            </a:r>
            <a:r>
              <a:rPr lang="en-US" sz="2400" dirty="0"/>
              <a:t>, .bat, PowerShell, or Bash)</a:t>
            </a:r>
          </a:p>
          <a:p>
            <a:pPr lvl="1"/>
            <a:r>
              <a:rPr lang="en-US" sz="2400" dirty="0"/>
              <a:t>Mobile apps - iOS and Android.</a:t>
            </a:r>
          </a:p>
          <a:p>
            <a:endParaRPr lang="en-US" dirty="0"/>
          </a:p>
        </p:txBody>
      </p:sp>
    </p:spTree>
    <p:extLst>
      <p:ext uri="{BB962C8B-B14F-4D97-AF65-F5344CB8AC3E}">
        <p14:creationId xmlns:p14="http://schemas.microsoft.com/office/powerpoint/2010/main" val="1658119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8754"/>
          </a:xfrm>
        </p:spPr>
        <p:txBody>
          <a:bodyPr/>
          <a:lstStyle/>
          <a:p>
            <a:r>
              <a:rPr lang="en-US" dirty="0"/>
              <a:t>Manage containers</a:t>
            </a:r>
          </a:p>
        </p:txBody>
      </p:sp>
      <p:sp>
        <p:nvSpPr>
          <p:cNvPr id="3" name="Content Placeholder 2"/>
          <p:cNvSpPr>
            <a:spLocks noGrp="1"/>
          </p:cNvSpPr>
          <p:nvPr>
            <p:ph idx="1"/>
          </p:nvPr>
        </p:nvSpPr>
        <p:spPr>
          <a:xfrm>
            <a:off x="0" y="1375954"/>
            <a:ext cx="9074331" cy="3886200"/>
          </a:xfrm>
        </p:spPr>
        <p:txBody>
          <a:bodyPr/>
          <a:lstStyle/>
          <a:p>
            <a:r>
              <a:rPr lang="en-US" sz="2800" dirty="0"/>
              <a:t>Azure Container Instances offers the fastest and simplest way to run a container in Azure without having to manage any virtual machines or adopt any additional services. It's a platform as a service (PaaS) offering that allows you to upload your containers, which it runs for you.</a:t>
            </a:r>
          </a:p>
          <a:p>
            <a:r>
              <a:rPr lang="en-US" sz="2800" dirty="0"/>
              <a:t>The task of automating, managing, and interacting with a large number of containers is known as orchestration. </a:t>
            </a:r>
            <a:r>
              <a:rPr lang="en-US" sz="2800" dirty="0">
                <a:hlinkClick r:id="rId2"/>
              </a:rPr>
              <a:t>Azure Kubernetes Service</a:t>
            </a:r>
            <a:r>
              <a:rPr lang="en-US" sz="2800" dirty="0"/>
              <a:t> is a complete orchestration service for containers with distributed architectures and large volumes of containers.</a:t>
            </a:r>
          </a:p>
        </p:txBody>
      </p:sp>
    </p:spTree>
    <p:extLst>
      <p:ext uri="{BB962C8B-B14F-4D97-AF65-F5344CB8AC3E}">
        <p14:creationId xmlns:p14="http://schemas.microsoft.com/office/powerpoint/2010/main" val="3831475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75211"/>
          </a:xfrm>
        </p:spPr>
        <p:txBody>
          <a:bodyPr/>
          <a:lstStyle/>
          <a:p>
            <a:r>
              <a:rPr lang="en-US" b="1" dirty="0"/>
              <a:t>when to use Azure Functions</a:t>
            </a:r>
            <a:endParaRPr lang="en-US" dirty="0"/>
          </a:p>
        </p:txBody>
      </p:sp>
      <p:sp>
        <p:nvSpPr>
          <p:cNvPr id="3" name="Content Placeholder 2"/>
          <p:cNvSpPr>
            <a:spLocks noGrp="1"/>
          </p:cNvSpPr>
          <p:nvPr>
            <p:ph idx="1"/>
          </p:nvPr>
        </p:nvSpPr>
        <p:spPr>
          <a:xfrm>
            <a:off x="0" y="1184365"/>
            <a:ext cx="8926286" cy="3886200"/>
          </a:xfrm>
        </p:spPr>
        <p:txBody>
          <a:bodyPr/>
          <a:lstStyle/>
          <a:p>
            <a:r>
              <a:rPr lang="en-US" sz="2800" i="1" dirty="0" err="1"/>
              <a:t>Serverless</a:t>
            </a:r>
            <a:r>
              <a:rPr lang="en-US" sz="2800" dirty="0"/>
              <a:t> computing is the abstraction of servers, infrastructure, and operating systems. With </a:t>
            </a:r>
            <a:r>
              <a:rPr lang="en-US" sz="2800" dirty="0" err="1"/>
              <a:t>serverless</a:t>
            </a:r>
            <a:r>
              <a:rPr lang="en-US" sz="2800" dirty="0"/>
              <a:t> computing, Azure takes care of managing the server infrastructure and the allocation and deallocation of resources based on demand. Infrastructure isn't your responsibility. Scaling and performance are handled automatically. You're billed only for the exact resources you use. There's no need to even reserve capacity.</a:t>
            </a:r>
          </a:p>
          <a:p>
            <a:r>
              <a:rPr lang="en-US" sz="2800" dirty="0"/>
              <a:t>To reduce your costs, you want to avoid having to pay for the time that your application is waiting for input. With that in mind, you've decided to investigate Azure Functions to see if it can help.</a:t>
            </a:r>
          </a:p>
        </p:txBody>
      </p:sp>
    </p:spTree>
    <p:extLst>
      <p:ext uri="{BB962C8B-B14F-4D97-AF65-F5344CB8AC3E}">
        <p14:creationId xmlns:p14="http://schemas.microsoft.com/office/powerpoint/2010/main" val="1571000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92629"/>
          </a:xfrm>
        </p:spPr>
        <p:txBody>
          <a:bodyPr/>
          <a:lstStyle/>
          <a:p>
            <a:r>
              <a:rPr lang="en-US" dirty="0" err="1"/>
              <a:t>Serverless</a:t>
            </a:r>
            <a:r>
              <a:rPr lang="en-US" dirty="0"/>
              <a:t> computing includes:</a:t>
            </a:r>
          </a:p>
        </p:txBody>
      </p:sp>
      <p:sp>
        <p:nvSpPr>
          <p:cNvPr id="3" name="Content Placeholder 2"/>
          <p:cNvSpPr>
            <a:spLocks noGrp="1"/>
          </p:cNvSpPr>
          <p:nvPr>
            <p:ph idx="1"/>
          </p:nvPr>
        </p:nvSpPr>
        <p:spPr>
          <a:xfrm>
            <a:off x="0" y="1188720"/>
            <a:ext cx="8934994" cy="3886200"/>
          </a:xfrm>
        </p:spPr>
        <p:txBody>
          <a:bodyPr/>
          <a:lstStyle/>
          <a:p>
            <a:r>
              <a:rPr lang="en-US" sz="2000" b="1" dirty="0"/>
              <a:t>Abstraction of servers</a:t>
            </a:r>
            <a:r>
              <a:rPr lang="en-US" sz="2000" dirty="0"/>
              <a:t>: </a:t>
            </a:r>
            <a:r>
              <a:rPr lang="en-US" sz="2000" dirty="0" err="1"/>
              <a:t>Serverless</a:t>
            </a:r>
            <a:r>
              <a:rPr lang="en-US" sz="2000" dirty="0"/>
              <a:t> computing abstracts the servers you run on. You never explicitly reserve server instances. The platform manages that for you. Each function execution can run on a different compute instance. This execution context is transparent to the code. With </a:t>
            </a:r>
            <a:r>
              <a:rPr lang="en-US" sz="2000" dirty="0" err="1"/>
              <a:t>serverless</a:t>
            </a:r>
            <a:r>
              <a:rPr lang="en-US" sz="2000" dirty="0"/>
              <a:t> architecture, you deploy your code, which then runs with high availability.</a:t>
            </a:r>
          </a:p>
          <a:p>
            <a:r>
              <a:rPr lang="en-US" sz="2000" b="1" dirty="0"/>
              <a:t>Event-driven scale</a:t>
            </a:r>
            <a:r>
              <a:rPr lang="en-US" sz="2000" dirty="0"/>
              <a:t>: </a:t>
            </a:r>
            <a:r>
              <a:rPr lang="en-US" sz="2000" dirty="0" err="1"/>
              <a:t>Serverless</a:t>
            </a:r>
            <a:r>
              <a:rPr lang="en-US" sz="2000" dirty="0"/>
              <a:t> computing is an excellent fit for workloads that respond to incoming events. Events include triggers by:</a:t>
            </a:r>
          </a:p>
          <a:p>
            <a:pPr lvl="1"/>
            <a:r>
              <a:rPr lang="en-US" sz="2000" dirty="0"/>
              <a:t>Timers, for example, if a function needs to run every day at 10:00 AM</a:t>
            </a:r>
          </a:p>
          <a:p>
            <a:pPr lvl="1"/>
            <a:r>
              <a:rPr lang="en-US" sz="2000" dirty="0"/>
              <a:t>HTTP, for example, API and </a:t>
            </a:r>
            <a:r>
              <a:rPr lang="en-US" sz="2000" dirty="0" err="1"/>
              <a:t>webhook</a:t>
            </a:r>
            <a:r>
              <a:rPr lang="en-US" sz="2000" dirty="0"/>
              <a:t> scenarios.</a:t>
            </a:r>
          </a:p>
          <a:p>
            <a:pPr lvl="1"/>
            <a:r>
              <a:rPr lang="en-US" sz="2000" dirty="0"/>
              <a:t>Queues, for example, with order processing.</a:t>
            </a:r>
          </a:p>
          <a:p>
            <a:r>
              <a:rPr lang="en-US" sz="2000" b="1" dirty="0"/>
              <a:t>Micro-billing</a:t>
            </a:r>
            <a:r>
              <a:rPr lang="en-US" sz="2000" dirty="0"/>
              <a:t>: Traditional computing bills for a block of time like paying a monthly or annual rate for website hosting. This method of billing is convenient but isn't always cost effective. Even if a customer's website gets only one hit a day, they still pay for a full day's worth of availability. With </a:t>
            </a:r>
            <a:r>
              <a:rPr lang="en-US" sz="2000" dirty="0" err="1"/>
              <a:t>serverless</a:t>
            </a:r>
            <a:r>
              <a:rPr lang="en-US" sz="2000" dirty="0"/>
              <a:t> computing, they pay only for the time their code runs. If no active function executions occur, they're not charged.</a:t>
            </a:r>
          </a:p>
        </p:txBody>
      </p:sp>
    </p:spTree>
    <p:extLst>
      <p:ext uri="{BB962C8B-B14F-4D97-AF65-F5344CB8AC3E}">
        <p14:creationId xmlns:p14="http://schemas.microsoft.com/office/powerpoint/2010/main" val="2998550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has two implementations of </a:t>
            </a:r>
            <a:r>
              <a:rPr lang="en-US" dirty="0" err="1"/>
              <a:t>serverless</a:t>
            </a:r>
            <a:r>
              <a:rPr lang="en-US" dirty="0"/>
              <a:t> compute</a:t>
            </a:r>
          </a:p>
        </p:txBody>
      </p:sp>
      <p:sp>
        <p:nvSpPr>
          <p:cNvPr id="3" name="Content Placeholder 2"/>
          <p:cNvSpPr>
            <a:spLocks noGrp="1"/>
          </p:cNvSpPr>
          <p:nvPr>
            <p:ph idx="1"/>
          </p:nvPr>
        </p:nvSpPr>
        <p:spPr/>
        <p:txBody>
          <a:bodyPr/>
          <a:lstStyle/>
          <a:p>
            <a:r>
              <a:rPr lang="en-US" sz="2800" b="1" dirty="0"/>
              <a:t>Azure Functions</a:t>
            </a:r>
            <a:r>
              <a:rPr lang="en-US" sz="2800" dirty="0"/>
              <a:t>: Functions can execute code in almost any modern language.</a:t>
            </a:r>
          </a:p>
          <a:p>
            <a:r>
              <a:rPr lang="en-US" sz="2800" b="1" dirty="0"/>
              <a:t>Azure Logic Apps</a:t>
            </a:r>
            <a:r>
              <a:rPr lang="en-US" sz="2800" dirty="0"/>
              <a:t>: Logic apps are designed in a web-based designer and can execute logic triggered by Azure services without writing any code.</a:t>
            </a:r>
            <a:endParaRPr lang="bg-BG" sz="2800" dirty="0"/>
          </a:p>
          <a:p>
            <a:r>
              <a:rPr lang="en-US" sz="2800" dirty="0"/>
              <a:t>With Functions, you write code to complete each step.</a:t>
            </a:r>
          </a:p>
          <a:p>
            <a:r>
              <a:rPr lang="en-US" sz="2800" dirty="0"/>
              <a:t>With Logic Apps, you use a GUI to define the actions and how they relate to one another.</a:t>
            </a:r>
          </a:p>
        </p:txBody>
      </p:sp>
    </p:spTree>
    <p:extLst>
      <p:ext uri="{BB962C8B-B14F-4D97-AF65-F5344CB8AC3E}">
        <p14:creationId xmlns:p14="http://schemas.microsoft.com/office/powerpoint/2010/main" val="2521425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14251"/>
          </a:xfrm>
        </p:spPr>
        <p:txBody>
          <a:bodyPr/>
          <a:lstStyle/>
          <a:p>
            <a:r>
              <a:rPr lang="en-US" b="1" dirty="0"/>
              <a:t>Azure Virtual Desktop</a:t>
            </a:r>
            <a:endParaRPr lang="en-US" dirty="0"/>
          </a:p>
        </p:txBody>
      </p:sp>
      <p:sp>
        <p:nvSpPr>
          <p:cNvPr id="3" name="Content Placeholder 2"/>
          <p:cNvSpPr>
            <a:spLocks noGrp="1"/>
          </p:cNvSpPr>
          <p:nvPr>
            <p:ph idx="1"/>
          </p:nvPr>
        </p:nvSpPr>
        <p:spPr>
          <a:xfrm>
            <a:off x="352697" y="1354183"/>
            <a:ext cx="8229600" cy="3886200"/>
          </a:xfrm>
        </p:spPr>
        <p:txBody>
          <a:bodyPr/>
          <a:lstStyle/>
          <a:p>
            <a:r>
              <a:rPr lang="en-US" dirty="0"/>
              <a:t>Azure Virtual Desktop is a desktop and application virtualization service that runs on the cloud. It enables your users to use a cloud-hosted version of Windows from any location. Azure Virtual Desktop works across devices like Windows, Mac, iOS, Android, and Linux. It works with apps that you can use to access remote desktops and apps. You can also use most modern browsers to access Azure Virtual Desktop-hosted experiences</a:t>
            </a:r>
          </a:p>
        </p:txBody>
      </p:sp>
    </p:spTree>
    <p:extLst>
      <p:ext uri="{BB962C8B-B14F-4D97-AF65-F5344CB8AC3E}">
        <p14:creationId xmlns:p14="http://schemas.microsoft.com/office/powerpoint/2010/main" val="1859737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57943"/>
          </a:xfrm>
        </p:spPr>
        <p:txBody>
          <a:bodyPr/>
          <a:lstStyle/>
          <a:p>
            <a:r>
              <a:rPr lang="en-US" dirty="0"/>
              <a:t>Storage</a:t>
            </a:r>
          </a:p>
        </p:txBody>
      </p:sp>
      <p:sp>
        <p:nvSpPr>
          <p:cNvPr id="3" name="Content Placeholder 2"/>
          <p:cNvSpPr>
            <a:spLocks noGrp="1"/>
          </p:cNvSpPr>
          <p:nvPr>
            <p:ph idx="1"/>
          </p:nvPr>
        </p:nvSpPr>
        <p:spPr>
          <a:xfrm>
            <a:off x="274320" y="1415143"/>
            <a:ext cx="8591006" cy="3886200"/>
          </a:xfrm>
        </p:spPr>
        <p:txBody>
          <a:bodyPr/>
          <a:lstStyle/>
          <a:p>
            <a:r>
              <a:rPr lang="en-US" sz="2800" dirty="0"/>
              <a:t>a service that you can use to store files, messages, tables, and other types of information.</a:t>
            </a:r>
          </a:p>
          <a:p>
            <a:r>
              <a:rPr lang="en-US" sz="2800" dirty="0"/>
              <a:t>Clients such as websites, mobile apps, desktop applications, and many other types of custom solutions can read data from and write data to Azure Storage. Azure Storage is also used by infrastructure as a service virtual machines, and platform as a service cloud services.</a:t>
            </a:r>
          </a:p>
          <a:p>
            <a:r>
              <a:rPr lang="en-US" sz="2800" dirty="0"/>
              <a:t>To begin using Azure Storage, you first create an Azure Storage account to store your data objects. You can create an Azure Storage account by using the Azure portal, PowerShell, or the Azure CLI.</a:t>
            </a:r>
          </a:p>
        </p:txBody>
      </p:sp>
    </p:spTree>
    <p:extLst>
      <p:ext uri="{BB962C8B-B14F-4D97-AF65-F5344CB8AC3E}">
        <p14:creationId xmlns:p14="http://schemas.microsoft.com/office/powerpoint/2010/main" val="17742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Account</a:t>
            </a:r>
          </a:p>
        </p:txBody>
      </p:sp>
      <p:sp>
        <p:nvSpPr>
          <p:cNvPr id="3" name="Content Placeholder 2"/>
          <p:cNvSpPr>
            <a:spLocks noGrp="1"/>
          </p:cNvSpPr>
          <p:nvPr>
            <p:ph idx="1"/>
          </p:nvPr>
        </p:nvSpPr>
        <p:spPr/>
        <p:txBody>
          <a:bodyPr/>
          <a:lstStyle/>
          <a:p>
            <a:r>
              <a:rPr lang="en-US" dirty="0"/>
              <a:t>Your storage account will contain all of your Azure Storage data objects, such as blobs, files, and disks.</a:t>
            </a:r>
            <a:br>
              <a:rPr lang="en-US" dirty="0"/>
            </a:br>
            <a:endParaRPr lang="en-US" dirty="0"/>
          </a:p>
        </p:txBody>
      </p:sp>
      <p:pic>
        <p:nvPicPr>
          <p:cNvPr id="1026" name="Picture 2" descr="Diagram of hierarchy of a storage accou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193" y="3599905"/>
            <a:ext cx="5653042" cy="3066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157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Disk storage fundamentals</a:t>
            </a:r>
            <a:endParaRPr lang="en-US" dirty="0"/>
          </a:p>
        </p:txBody>
      </p:sp>
      <p:sp>
        <p:nvSpPr>
          <p:cNvPr id="3" name="Content Placeholder 2"/>
          <p:cNvSpPr>
            <a:spLocks noGrp="1"/>
          </p:cNvSpPr>
          <p:nvPr>
            <p:ph idx="1"/>
          </p:nvPr>
        </p:nvSpPr>
        <p:spPr>
          <a:xfrm>
            <a:off x="396240" y="1624149"/>
            <a:ext cx="8229600" cy="3886200"/>
          </a:xfrm>
        </p:spPr>
        <p:txBody>
          <a:bodyPr/>
          <a:lstStyle/>
          <a:p>
            <a:r>
              <a:rPr lang="en-US" sz="2800" dirty="0"/>
              <a:t>Disk Storage provides disks for Azure virtual machines. Applications and other services can access and use these disks as needed, similar to how they would in on-premises scenarios. Disk Storage allows data to be persistently stored and accessed from an attached virtual hard disk.</a:t>
            </a:r>
          </a:p>
        </p:txBody>
      </p:sp>
      <p:pic>
        <p:nvPicPr>
          <p:cNvPr id="2050" name="Picture 2" descr="Diagram of two disks inside a virtual machine. One stores the operating system and one stores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0361" y="4246048"/>
            <a:ext cx="3057889" cy="2597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516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1" y="457200"/>
            <a:ext cx="8778239" cy="1136469"/>
          </a:xfrm>
        </p:spPr>
        <p:txBody>
          <a:bodyPr/>
          <a:lstStyle/>
          <a:p>
            <a:r>
              <a:rPr lang="en-US" dirty="0"/>
              <a:t>Azure Blob storage fundamentals</a:t>
            </a:r>
            <a:br>
              <a:rPr lang="en-US" dirty="0"/>
            </a:br>
            <a:endParaRPr lang="en-US" dirty="0"/>
          </a:p>
        </p:txBody>
      </p:sp>
      <p:sp>
        <p:nvSpPr>
          <p:cNvPr id="3" name="Content Placeholder 2"/>
          <p:cNvSpPr>
            <a:spLocks noGrp="1"/>
          </p:cNvSpPr>
          <p:nvPr>
            <p:ph idx="1"/>
          </p:nvPr>
        </p:nvSpPr>
        <p:spPr>
          <a:xfrm>
            <a:off x="174171" y="1240971"/>
            <a:ext cx="8229600" cy="3886200"/>
          </a:xfrm>
        </p:spPr>
        <p:txBody>
          <a:bodyPr/>
          <a:lstStyle/>
          <a:p>
            <a:r>
              <a:rPr lang="en-US" dirty="0"/>
              <a:t>Azure Blob Storage is an object storage solution for the cloud. It can store massive amounts of data, such as text or binary data. Azure Blob Storage is unstructured, meaning that there are no restrictions on the kinds of data it can hold. Blob Storage can manage thousands of simultaneous uploads, massive amounts of video data, constantly growing log files, and can be reached from anywhere with an internet connection.</a:t>
            </a:r>
          </a:p>
        </p:txBody>
      </p:sp>
    </p:spTree>
    <p:extLst>
      <p:ext uri="{BB962C8B-B14F-4D97-AF65-F5344CB8AC3E}">
        <p14:creationId xmlns:p14="http://schemas.microsoft.com/office/powerpoint/2010/main" val="217798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71006"/>
          </a:xfrm>
        </p:spPr>
        <p:txBody>
          <a:bodyPr/>
          <a:lstStyle/>
          <a:p>
            <a:r>
              <a:rPr lang="en-US" dirty="0"/>
              <a:t>Blob Storage is ideal for:</a:t>
            </a:r>
          </a:p>
        </p:txBody>
      </p:sp>
      <p:sp>
        <p:nvSpPr>
          <p:cNvPr id="3" name="Content Placeholder 2"/>
          <p:cNvSpPr>
            <a:spLocks noGrp="1"/>
          </p:cNvSpPr>
          <p:nvPr>
            <p:ph idx="1"/>
          </p:nvPr>
        </p:nvSpPr>
        <p:spPr>
          <a:xfrm>
            <a:off x="200297" y="1428206"/>
            <a:ext cx="8778239" cy="3886200"/>
          </a:xfrm>
        </p:spPr>
        <p:txBody>
          <a:bodyPr/>
          <a:lstStyle/>
          <a:p>
            <a:r>
              <a:rPr lang="en-US" sz="2800" dirty="0"/>
              <a:t>Serving images or documents directly to a browser.</a:t>
            </a:r>
          </a:p>
          <a:p>
            <a:r>
              <a:rPr lang="en-US" sz="2800" dirty="0"/>
              <a:t>Storing files for distributed access.</a:t>
            </a:r>
          </a:p>
          <a:p>
            <a:r>
              <a:rPr lang="en-US" sz="2800" dirty="0"/>
              <a:t>Streaming video and audio.</a:t>
            </a:r>
          </a:p>
          <a:p>
            <a:r>
              <a:rPr lang="en-US" sz="2800" dirty="0"/>
              <a:t>Storing data for backup and restore, disaster recovery, and archiving.</a:t>
            </a:r>
          </a:p>
          <a:p>
            <a:r>
              <a:rPr lang="en-US" sz="2800" dirty="0"/>
              <a:t>Storing data for analysis by an on-premises or Azure-hosted service.</a:t>
            </a:r>
          </a:p>
          <a:p>
            <a:r>
              <a:rPr lang="en-US" sz="2800" dirty="0"/>
              <a:t>Storing up to 8 TB of data for virtual machines.</a:t>
            </a:r>
          </a:p>
          <a:p>
            <a:r>
              <a:rPr lang="en-US" sz="2800" dirty="0"/>
              <a:t>You store blobs in containers, which helps you organize your blobs depending on your business needs.</a:t>
            </a:r>
          </a:p>
          <a:p>
            <a:endParaRPr lang="en-US" sz="2800" dirty="0"/>
          </a:p>
        </p:txBody>
      </p:sp>
    </p:spTree>
    <p:extLst>
      <p:ext uri="{BB962C8B-B14F-4D97-AF65-F5344CB8AC3E}">
        <p14:creationId xmlns:p14="http://schemas.microsoft.com/office/powerpoint/2010/main" val="3718012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857" y="518160"/>
            <a:ext cx="8229600" cy="605246"/>
          </a:xfrm>
        </p:spPr>
        <p:txBody>
          <a:bodyPr/>
          <a:lstStyle/>
          <a:p>
            <a:r>
              <a:rPr lang="en-US" b="1" dirty="0"/>
              <a:t>Azure Files fundamentals</a:t>
            </a:r>
            <a:endParaRPr lang="en-US" dirty="0"/>
          </a:p>
        </p:txBody>
      </p:sp>
      <p:sp>
        <p:nvSpPr>
          <p:cNvPr id="3" name="Content Placeholder 2"/>
          <p:cNvSpPr>
            <a:spLocks noGrp="1"/>
          </p:cNvSpPr>
          <p:nvPr>
            <p:ph idx="1"/>
          </p:nvPr>
        </p:nvSpPr>
        <p:spPr>
          <a:xfrm>
            <a:off x="65314" y="1306286"/>
            <a:ext cx="9078686" cy="3886200"/>
          </a:xfrm>
        </p:spPr>
        <p:txBody>
          <a:bodyPr/>
          <a:lstStyle/>
          <a:p>
            <a:r>
              <a:rPr lang="en-US" sz="2600" dirty="0"/>
              <a:t>Azure Files offers fully managed file shares in the cloud that are accessible via the industry standard Server Message Block and Network File System (preview) protocols. Azure file shares can be mounted concurrently by cloud or on-premises deployments of Windows, Linux, and </a:t>
            </a:r>
            <a:r>
              <a:rPr lang="en-US" sz="2600" dirty="0" err="1"/>
              <a:t>macOS</a:t>
            </a:r>
            <a:r>
              <a:rPr lang="en-US" sz="2600" dirty="0"/>
              <a:t>. Applications running in Azure virtual machines or cloud services can mount a file storage share to access file data, just as a desktop application would mount a typical SMB share. Any number of Azure virtual machines or roles can mount and access the file storage share simultaneously. Typical usage scenarios would be to share files anywhere in the world, diagnostic data, or application data sharing.</a:t>
            </a:r>
          </a:p>
        </p:txBody>
      </p:sp>
    </p:spTree>
    <p:extLst>
      <p:ext uri="{BB962C8B-B14F-4D97-AF65-F5344CB8AC3E}">
        <p14:creationId xmlns:p14="http://schemas.microsoft.com/office/powerpoint/2010/main" val="3776343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88126"/>
          </a:xfrm>
        </p:spPr>
        <p:txBody>
          <a:bodyPr/>
          <a:lstStyle/>
          <a:p>
            <a:r>
              <a:rPr lang="en-US" dirty="0"/>
              <a:t>Use Azure Files for the following</a:t>
            </a:r>
          </a:p>
        </p:txBody>
      </p:sp>
      <p:sp>
        <p:nvSpPr>
          <p:cNvPr id="3" name="Content Placeholder 2"/>
          <p:cNvSpPr>
            <a:spLocks noGrp="1"/>
          </p:cNvSpPr>
          <p:nvPr>
            <p:ph idx="1"/>
          </p:nvPr>
        </p:nvSpPr>
        <p:spPr>
          <a:xfrm>
            <a:off x="291736" y="1341120"/>
            <a:ext cx="8573590" cy="3886200"/>
          </a:xfrm>
        </p:spPr>
        <p:txBody>
          <a:bodyPr/>
          <a:lstStyle/>
          <a:p>
            <a:r>
              <a:rPr lang="en-US" sz="2400" dirty="0"/>
              <a:t>Many on-premises applications use file shares. Azure Files makes it easier to migrate those applications that share data to Azure. If you mount the Azure file share to the same drive letter that the on-premises application uses, the part of your application that accesses the file share should work with minimal changes, if any.</a:t>
            </a:r>
          </a:p>
          <a:p>
            <a:r>
              <a:rPr lang="en-US" sz="2400" dirty="0"/>
              <a:t>Store configuration files on a file share and access them from multiple VMs. Tools and utilities used by multiple developers in a group can be stored on a file share, ensuring that everybody can find them, and that they use the same version.</a:t>
            </a:r>
          </a:p>
          <a:p>
            <a:r>
              <a:rPr lang="en-US" sz="2400" dirty="0"/>
              <a:t>Write data to a file share, and process or analyze the data later. For example, you might want to do this with diagnostic logs, metrics, and crash dumps.</a:t>
            </a:r>
          </a:p>
        </p:txBody>
      </p:sp>
    </p:spTree>
    <p:extLst>
      <p:ext uri="{BB962C8B-B14F-4D97-AF65-F5344CB8AC3E}">
        <p14:creationId xmlns:p14="http://schemas.microsoft.com/office/powerpoint/2010/main" val="901001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22960"/>
          </a:xfrm>
        </p:spPr>
        <p:txBody>
          <a:bodyPr/>
          <a:lstStyle/>
          <a:p>
            <a:r>
              <a:rPr lang="en-US" b="1" dirty="0"/>
              <a:t>Understand Blob access tiers</a:t>
            </a:r>
            <a:endParaRPr lang="en-US" dirty="0"/>
          </a:p>
        </p:txBody>
      </p:sp>
      <p:sp>
        <p:nvSpPr>
          <p:cNvPr id="3" name="Content Placeholder 2"/>
          <p:cNvSpPr>
            <a:spLocks noGrp="1"/>
          </p:cNvSpPr>
          <p:nvPr>
            <p:ph idx="1"/>
          </p:nvPr>
        </p:nvSpPr>
        <p:spPr>
          <a:xfrm>
            <a:off x="187233" y="1280160"/>
            <a:ext cx="8852263" cy="3886200"/>
          </a:xfrm>
        </p:spPr>
        <p:txBody>
          <a:bodyPr/>
          <a:lstStyle/>
          <a:p>
            <a:r>
              <a:rPr lang="en-US" sz="2800" dirty="0"/>
              <a:t>Azure Storage offers different access tiers for your blob storage, helping you store object data in the most cost-effective manner. The available access tiers include:</a:t>
            </a:r>
          </a:p>
          <a:p>
            <a:pPr lvl="1"/>
            <a:r>
              <a:rPr lang="en-US" sz="2400" b="1" dirty="0"/>
              <a:t>Hot access tier</a:t>
            </a:r>
            <a:r>
              <a:rPr lang="en-US" sz="2400" dirty="0"/>
              <a:t>: Optimized for storing data that is accessed frequently (for example, images for your website).</a:t>
            </a:r>
          </a:p>
          <a:p>
            <a:pPr lvl="1"/>
            <a:r>
              <a:rPr lang="en-US" sz="2400" b="1" dirty="0"/>
              <a:t>Cool access tier</a:t>
            </a:r>
            <a:r>
              <a:rPr lang="en-US" sz="2400" dirty="0"/>
              <a:t>: Optimized for data that is infrequently accessed and stored for at least 30 days (for example, invoices for your customers).</a:t>
            </a:r>
          </a:p>
          <a:p>
            <a:pPr lvl="1"/>
            <a:r>
              <a:rPr lang="en-US" sz="2400" b="1" dirty="0"/>
              <a:t>Archive access tier</a:t>
            </a:r>
            <a:r>
              <a:rPr lang="en-US" sz="2400" dirty="0"/>
              <a:t>: Appropriate for data that is rarely accessed and stored for at least 180 days, with flexible latency requirements (for example, long-term backups).</a:t>
            </a:r>
          </a:p>
        </p:txBody>
      </p:sp>
    </p:spTree>
    <p:extLst>
      <p:ext uri="{BB962C8B-B14F-4D97-AF65-F5344CB8AC3E}">
        <p14:creationId xmlns:p14="http://schemas.microsoft.com/office/powerpoint/2010/main" val="2868739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83" y="457200"/>
            <a:ext cx="8621485" cy="866503"/>
          </a:xfrm>
        </p:spPr>
        <p:txBody>
          <a:bodyPr/>
          <a:lstStyle/>
          <a:p>
            <a:r>
              <a:rPr lang="en-US" dirty="0"/>
              <a:t>Considerations to the access tiers</a:t>
            </a:r>
          </a:p>
        </p:txBody>
      </p:sp>
      <p:sp>
        <p:nvSpPr>
          <p:cNvPr id="3" name="Content Placeholder 2"/>
          <p:cNvSpPr>
            <a:spLocks noGrp="1"/>
          </p:cNvSpPr>
          <p:nvPr>
            <p:ph idx="1"/>
          </p:nvPr>
        </p:nvSpPr>
        <p:spPr>
          <a:xfrm>
            <a:off x="126274" y="1323703"/>
            <a:ext cx="8782594" cy="3886200"/>
          </a:xfrm>
        </p:spPr>
        <p:txBody>
          <a:bodyPr/>
          <a:lstStyle/>
          <a:p>
            <a:r>
              <a:rPr lang="en-US" sz="2400" dirty="0"/>
              <a:t>Only the hot and cool access tiers can be set at the account level. The archive access tier isn't available at the account level.</a:t>
            </a:r>
          </a:p>
          <a:p>
            <a:r>
              <a:rPr lang="en-US" sz="2400" dirty="0"/>
              <a:t>Hot, cool, and archive tiers can be set at the blob level, during upload or after upload.</a:t>
            </a:r>
          </a:p>
          <a:p>
            <a:r>
              <a:rPr lang="en-US" sz="2400" dirty="0"/>
              <a:t>Data in the cool access tier can tolerate slightly lower availability, but still requires high durability, retrieval latency, and throughput characteristics similar to hot data. For cool data, a slightly lower availability service-level agreement (SLA) and higher access costs compared to hot data are acceptable trade-offs for lower storage costs.</a:t>
            </a:r>
          </a:p>
          <a:p>
            <a:r>
              <a:rPr lang="en-US" sz="2400" dirty="0"/>
              <a:t>Archive storage stores data offline and offers the lowest storage costs, but also the highest costs to rehydrate and access data.</a:t>
            </a:r>
          </a:p>
        </p:txBody>
      </p:sp>
    </p:spTree>
    <p:extLst>
      <p:ext uri="{BB962C8B-B14F-4D97-AF65-F5344CB8AC3E}">
        <p14:creationId xmlns:p14="http://schemas.microsoft.com/office/powerpoint/2010/main" val="3218555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88086" y="687977"/>
            <a:ext cx="8521822" cy="5935505"/>
          </a:xfrm>
          <a:prstGeom prst="rect">
            <a:avLst/>
          </a:prstGeom>
        </p:spPr>
      </p:pic>
      <p:sp>
        <p:nvSpPr>
          <p:cNvPr id="6" name="Title 1"/>
          <p:cNvSpPr>
            <a:spLocks noGrp="1"/>
          </p:cNvSpPr>
          <p:nvPr>
            <p:ph type="title"/>
          </p:nvPr>
        </p:nvSpPr>
        <p:spPr>
          <a:xfrm>
            <a:off x="2364377" y="404949"/>
            <a:ext cx="2991394" cy="840377"/>
          </a:xfrm>
        </p:spPr>
        <p:txBody>
          <a:bodyPr/>
          <a:lstStyle/>
          <a:p>
            <a:r>
              <a:rPr lang="en-US" dirty="0"/>
              <a:t>Networking</a:t>
            </a:r>
          </a:p>
        </p:txBody>
      </p:sp>
    </p:spTree>
    <p:extLst>
      <p:ext uri="{BB962C8B-B14F-4D97-AF65-F5344CB8AC3E}">
        <p14:creationId xmlns:p14="http://schemas.microsoft.com/office/powerpoint/2010/main" val="2938642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58091"/>
          </a:xfrm>
        </p:spPr>
        <p:txBody>
          <a:bodyPr/>
          <a:lstStyle/>
          <a:p>
            <a:r>
              <a:rPr lang="en-US" b="1" dirty="0"/>
              <a:t>Azure virtual networking</a:t>
            </a:r>
            <a:endParaRPr lang="en-US" dirty="0"/>
          </a:p>
        </p:txBody>
      </p:sp>
      <p:sp>
        <p:nvSpPr>
          <p:cNvPr id="3" name="Content Placeholder 2"/>
          <p:cNvSpPr>
            <a:spLocks noGrp="1"/>
          </p:cNvSpPr>
          <p:nvPr>
            <p:ph idx="1"/>
          </p:nvPr>
        </p:nvSpPr>
        <p:spPr/>
        <p:txBody>
          <a:bodyPr/>
          <a:lstStyle/>
          <a:p>
            <a:r>
              <a:rPr lang="en-US" dirty="0"/>
              <a:t>Isolation and segmentation</a:t>
            </a:r>
          </a:p>
          <a:p>
            <a:r>
              <a:rPr lang="en-US" dirty="0"/>
              <a:t>Internet communications</a:t>
            </a:r>
          </a:p>
          <a:p>
            <a:r>
              <a:rPr lang="en-US" dirty="0"/>
              <a:t>Communicate between Azure resources</a:t>
            </a:r>
          </a:p>
          <a:p>
            <a:r>
              <a:rPr lang="en-US" dirty="0"/>
              <a:t>Communicate with on-premises resources</a:t>
            </a:r>
          </a:p>
          <a:p>
            <a:r>
              <a:rPr lang="en-US" dirty="0"/>
              <a:t>Route network traffic</a:t>
            </a:r>
          </a:p>
          <a:p>
            <a:r>
              <a:rPr lang="en-US" dirty="0"/>
              <a:t>Filter network traffic</a:t>
            </a:r>
          </a:p>
          <a:p>
            <a:r>
              <a:rPr lang="en-US" dirty="0"/>
              <a:t>Connect virtual networks</a:t>
            </a:r>
          </a:p>
        </p:txBody>
      </p:sp>
    </p:spTree>
    <p:extLst>
      <p:ext uri="{BB962C8B-B14F-4D97-AF65-F5344CB8AC3E}">
        <p14:creationId xmlns:p14="http://schemas.microsoft.com/office/powerpoint/2010/main" val="611606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83920"/>
          </a:xfrm>
        </p:spPr>
        <p:txBody>
          <a:bodyPr/>
          <a:lstStyle/>
          <a:p>
            <a:r>
              <a:rPr lang="en-US" b="1" dirty="0"/>
              <a:t>Isolation and segmentation</a:t>
            </a:r>
            <a:endParaRPr lang="en-US" dirty="0"/>
          </a:p>
        </p:txBody>
      </p:sp>
      <p:sp>
        <p:nvSpPr>
          <p:cNvPr id="3" name="Content Placeholder 2"/>
          <p:cNvSpPr>
            <a:spLocks noGrp="1"/>
          </p:cNvSpPr>
          <p:nvPr>
            <p:ph idx="1"/>
          </p:nvPr>
        </p:nvSpPr>
        <p:spPr>
          <a:xfrm>
            <a:off x="0" y="1341120"/>
            <a:ext cx="8908868" cy="3886200"/>
          </a:xfrm>
        </p:spPr>
        <p:txBody>
          <a:bodyPr/>
          <a:lstStyle/>
          <a:p>
            <a:r>
              <a:rPr lang="en-US" sz="2800" dirty="0"/>
              <a:t>Azure virtual network allows you to create multiple isolated virtual networks. When you set up a virtual network, you define a private IP address space by using either public or private IP address ranges. The public IP range only exists within the virtual network and isn't internet routable. You can divide that IP address space into subnets and allocate part of the defined address space to each named subnet.</a:t>
            </a:r>
          </a:p>
          <a:p>
            <a:r>
              <a:rPr lang="en-US" sz="2800" dirty="0"/>
              <a:t>For name resolution, you can use the name resolution service that's built in to Azure. You can also configure the virtual network to use an internal or an external DNS server.</a:t>
            </a:r>
          </a:p>
        </p:txBody>
      </p:sp>
    </p:spTree>
    <p:extLst>
      <p:ext uri="{BB962C8B-B14F-4D97-AF65-F5344CB8AC3E}">
        <p14:creationId xmlns:p14="http://schemas.microsoft.com/office/powerpoint/2010/main" val="965918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communications</a:t>
            </a:r>
            <a:endParaRPr lang="en-US" dirty="0"/>
          </a:p>
        </p:txBody>
      </p:sp>
      <p:sp>
        <p:nvSpPr>
          <p:cNvPr id="3" name="Content Placeholder 2"/>
          <p:cNvSpPr>
            <a:spLocks noGrp="1"/>
          </p:cNvSpPr>
          <p:nvPr>
            <p:ph idx="1"/>
          </p:nvPr>
        </p:nvSpPr>
        <p:spPr/>
        <p:txBody>
          <a:bodyPr/>
          <a:lstStyle/>
          <a:p>
            <a:r>
              <a:rPr lang="en-US" dirty="0"/>
              <a:t>A VM in Azure can connect to the internet by default. You can enable incoming connections from the internet by assigning a public IP address to the VM or by putting the VM behind a public load balancer. For VM management, you can connect via the Azure CLI, Remote Desktop Protocol, or Secure Shell.</a:t>
            </a:r>
          </a:p>
        </p:txBody>
      </p:sp>
    </p:spTree>
    <p:extLst>
      <p:ext uri="{BB962C8B-B14F-4D97-AF65-F5344CB8AC3E}">
        <p14:creationId xmlns:p14="http://schemas.microsoft.com/office/powerpoint/2010/main" val="3337719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Communicate between Azure resources</a:t>
            </a:r>
            <a:endParaRPr lang="en-US" dirty="0"/>
          </a:p>
        </p:txBody>
      </p:sp>
      <p:sp>
        <p:nvSpPr>
          <p:cNvPr id="3" name="Content Placeholder 2"/>
          <p:cNvSpPr>
            <a:spLocks noGrp="1"/>
          </p:cNvSpPr>
          <p:nvPr>
            <p:ph idx="1"/>
          </p:nvPr>
        </p:nvSpPr>
        <p:spPr>
          <a:xfrm>
            <a:off x="165463" y="1828800"/>
            <a:ext cx="8813074" cy="3886200"/>
          </a:xfrm>
        </p:spPr>
        <p:txBody>
          <a:bodyPr/>
          <a:lstStyle/>
          <a:p>
            <a:r>
              <a:rPr lang="en-US" sz="2800" dirty="0"/>
              <a:t>Virtual networks. Virtual networks can connect not only VMs but other Azure resources, such as the App Service Environment for Power Apps, Azure Kubernetes Service, and Azure virtual machine scale sets.</a:t>
            </a:r>
          </a:p>
          <a:p>
            <a:r>
              <a:rPr lang="en-US" sz="2800" dirty="0"/>
              <a:t>Service endpoints. You can use service endpoints to connect to other Azure resource types, such as Azure SQL databases and storage accounts. This approach enables you to link multiple Azure resources to virtual networks to improve security and provide optimal routing between resources.</a:t>
            </a:r>
          </a:p>
        </p:txBody>
      </p:sp>
    </p:spTree>
    <p:extLst>
      <p:ext uri="{BB962C8B-B14F-4D97-AF65-F5344CB8AC3E}">
        <p14:creationId xmlns:p14="http://schemas.microsoft.com/office/powerpoint/2010/main" val="1169039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657" y="178525"/>
            <a:ext cx="8229600" cy="1371600"/>
          </a:xfrm>
        </p:spPr>
        <p:txBody>
          <a:bodyPr/>
          <a:lstStyle/>
          <a:p>
            <a:r>
              <a:rPr lang="en-US" sz="3600" b="1" dirty="0"/>
              <a:t>Communicate with on-premises resources</a:t>
            </a:r>
            <a:endParaRPr lang="en-US" sz="3600" dirty="0"/>
          </a:p>
        </p:txBody>
      </p:sp>
      <p:sp>
        <p:nvSpPr>
          <p:cNvPr id="3" name="Content Placeholder 2"/>
          <p:cNvSpPr>
            <a:spLocks noGrp="1"/>
          </p:cNvSpPr>
          <p:nvPr>
            <p:ph idx="1"/>
          </p:nvPr>
        </p:nvSpPr>
        <p:spPr>
          <a:xfrm>
            <a:off x="0" y="1193074"/>
            <a:ext cx="9074331" cy="3886200"/>
          </a:xfrm>
        </p:spPr>
        <p:txBody>
          <a:bodyPr/>
          <a:lstStyle/>
          <a:p>
            <a:r>
              <a:rPr lang="en-US" sz="2400" dirty="0"/>
              <a:t>Point-to-site virtual private networks. The typical approach to a virtual private network (VPN) connection is from a computer outside your organization, back into your corporate network. In this case, the client computer initiates an encrypted VPN connection to connect that computer to the Azure VN.</a:t>
            </a:r>
          </a:p>
          <a:p>
            <a:r>
              <a:rPr lang="en-US" sz="2400" dirty="0"/>
              <a:t>Site-to-site virtual private networks. A site-to-site VPN links your on-premises VPN device or gateway to the Azure VPN gateway in a virtual network. In effect, the devices in Azure can appear as being on the local network. The connection is encrypted and works over the internet.</a:t>
            </a:r>
          </a:p>
          <a:p>
            <a:r>
              <a:rPr lang="en-US" sz="2400" dirty="0"/>
              <a:t>Azure ExpressRoute. For environments where you need greater bandwidth and even higher levels of security, Azure ExpressRoute is the best approach. ExpressRoute provides a dedicated private connectivity to Azure that doesn't travel over the internet. </a:t>
            </a:r>
          </a:p>
        </p:txBody>
      </p:sp>
    </p:spTree>
    <p:extLst>
      <p:ext uri="{BB962C8B-B14F-4D97-AF65-F5344CB8AC3E}">
        <p14:creationId xmlns:p14="http://schemas.microsoft.com/office/powerpoint/2010/main" val="18078388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1669"/>
          </a:xfrm>
        </p:spPr>
        <p:txBody>
          <a:bodyPr/>
          <a:lstStyle/>
          <a:p>
            <a:r>
              <a:rPr lang="en-US" b="1" dirty="0"/>
              <a:t>Route network traffic</a:t>
            </a:r>
            <a:endParaRPr lang="en-US" dirty="0"/>
          </a:p>
        </p:txBody>
      </p:sp>
      <p:sp>
        <p:nvSpPr>
          <p:cNvPr id="3" name="Content Placeholder 2"/>
          <p:cNvSpPr>
            <a:spLocks noGrp="1"/>
          </p:cNvSpPr>
          <p:nvPr>
            <p:ph idx="1"/>
          </p:nvPr>
        </p:nvSpPr>
        <p:spPr>
          <a:xfrm>
            <a:off x="0" y="1288869"/>
            <a:ext cx="9004663" cy="3886200"/>
          </a:xfrm>
        </p:spPr>
        <p:txBody>
          <a:bodyPr/>
          <a:lstStyle/>
          <a:p>
            <a:r>
              <a:rPr lang="en-US" sz="2800" dirty="0"/>
              <a:t>By default, Azure routes traffic between subnets on any connected virtual networks, on-premises networks, and the internet. You can also control routing and override those settings, as follows:</a:t>
            </a:r>
          </a:p>
          <a:p>
            <a:r>
              <a:rPr lang="en-US" sz="2800" b="1" dirty="0"/>
              <a:t>Route tables.</a:t>
            </a:r>
            <a:r>
              <a:rPr lang="en-US" sz="2800" dirty="0"/>
              <a:t> A route table allows you to define rules about how traffic should be directed. You can create custom route tables that control how packets are routed between subnets.</a:t>
            </a:r>
          </a:p>
          <a:p>
            <a:r>
              <a:rPr lang="en-US" sz="2800" b="1" dirty="0"/>
              <a:t>Border Gateway Protocol.</a:t>
            </a:r>
            <a:r>
              <a:rPr lang="en-US" sz="2800" dirty="0"/>
              <a:t> Border Gateway Protocol (BGP) works with Azure VPN gateways, Azure Route Server, or ExpressRoute to propagate on-premises BGP routes to Azure virtual networks.</a:t>
            </a:r>
          </a:p>
          <a:p>
            <a:pPr marL="0" indent="0">
              <a:buNone/>
            </a:pPr>
            <a:endParaRPr lang="en-US" sz="2800" dirty="0"/>
          </a:p>
        </p:txBody>
      </p:sp>
    </p:spTree>
    <p:extLst>
      <p:ext uri="{BB962C8B-B14F-4D97-AF65-F5344CB8AC3E}">
        <p14:creationId xmlns:p14="http://schemas.microsoft.com/office/powerpoint/2010/main" val="17675789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8754"/>
          </a:xfrm>
        </p:spPr>
        <p:txBody>
          <a:bodyPr/>
          <a:lstStyle/>
          <a:p>
            <a:r>
              <a:rPr lang="en-US" b="1" dirty="0"/>
              <a:t>Filter network traffic</a:t>
            </a:r>
            <a:endParaRPr lang="en-US" dirty="0"/>
          </a:p>
        </p:txBody>
      </p:sp>
      <p:sp>
        <p:nvSpPr>
          <p:cNvPr id="3" name="Content Placeholder 2"/>
          <p:cNvSpPr>
            <a:spLocks noGrp="1"/>
          </p:cNvSpPr>
          <p:nvPr>
            <p:ph idx="1"/>
          </p:nvPr>
        </p:nvSpPr>
        <p:spPr>
          <a:xfrm>
            <a:off x="0" y="1493520"/>
            <a:ext cx="8769531" cy="3886200"/>
          </a:xfrm>
        </p:spPr>
        <p:txBody>
          <a:bodyPr/>
          <a:lstStyle/>
          <a:p>
            <a:r>
              <a:rPr lang="en-US" sz="2800" dirty="0"/>
              <a:t>Network security groups. A network security group is an Azure resource that can contain multiple inbound and outbound security rules. You can define these rules to allow or block traffic, based on factors such as source and destination IP address, port, and protocol.</a:t>
            </a:r>
          </a:p>
          <a:p>
            <a:r>
              <a:rPr lang="en-US" sz="2800" dirty="0"/>
              <a:t>Network virtual appliances. A network virtual appliance is a specialized VM that can be compared to a hardened network appliance. A network virtual appliance carries out a particular network function, such as running a firewall or performing wide area network (WAN) optimization.</a:t>
            </a:r>
          </a:p>
        </p:txBody>
      </p:sp>
    </p:spTree>
    <p:extLst>
      <p:ext uri="{BB962C8B-B14F-4D97-AF65-F5344CB8AC3E}">
        <p14:creationId xmlns:p14="http://schemas.microsoft.com/office/powerpoint/2010/main" val="1754963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Connecting </a:t>
            </a:r>
            <a:r>
              <a:rPr lang="en-US" dirty="0" err="1"/>
              <a:t>Vnet’s</a:t>
            </a:r>
            <a:endParaRPr lang="en-US" dirty="0"/>
          </a:p>
        </p:txBody>
      </p:sp>
      <p:pic>
        <p:nvPicPr>
          <p:cNvPr id="5122" name="Picture 2" descr="Illustration of a local or remote gateway in peered virtual networ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0598" y="1764366"/>
            <a:ext cx="8104475" cy="45580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2587" y="6388128"/>
            <a:ext cx="2943434" cy="369332"/>
          </a:xfrm>
          <a:prstGeom prst="rect">
            <a:avLst/>
          </a:prstGeom>
        </p:spPr>
        <p:txBody>
          <a:bodyPr wrap="none">
            <a:spAutoFit/>
          </a:bodyPr>
          <a:lstStyle/>
          <a:p>
            <a:r>
              <a:rPr lang="en-US" dirty="0">
                <a:solidFill>
                  <a:srgbClr val="171717"/>
                </a:solidFill>
                <a:latin typeface="Segoe UI" panose="020B0502040204020203" pitchFamily="34" charset="0"/>
              </a:rPr>
              <a:t>UDR - User-defined routes </a:t>
            </a:r>
            <a:endParaRPr lang="en-US" dirty="0"/>
          </a:p>
        </p:txBody>
      </p:sp>
    </p:spTree>
    <p:extLst>
      <p:ext uri="{BB962C8B-B14F-4D97-AF65-F5344CB8AC3E}">
        <p14:creationId xmlns:p14="http://schemas.microsoft.com/office/powerpoint/2010/main" val="2228486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70709"/>
          </a:xfrm>
        </p:spPr>
        <p:txBody>
          <a:bodyPr/>
          <a:lstStyle/>
          <a:p>
            <a:r>
              <a:rPr lang="en-US" b="1" dirty="0"/>
              <a:t>VPN gateways</a:t>
            </a:r>
            <a:endParaRPr lang="en-US" dirty="0"/>
          </a:p>
        </p:txBody>
      </p:sp>
      <p:sp>
        <p:nvSpPr>
          <p:cNvPr id="3" name="Content Placeholder 2"/>
          <p:cNvSpPr>
            <a:spLocks noGrp="1"/>
          </p:cNvSpPr>
          <p:nvPr>
            <p:ph idx="1"/>
          </p:nvPr>
        </p:nvSpPr>
        <p:spPr>
          <a:xfrm>
            <a:off x="182880" y="1227909"/>
            <a:ext cx="8874033" cy="3886200"/>
          </a:xfrm>
        </p:spPr>
        <p:txBody>
          <a:bodyPr/>
          <a:lstStyle/>
          <a:p>
            <a:r>
              <a:rPr lang="en-US" sz="2800" dirty="0"/>
              <a:t>Connect on-premises datacenters to virtual networks through a site-to-site connection.</a:t>
            </a:r>
          </a:p>
          <a:p>
            <a:r>
              <a:rPr lang="en-US" sz="2800" dirty="0"/>
              <a:t>Connect individual devices to virtual networks through a point-to-site connection.</a:t>
            </a:r>
          </a:p>
          <a:p>
            <a:r>
              <a:rPr lang="en-US" sz="2800" dirty="0"/>
              <a:t>Connect virtual networks to other virtual networks through a network-to-network connection.</a:t>
            </a:r>
          </a:p>
        </p:txBody>
      </p:sp>
      <p:pic>
        <p:nvPicPr>
          <p:cNvPr id="6146" name="Picture 2" descr="Visualization of a VPN connection to Az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122102"/>
            <a:ext cx="8399484" cy="2418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6454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1669"/>
          </a:xfrm>
        </p:spPr>
        <p:txBody>
          <a:bodyPr/>
          <a:lstStyle/>
          <a:p>
            <a:r>
              <a:rPr lang="en-US" dirty="0"/>
              <a:t>Policy-based VPN GW</a:t>
            </a:r>
          </a:p>
        </p:txBody>
      </p:sp>
      <p:sp>
        <p:nvSpPr>
          <p:cNvPr id="3" name="Content Placeholder 2"/>
          <p:cNvSpPr>
            <a:spLocks noGrp="1"/>
          </p:cNvSpPr>
          <p:nvPr>
            <p:ph idx="1"/>
          </p:nvPr>
        </p:nvSpPr>
        <p:spPr>
          <a:xfrm>
            <a:off x="113211" y="1415143"/>
            <a:ext cx="8865326" cy="3886200"/>
          </a:xfrm>
        </p:spPr>
        <p:txBody>
          <a:bodyPr/>
          <a:lstStyle/>
          <a:p>
            <a:r>
              <a:rPr lang="en-US" sz="2800" dirty="0"/>
              <a:t>specify statically the IP address of packets that should be encrypted through each tunnel. </a:t>
            </a:r>
          </a:p>
          <a:p>
            <a:r>
              <a:rPr lang="en-US" sz="2800" dirty="0"/>
              <a:t>Support for IKEv1 only.</a:t>
            </a:r>
          </a:p>
          <a:p>
            <a:r>
              <a:rPr lang="en-US" sz="2800" dirty="0"/>
              <a:t>Use of static routing, where combinations of address prefixes from both networks control how traffic is encrypted and decrypted through the VPN tunnel. </a:t>
            </a:r>
          </a:p>
          <a:p>
            <a:r>
              <a:rPr lang="en-US" sz="2800" dirty="0"/>
              <a:t>Policy-based VPNs must be used in specific scenarios that require them, such as for compatibility with legacy on-premises VPN devices.</a:t>
            </a:r>
          </a:p>
        </p:txBody>
      </p:sp>
    </p:spTree>
    <p:extLst>
      <p:ext uri="{BB962C8B-B14F-4D97-AF65-F5344CB8AC3E}">
        <p14:creationId xmlns:p14="http://schemas.microsoft.com/office/powerpoint/2010/main" val="63622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7131"/>
          </a:xfrm>
        </p:spPr>
        <p:txBody>
          <a:bodyPr/>
          <a:lstStyle/>
          <a:p>
            <a:r>
              <a:rPr lang="en-US" b="1" dirty="0"/>
              <a:t>Route-based VPNs</a:t>
            </a:r>
            <a:endParaRPr lang="en-US" dirty="0"/>
          </a:p>
        </p:txBody>
      </p:sp>
      <p:sp>
        <p:nvSpPr>
          <p:cNvPr id="3" name="Content Placeholder 2"/>
          <p:cNvSpPr>
            <a:spLocks noGrp="1"/>
          </p:cNvSpPr>
          <p:nvPr>
            <p:ph idx="1"/>
          </p:nvPr>
        </p:nvSpPr>
        <p:spPr>
          <a:xfrm>
            <a:off x="148045" y="1354182"/>
            <a:ext cx="8821783" cy="5386251"/>
          </a:xfrm>
        </p:spPr>
        <p:txBody>
          <a:bodyPr/>
          <a:lstStyle/>
          <a:p>
            <a:r>
              <a:rPr lang="en-US" sz="2800" dirty="0"/>
              <a:t>Use a route-based VPN gateway if you need any of the following types of connectivity:</a:t>
            </a:r>
          </a:p>
          <a:p>
            <a:pPr lvl="1"/>
            <a:r>
              <a:rPr lang="en-US" sz="2400" dirty="0"/>
              <a:t>Connections between virtual networks</a:t>
            </a:r>
          </a:p>
          <a:p>
            <a:pPr lvl="1"/>
            <a:r>
              <a:rPr lang="en-US" sz="2400" dirty="0"/>
              <a:t>Point-to-site connections</a:t>
            </a:r>
          </a:p>
          <a:p>
            <a:pPr lvl="1"/>
            <a:r>
              <a:rPr lang="en-US" sz="2400" dirty="0"/>
              <a:t>Multisite connections</a:t>
            </a:r>
          </a:p>
          <a:p>
            <a:pPr lvl="1"/>
            <a:r>
              <a:rPr lang="en-US" sz="2400" dirty="0"/>
              <a:t>Coexistence with an Azure ExpressRoute gateway</a:t>
            </a:r>
          </a:p>
          <a:p>
            <a:r>
              <a:rPr lang="en-US" sz="2800" dirty="0"/>
              <a:t>Key features of route-based VPN gateways in Azure include:</a:t>
            </a:r>
          </a:p>
          <a:p>
            <a:pPr lvl="1"/>
            <a:r>
              <a:rPr lang="en-US" sz="2400" dirty="0"/>
              <a:t>Supports IKEv2</a:t>
            </a:r>
          </a:p>
          <a:p>
            <a:pPr lvl="1"/>
            <a:r>
              <a:rPr lang="en-US" sz="2400" dirty="0"/>
              <a:t>Uses any-to-any (wildcard) traffic selectors</a:t>
            </a:r>
          </a:p>
          <a:p>
            <a:pPr lvl="1"/>
            <a:r>
              <a:rPr lang="en-US" sz="2400" dirty="0"/>
              <a:t>Can use dynamic routing protocols (BGP)</a:t>
            </a:r>
          </a:p>
        </p:txBody>
      </p:sp>
    </p:spTree>
    <p:extLst>
      <p:ext uri="{BB962C8B-B14F-4D97-AF65-F5344CB8AC3E}">
        <p14:creationId xmlns:p14="http://schemas.microsoft.com/office/powerpoint/2010/main" val="10723955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Deploy VPN gateways</a:t>
            </a:r>
            <a:endParaRPr lang="en-US" dirty="0"/>
          </a:p>
        </p:txBody>
      </p:sp>
      <p:pic>
        <p:nvPicPr>
          <p:cNvPr id="7170" name="Picture 2" descr="Visualization of resource requirements for a VPN gatewa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7965" y="1533192"/>
            <a:ext cx="7194916" cy="5324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00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92629"/>
          </a:xfrm>
        </p:spPr>
        <p:txBody>
          <a:bodyPr/>
          <a:lstStyle/>
          <a:p>
            <a:r>
              <a:rPr lang="en-US" dirty="0"/>
              <a:t>Required resources</a:t>
            </a:r>
          </a:p>
        </p:txBody>
      </p:sp>
      <p:sp>
        <p:nvSpPr>
          <p:cNvPr id="3" name="Content Placeholder 2"/>
          <p:cNvSpPr>
            <a:spLocks noGrp="1"/>
          </p:cNvSpPr>
          <p:nvPr>
            <p:ph idx="1"/>
          </p:nvPr>
        </p:nvSpPr>
        <p:spPr>
          <a:xfrm>
            <a:off x="309154" y="1837509"/>
            <a:ext cx="8229600" cy="3886200"/>
          </a:xfrm>
        </p:spPr>
        <p:txBody>
          <a:bodyPr/>
          <a:lstStyle/>
          <a:p>
            <a:r>
              <a:rPr lang="en-US" dirty="0"/>
              <a:t>Virtual network</a:t>
            </a:r>
          </a:p>
          <a:p>
            <a:r>
              <a:rPr lang="en-US" dirty="0"/>
              <a:t>Gateway Subnet</a:t>
            </a:r>
          </a:p>
          <a:p>
            <a:r>
              <a:rPr lang="en-US" dirty="0"/>
              <a:t>Public IP address</a:t>
            </a:r>
          </a:p>
          <a:p>
            <a:r>
              <a:rPr lang="en-US" dirty="0"/>
              <a:t>Local network gateway</a:t>
            </a:r>
          </a:p>
          <a:p>
            <a:r>
              <a:rPr lang="en-US" dirty="0"/>
              <a:t>Virtual network gateway</a:t>
            </a:r>
          </a:p>
          <a:p>
            <a:r>
              <a:rPr lang="en-US" dirty="0"/>
              <a:t>Connection</a:t>
            </a:r>
          </a:p>
          <a:p>
            <a:endParaRPr lang="en-US" dirty="0"/>
          </a:p>
        </p:txBody>
      </p:sp>
    </p:spTree>
    <p:extLst>
      <p:ext uri="{BB962C8B-B14F-4D97-AF65-F5344CB8AC3E}">
        <p14:creationId xmlns:p14="http://schemas.microsoft.com/office/powerpoint/2010/main" val="4749768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1" y="457200"/>
            <a:ext cx="8908868" cy="1232263"/>
          </a:xfrm>
        </p:spPr>
        <p:txBody>
          <a:bodyPr/>
          <a:lstStyle/>
          <a:p>
            <a:r>
              <a:rPr lang="en-US" b="1" dirty="0"/>
              <a:t>High-availability Active/standby</a:t>
            </a:r>
            <a:endParaRPr lang="en-US" dirty="0"/>
          </a:p>
        </p:txBody>
      </p:sp>
      <p:pic>
        <p:nvPicPr>
          <p:cNvPr id="8" name="Content Placeholder 7"/>
          <p:cNvPicPr>
            <a:picLocks noGrp="1" noChangeAspect="1"/>
          </p:cNvPicPr>
          <p:nvPr>
            <p:ph idx="1"/>
          </p:nvPr>
        </p:nvPicPr>
        <p:blipFill>
          <a:blip r:embed="rId2"/>
          <a:stretch>
            <a:fillRect/>
          </a:stretch>
        </p:blipFill>
        <p:spPr>
          <a:xfrm>
            <a:off x="21922" y="1759638"/>
            <a:ext cx="9122078" cy="4318946"/>
          </a:xfrm>
          <a:prstGeom prst="rect">
            <a:avLst/>
          </a:prstGeom>
        </p:spPr>
      </p:pic>
    </p:spTree>
    <p:extLst>
      <p:ext uri="{BB962C8B-B14F-4D97-AF65-F5344CB8AC3E}">
        <p14:creationId xmlns:p14="http://schemas.microsoft.com/office/powerpoint/2010/main" val="20491474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Active/active</a:t>
            </a:r>
            <a:endParaRPr lang="en-US" dirty="0"/>
          </a:p>
        </p:txBody>
      </p:sp>
      <p:pic>
        <p:nvPicPr>
          <p:cNvPr id="4" name="Content Placeholder 3"/>
          <p:cNvPicPr>
            <a:picLocks noGrp="1" noChangeAspect="1"/>
          </p:cNvPicPr>
          <p:nvPr>
            <p:ph idx="1"/>
          </p:nvPr>
        </p:nvPicPr>
        <p:blipFill>
          <a:blip r:embed="rId2"/>
          <a:stretch>
            <a:fillRect/>
          </a:stretch>
        </p:blipFill>
        <p:spPr>
          <a:xfrm>
            <a:off x="292947" y="1652305"/>
            <a:ext cx="8737841" cy="4452403"/>
          </a:xfrm>
          <a:prstGeom prst="rect">
            <a:avLst/>
          </a:prstGeom>
        </p:spPr>
      </p:pic>
    </p:spTree>
    <p:extLst>
      <p:ext uri="{BB962C8B-B14F-4D97-AF65-F5344CB8AC3E}">
        <p14:creationId xmlns:p14="http://schemas.microsoft.com/office/powerpoint/2010/main" val="9043244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26571" y="2944770"/>
            <a:ext cx="7354389" cy="3782601"/>
          </a:xfrm>
          <a:prstGeom prst="rect">
            <a:avLst/>
          </a:prstGeom>
        </p:spPr>
      </p:pic>
      <p:sp>
        <p:nvSpPr>
          <p:cNvPr id="2" name="Title 1"/>
          <p:cNvSpPr>
            <a:spLocks noGrp="1"/>
          </p:cNvSpPr>
          <p:nvPr>
            <p:ph type="title"/>
          </p:nvPr>
        </p:nvSpPr>
        <p:spPr>
          <a:xfrm>
            <a:off x="457200" y="457200"/>
            <a:ext cx="8229600" cy="753291"/>
          </a:xfrm>
        </p:spPr>
        <p:txBody>
          <a:bodyPr/>
          <a:lstStyle/>
          <a:p>
            <a:r>
              <a:rPr lang="en-US" dirty="0"/>
              <a:t>Azure ExpressRoute</a:t>
            </a:r>
          </a:p>
        </p:txBody>
      </p:sp>
      <p:sp>
        <p:nvSpPr>
          <p:cNvPr id="3" name="Content Placeholder 2"/>
          <p:cNvSpPr>
            <a:spLocks noGrp="1"/>
          </p:cNvSpPr>
          <p:nvPr>
            <p:ph idx="1"/>
          </p:nvPr>
        </p:nvSpPr>
        <p:spPr>
          <a:xfrm>
            <a:off x="222068" y="1271635"/>
            <a:ext cx="8229600" cy="3886200"/>
          </a:xfrm>
        </p:spPr>
        <p:txBody>
          <a:bodyPr/>
          <a:lstStyle/>
          <a:p>
            <a:r>
              <a:rPr lang="en-US" dirty="0"/>
              <a:t>ExpressRoute lets you extend your on-premises networks into the Microsoft cloud over a private connection with the help of a connectivity provider.</a:t>
            </a:r>
          </a:p>
        </p:txBody>
      </p:sp>
    </p:spTree>
    <p:extLst>
      <p:ext uri="{BB962C8B-B14F-4D97-AF65-F5344CB8AC3E}">
        <p14:creationId xmlns:p14="http://schemas.microsoft.com/office/powerpoint/2010/main" val="14521631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131" y="457200"/>
            <a:ext cx="8821783" cy="831669"/>
          </a:xfrm>
        </p:spPr>
        <p:txBody>
          <a:bodyPr/>
          <a:lstStyle/>
          <a:p>
            <a:r>
              <a:rPr lang="en-US" dirty="0"/>
              <a:t>ExpressRoute connectivity models</a:t>
            </a:r>
          </a:p>
        </p:txBody>
      </p:sp>
      <p:pic>
        <p:nvPicPr>
          <p:cNvPr id="4" name="Content Placeholder 3"/>
          <p:cNvPicPr>
            <a:picLocks noGrp="1" noChangeAspect="1"/>
          </p:cNvPicPr>
          <p:nvPr>
            <p:ph idx="1"/>
          </p:nvPr>
        </p:nvPicPr>
        <p:blipFill>
          <a:blip r:embed="rId2"/>
          <a:stretch>
            <a:fillRect/>
          </a:stretch>
        </p:blipFill>
        <p:spPr>
          <a:xfrm>
            <a:off x="339281" y="1837509"/>
            <a:ext cx="8469857" cy="4171405"/>
          </a:xfrm>
          <a:prstGeom prst="rect">
            <a:avLst/>
          </a:prstGeom>
        </p:spPr>
      </p:pic>
    </p:spTree>
    <p:extLst>
      <p:ext uri="{BB962C8B-B14F-4D97-AF65-F5344CB8AC3E}">
        <p14:creationId xmlns:p14="http://schemas.microsoft.com/office/powerpoint/2010/main" val="10761330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805"/>
            <a:ext cx="8229600" cy="923109"/>
          </a:xfrm>
        </p:spPr>
        <p:txBody>
          <a:bodyPr/>
          <a:lstStyle/>
          <a:p>
            <a:r>
              <a:rPr lang="en-US" b="1" dirty="0"/>
              <a:t>Azure database</a:t>
            </a:r>
            <a:r>
              <a:rPr lang="bg-BG" b="1" dirty="0"/>
              <a:t> </a:t>
            </a:r>
            <a:r>
              <a:rPr lang="en-US" b="1" dirty="0"/>
              <a:t>and analytics</a:t>
            </a:r>
            <a:endParaRPr lang="en-US" dirty="0"/>
          </a:p>
        </p:txBody>
      </p:sp>
      <p:sp>
        <p:nvSpPr>
          <p:cNvPr id="3" name="Content Placeholder 2"/>
          <p:cNvSpPr>
            <a:spLocks noGrp="1"/>
          </p:cNvSpPr>
          <p:nvPr>
            <p:ph idx="1"/>
          </p:nvPr>
        </p:nvSpPr>
        <p:spPr>
          <a:xfrm>
            <a:off x="300446" y="1550125"/>
            <a:ext cx="8229600" cy="5103223"/>
          </a:xfrm>
        </p:spPr>
        <p:txBody>
          <a:bodyPr/>
          <a:lstStyle/>
          <a:p>
            <a:r>
              <a:rPr lang="en-US" dirty="0"/>
              <a:t>Azure Cosmos DB</a:t>
            </a:r>
          </a:p>
          <a:p>
            <a:r>
              <a:rPr lang="en-US" dirty="0"/>
              <a:t>Azure SQL Database</a:t>
            </a:r>
          </a:p>
          <a:p>
            <a:r>
              <a:rPr lang="en-US" dirty="0"/>
              <a:t>Azure SQL Managed Instance</a:t>
            </a:r>
          </a:p>
          <a:p>
            <a:r>
              <a:rPr lang="en-US" dirty="0"/>
              <a:t>Azure Database for MySQL</a:t>
            </a:r>
          </a:p>
          <a:p>
            <a:r>
              <a:rPr lang="en-US" dirty="0"/>
              <a:t>Azure Database for PostgreSQL</a:t>
            </a:r>
          </a:p>
          <a:p>
            <a:r>
              <a:rPr lang="en-US" dirty="0"/>
              <a:t>Azure Synapse Analytics</a:t>
            </a:r>
          </a:p>
          <a:p>
            <a:r>
              <a:rPr lang="en-US" dirty="0"/>
              <a:t>Azure HDInsight</a:t>
            </a:r>
          </a:p>
          <a:p>
            <a:r>
              <a:rPr lang="en-US" dirty="0"/>
              <a:t>Azure </a:t>
            </a:r>
            <a:r>
              <a:rPr lang="en-US" dirty="0" err="1"/>
              <a:t>Databricks</a:t>
            </a:r>
            <a:endParaRPr lang="en-US" dirty="0"/>
          </a:p>
          <a:p>
            <a:r>
              <a:rPr lang="en-US" dirty="0"/>
              <a:t>Azure Data Lake Analytics</a:t>
            </a:r>
          </a:p>
          <a:p>
            <a:endParaRPr lang="en-US" dirty="0"/>
          </a:p>
        </p:txBody>
      </p:sp>
    </p:spTree>
    <p:extLst>
      <p:ext uri="{BB962C8B-B14F-4D97-AF65-F5344CB8AC3E}">
        <p14:creationId xmlns:p14="http://schemas.microsoft.com/office/powerpoint/2010/main" val="39446415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92629"/>
          </a:xfrm>
        </p:spPr>
        <p:txBody>
          <a:bodyPr/>
          <a:lstStyle/>
          <a:p>
            <a:r>
              <a:rPr lang="en-US" b="1" dirty="0"/>
              <a:t>Azure Cosmos DB</a:t>
            </a:r>
            <a:endParaRPr lang="en-US" dirty="0"/>
          </a:p>
        </p:txBody>
      </p:sp>
      <p:sp>
        <p:nvSpPr>
          <p:cNvPr id="3" name="Content Placeholder 2"/>
          <p:cNvSpPr>
            <a:spLocks noGrp="1"/>
          </p:cNvSpPr>
          <p:nvPr>
            <p:ph idx="1"/>
          </p:nvPr>
        </p:nvSpPr>
        <p:spPr>
          <a:xfrm>
            <a:off x="213360" y="1267097"/>
            <a:ext cx="8660674" cy="3886200"/>
          </a:xfrm>
        </p:spPr>
        <p:txBody>
          <a:bodyPr/>
          <a:lstStyle/>
          <a:p>
            <a:r>
              <a:rPr lang="en-US" sz="2400" dirty="0"/>
              <a:t>Azure Cosmos DB is a globally distributed, multi-model database service. You can elastically and independently scale throughput and storage across any number of Azure regions worldwide. You can take advantage of fast, single-digit-millisecond data access by using any one of several popular APIs. Azure Cosmos DB provides comprehensive service level agreements for throughput, latency, availability, and consistency guarantees.</a:t>
            </a:r>
          </a:p>
          <a:p>
            <a:r>
              <a:rPr lang="en-US" sz="2400" dirty="0"/>
              <a:t>Azure Cosmos DB supports schema-less data, which lets you build highly responsive and "Always On" applications to support constantly changing data. You can use this feature to store data that's updated and maintained by users around the world.</a:t>
            </a:r>
          </a:p>
        </p:txBody>
      </p:sp>
    </p:spTree>
    <p:extLst>
      <p:ext uri="{BB962C8B-B14F-4D97-AF65-F5344CB8AC3E}">
        <p14:creationId xmlns:p14="http://schemas.microsoft.com/office/powerpoint/2010/main" val="2325207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18457"/>
          </a:xfrm>
        </p:spPr>
        <p:txBody>
          <a:bodyPr/>
          <a:lstStyle/>
          <a:p>
            <a:r>
              <a:rPr lang="en-US" dirty="0"/>
              <a:t>Azure Cosmos DB</a:t>
            </a:r>
          </a:p>
        </p:txBody>
      </p:sp>
      <p:sp>
        <p:nvSpPr>
          <p:cNvPr id="3" name="Content Placeholder 2"/>
          <p:cNvSpPr>
            <a:spLocks noGrp="1"/>
          </p:cNvSpPr>
          <p:nvPr>
            <p:ph idx="1"/>
          </p:nvPr>
        </p:nvSpPr>
        <p:spPr>
          <a:xfrm>
            <a:off x="113212" y="1240972"/>
            <a:ext cx="8908868" cy="3886200"/>
          </a:xfrm>
        </p:spPr>
        <p:txBody>
          <a:bodyPr/>
          <a:lstStyle/>
          <a:p>
            <a:r>
              <a:rPr lang="en-US" sz="2400" dirty="0"/>
              <a:t>Azure Cosmos DB is flexible. At the lowest level, Azure Cosmos DB stores data in atom-record-sequence (ARS) format. The data is then abstracted and projected as an API, which you specify when you're creating your database. Your choices include SQL, MongoDB, Cassandra, Tables, and Gremlin. This level of flexibility means that as you migrate your company's databases to Azure Cosmos DB, your developers can stick with the API that they're the most comfortable with.</a:t>
            </a:r>
          </a:p>
        </p:txBody>
      </p:sp>
      <p:pic>
        <p:nvPicPr>
          <p:cNvPr id="3074" name="Picture 2" descr="Diagram of Azure Cosmos DB databases in a training portal webs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2546" y="4200524"/>
            <a:ext cx="4171950" cy="2657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9666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88423"/>
          </a:xfrm>
        </p:spPr>
        <p:txBody>
          <a:bodyPr/>
          <a:lstStyle/>
          <a:p>
            <a:r>
              <a:rPr lang="en-US" b="1" dirty="0"/>
              <a:t>Azure SQL Database</a:t>
            </a:r>
            <a:endParaRPr lang="en-US" dirty="0"/>
          </a:p>
        </p:txBody>
      </p:sp>
      <p:sp>
        <p:nvSpPr>
          <p:cNvPr id="3" name="Content Placeholder 2"/>
          <p:cNvSpPr>
            <a:spLocks noGrp="1"/>
          </p:cNvSpPr>
          <p:nvPr>
            <p:ph idx="1"/>
          </p:nvPr>
        </p:nvSpPr>
        <p:spPr>
          <a:xfrm>
            <a:off x="69669" y="1297577"/>
            <a:ext cx="8839199" cy="3886200"/>
          </a:xfrm>
        </p:spPr>
        <p:txBody>
          <a:bodyPr/>
          <a:lstStyle/>
          <a:p>
            <a:r>
              <a:rPr lang="en-US" dirty="0"/>
              <a:t>Azure SQL Database is a relational database based on the latest stable version of the Microsoft SQL Server database engine. SQL Database is a high-performance, reliable, fully managed, and secure database. You can use it to build data-driven applications and websites in the programming language of your choice, without needing to manage infrastructure.</a:t>
            </a:r>
            <a:endParaRPr lang="bg-BG" dirty="0"/>
          </a:p>
          <a:p>
            <a:r>
              <a:rPr lang="en-US" dirty="0"/>
              <a:t>Azure SQL Database is a platform as a service (PaaS)</a:t>
            </a:r>
          </a:p>
        </p:txBody>
      </p:sp>
    </p:spTree>
    <p:extLst>
      <p:ext uri="{BB962C8B-B14F-4D97-AF65-F5344CB8AC3E}">
        <p14:creationId xmlns:p14="http://schemas.microsoft.com/office/powerpoint/2010/main" val="2758038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66503"/>
          </a:xfrm>
        </p:spPr>
        <p:txBody>
          <a:bodyPr/>
          <a:lstStyle/>
          <a:p>
            <a:r>
              <a:rPr lang="en-US" b="1" dirty="0"/>
              <a:t>Azure database for MySQL</a:t>
            </a:r>
          </a:p>
        </p:txBody>
      </p:sp>
      <p:sp>
        <p:nvSpPr>
          <p:cNvPr id="3" name="Content Placeholder 2"/>
          <p:cNvSpPr>
            <a:spLocks noGrp="1"/>
          </p:cNvSpPr>
          <p:nvPr>
            <p:ph idx="1"/>
          </p:nvPr>
        </p:nvSpPr>
        <p:spPr>
          <a:xfrm>
            <a:off x="0" y="1323703"/>
            <a:ext cx="9144000" cy="3886200"/>
          </a:xfrm>
        </p:spPr>
        <p:txBody>
          <a:bodyPr/>
          <a:lstStyle/>
          <a:p>
            <a:r>
              <a:rPr lang="en-US" sz="2400" dirty="0"/>
              <a:t>Azure Database for MySQL is a relational database service in the cloud, and it's based on the MySQL Community Edition database engine, versions 5.6, 5.7, and 8.0. With it, you have a 99.99 percent availability service level agreement from Azure</a:t>
            </a:r>
            <a:r>
              <a:rPr lang="bg-BG" sz="2400" dirty="0"/>
              <a:t>.</a:t>
            </a:r>
          </a:p>
          <a:p>
            <a:r>
              <a:rPr lang="en-US" sz="2400" dirty="0"/>
              <a:t>With Azure Database for MySQL, you can use point-in-time restore to recover a server to an earlier state, as far back as 35 days.</a:t>
            </a:r>
            <a:endParaRPr lang="bg-BG" sz="2400" dirty="0"/>
          </a:p>
          <a:p>
            <a:r>
              <a:rPr lang="en-US" sz="2400" dirty="0"/>
              <a:t>Built-in high availability with no additional cost.</a:t>
            </a:r>
          </a:p>
          <a:p>
            <a:r>
              <a:rPr lang="en-US" sz="2400" dirty="0"/>
              <a:t>Predictable performance and inclusive, pay-as-you-go pricing.</a:t>
            </a:r>
          </a:p>
          <a:p>
            <a:r>
              <a:rPr lang="en-US" sz="2400" dirty="0"/>
              <a:t>Scale as needed, within seconds.</a:t>
            </a:r>
          </a:p>
          <a:p>
            <a:r>
              <a:rPr lang="en-US" sz="2400" dirty="0"/>
              <a:t>Ability to protect sensitive data at-rest and in-motion.</a:t>
            </a:r>
          </a:p>
          <a:p>
            <a:r>
              <a:rPr lang="en-US" sz="2400" dirty="0"/>
              <a:t>Automatic backups.</a:t>
            </a:r>
          </a:p>
          <a:p>
            <a:r>
              <a:rPr lang="en-US" sz="2400" dirty="0"/>
              <a:t>Enterprise-grade security and compliance.</a:t>
            </a:r>
          </a:p>
        </p:txBody>
      </p:sp>
    </p:spTree>
    <p:extLst>
      <p:ext uri="{BB962C8B-B14F-4D97-AF65-F5344CB8AC3E}">
        <p14:creationId xmlns:p14="http://schemas.microsoft.com/office/powerpoint/2010/main" val="8174640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74" y="457200"/>
            <a:ext cx="8708572" cy="875211"/>
          </a:xfrm>
        </p:spPr>
        <p:txBody>
          <a:bodyPr/>
          <a:lstStyle/>
          <a:p>
            <a:r>
              <a:rPr lang="en-US" dirty="0"/>
              <a:t>Azure Database for PostgreSQL</a:t>
            </a:r>
          </a:p>
        </p:txBody>
      </p:sp>
      <p:sp>
        <p:nvSpPr>
          <p:cNvPr id="3" name="Content Placeholder 2"/>
          <p:cNvSpPr>
            <a:spLocks noGrp="1"/>
          </p:cNvSpPr>
          <p:nvPr>
            <p:ph idx="1"/>
          </p:nvPr>
        </p:nvSpPr>
        <p:spPr>
          <a:xfrm>
            <a:off x="95794" y="1249680"/>
            <a:ext cx="8891452" cy="3886200"/>
          </a:xfrm>
        </p:spPr>
        <p:txBody>
          <a:bodyPr/>
          <a:lstStyle/>
          <a:p>
            <a:r>
              <a:rPr lang="en-US" sz="2000" dirty="0"/>
              <a:t>Azure Database for PostgreSQL is a relational database service in the cloud. The server software is based on the community version of the open-source PostgreSQL database engine. </a:t>
            </a:r>
            <a:endParaRPr lang="bg-BG" sz="2000" dirty="0"/>
          </a:p>
          <a:p>
            <a:r>
              <a:rPr lang="en-US" sz="2000" dirty="0"/>
              <a:t>Built-in high availability compared to on-premises resources. There's no additional configuration, replication, or cost required to make sure your applications are always available.</a:t>
            </a:r>
          </a:p>
          <a:p>
            <a:r>
              <a:rPr lang="en-US" sz="2000" dirty="0"/>
              <a:t>Simple and flexible pricing. You have predictable performance based on a selected pricing tier choice that includes software patching, automatic backups, monitoring, and security.</a:t>
            </a:r>
          </a:p>
          <a:p>
            <a:r>
              <a:rPr lang="en-US" sz="2000" dirty="0"/>
              <a:t>Scale up or down as needed, within seconds. You can scale compute or storage independently as needed, to make sure you adapt your service to match usage.</a:t>
            </a:r>
          </a:p>
          <a:p>
            <a:r>
              <a:rPr lang="en-US" sz="2000" dirty="0"/>
              <a:t>Adjustable automatic backups and point-in-time-restore for up to 35 days.</a:t>
            </a:r>
          </a:p>
          <a:p>
            <a:r>
              <a:rPr lang="en-US" sz="2000" dirty="0"/>
              <a:t>Enterprise-grade security and compliance to protect sensitive data at-rest and in-motion. This security covers data encryption on disk and SSL encryption between client and server communication.</a:t>
            </a:r>
          </a:p>
        </p:txBody>
      </p:sp>
    </p:spTree>
    <p:extLst>
      <p:ext uri="{BB962C8B-B14F-4D97-AF65-F5344CB8AC3E}">
        <p14:creationId xmlns:p14="http://schemas.microsoft.com/office/powerpoint/2010/main" val="13600074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44880"/>
          </a:xfrm>
        </p:spPr>
        <p:txBody>
          <a:bodyPr/>
          <a:lstStyle/>
          <a:p>
            <a:r>
              <a:rPr lang="en-US" b="1" dirty="0"/>
              <a:t>Azure SQL Managed Instance</a:t>
            </a:r>
            <a:endParaRPr lang="en-US" dirty="0"/>
          </a:p>
        </p:txBody>
      </p:sp>
      <p:sp>
        <p:nvSpPr>
          <p:cNvPr id="3" name="Content Placeholder 2"/>
          <p:cNvSpPr>
            <a:spLocks noGrp="1"/>
          </p:cNvSpPr>
          <p:nvPr>
            <p:ph idx="1"/>
          </p:nvPr>
        </p:nvSpPr>
        <p:spPr>
          <a:xfrm>
            <a:off x="165463" y="1524000"/>
            <a:ext cx="8813074" cy="3886200"/>
          </a:xfrm>
        </p:spPr>
        <p:txBody>
          <a:bodyPr/>
          <a:lstStyle/>
          <a:p>
            <a:r>
              <a:rPr lang="en-US" sz="2400" dirty="0"/>
              <a:t>Azure SQL Managed Instance is a scalable cloud data service that provides the broadest SQL Server database engine compatibility with all the benefits of a fully managed platform as a service. Depending on your scenario, Azure SQL Managed Instance might offer more options for your database needs.</a:t>
            </a:r>
            <a:endParaRPr lang="bg-BG" sz="2400" dirty="0"/>
          </a:p>
          <a:p>
            <a:r>
              <a:rPr lang="en-US" sz="2400" dirty="0"/>
              <a:t> Azure SQL Managed Instance provides several options that might not be available to Azure SQL Database. </a:t>
            </a:r>
            <a:endParaRPr lang="bg-BG" sz="2400" dirty="0"/>
          </a:p>
          <a:p>
            <a:r>
              <a:rPr lang="en-US" sz="2400" dirty="0"/>
              <a:t>i.e. if using Cyrillic characters for collation, you should migrate their databases to an Azure SQL Managed Instance, since Azure SQL Database only uses the default SQL_Latin1_General_CP1_CI_AS server collation.</a:t>
            </a:r>
          </a:p>
        </p:txBody>
      </p:sp>
    </p:spTree>
    <p:extLst>
      <p:ext uri="{BB962C8B-B14F-4D97-AF65-F5344CB8AC3E}">
        <p14:creationId xmlns:p14="http://schemas.microsoft.com/office/powerpoint/2010/main" val="30621615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44583"/>
          </a:xfrm>
        </p:spPr>
        <p:txBody>
          <a:bodyPr/>
          <a:lstStyle/>
          <a:p>
            <a:r>
              <a:rPr lang="en-US" dirty="0"/>
              <a:t>Security</a:t>
            </a:r>
          </a:p>
        </p:txBody>
      </p:sp>
      <p:pic>
        <p:nvPicPr>
          <p:cNvPr id="4" name="Content Placeholder 3"/>
          <p:cNvPicPr>
            <a:picLocks noGrp="1" noChangeAspect="1"/>
          </p:cNvPicPr>
          <p:nvPr>
            <p:ph idx="1"/>
          </p:nvPr>
        </p:nvPicPr>
        <p:blipFill>
          <a:blip r:embed="rId2"/>
          <a:stretch>
            <a:fillRect/>
          </a:stretch>
        </p:blipFill>
        <p:spPr>
          <a:xfrm>
            <a:off x="98722" y="1785383"/>
            <a:ext cx="8984318" cy="3946328"/>
          </a:xfrm>
          <a:prstGeom prst="rect">
            <a:avLst/>
          </a:prstGeom>
        </p:spPr>
      </p:pic>
    </p:spTree>
    <p:extLst>
      <p:ext uri="{BB962C8B-B14F-4D97-AF65-F5344CB8AC3E}">
        <p14:creationId xmlns:p14="http://schemas.microsoft.com/office/powerpoint/2010/main" val="22714936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Application Gateway</a:t>
            </a:r>
          </a:p>
        </p:txBody>
      </p:sp>
      <p:sp>
        <p:nvSpPr>
          <p:cNvPr id="3" name="Content Placeholder 2"/>
          <p:cNvSpPr>
            <a:spLocks noGrp="1"/>
          </p:cNvSpPr>
          <p:nvPr>
            <p:ph idx="1"/>
          </p:nvPr>
        </p:nvSpPr>
        <p:spPr>
          <a:xfrm>
            <a:off x="0" y="1902542"/>
            <a:ext cx="8967019" cy="3886200"/>
          </a:xfrm>
        </p:spPr>
        <p:txBody>
          <a:bodyPr/>
          <a:lstStyle/>
          <a:p>
            <a:r>
              <a:rPr lang="en-US" sz="2400" dirty="0"/>
              <a:t>Azure Application Gateway is a web traffic load balancer that enables you to manage traffic to your web applications. Traditional load balancers operate at the transport layer (OSI layer 4 - TCP and UDP) and route traffic based on source IP address and port, to a destination IP address and port.</a:t>
            </a:r>
          </a:p>
          <a:p>
            <a:r>
              <a:rPr lang="en-US" sz="2400" dirty="0"/>
              <a:t>Application Gateway can make routing decisions based on additional attributes of an HTTP request, for example URI path or host headers. For example, you can route traffic based on the incoming URL. So if /images is in the incoming URL, you can route traffic to a specific set of servers (known as a pool) configured for images. If /video is in the URL, that traffic is routed to another pool that's optimized for videos.</a:t>
            </a:r>
          </a:p>
        </p:txBody>
      </p:sp>
    </p:spTree>
    <p:extLst>
      <p:ext uri="{BB962C8B-B14F-4D97-AF65-F5344CB8AC3E}">
        <p14:creationId xmlns:p14="http://schemas.microsoft.com/office/powerpoint/2010/main" val="26145370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51062"/>
          </a:xfrm>
        </p:spPr>
        <p:txBody>
          <a:bodyPr/>
          <a:lstStyle/>
          <a:p>
            <a:r>
              <a:rPr lang="en-US" dirty="0"/>
              <a:t>Example</a:t>
            </a:r>
          </a:p>
        </p:txBody>
      </p:sp>
      <p:pic>
        <p:nvPicPr>
          <p:cNvPr id="1026" name="Picture 2" descr="imageURLrout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7420" y="1208262"/>
            <a:ext cx="8878928" cy="5438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3736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45575"/>
          </a:xfrm>
        </p:spPr>
        <p:txBody>
          <a:bodyPr/>
          <a:lstStyle/>
          <a:p>
            <a:r>
              <a:rPr lang="en-US" dirty="0"/>
              <a:t>Features</a:t>
            </a:r>
          </a:p>
        </p:txBody>
      </p:sp>
      <p:sp>
        <p:nvSpPr>
          <p:cNvPr id="3" name="Content Placeholder 2"/>
          <p:cNvSpPr>
            <a:spLocks noGrp="1"/>
          </p:cNvSpPr>
          <p:nvPr>
            <p:ph idx="1"/>
          </p:nvPr>
        </p:nvSpPr>
        <p:spPr>
          <a:xfrm>
            <a:off x="0" y="1302775"/>
            <a:ext cx="8937522" cy="3886200"/>
          </a:xfrm>
        </p:spPr>
        <p:txBody>
          <a:bodyPr/>
          <a:lstStyle/>
          <a:p>
            <a:r>
              <a:rPr lang="en-US" sz="2800" dirty="0"/>
              <a:t>Secure Sockets Layer (SSL/TLS) termination</a:t>
            </a:r>
          </a:p>
          <a:p>
            <a:r>
              <a:rPr lang="en-US" sz="2800" dirty="0" err="1"/>
              <a:t>Autoscaling</a:t>
            </a:r>
            <a:endParaRPr lang="en-US" sz="2800" dirty="0"/>
          </a:p>
          <a:p>
            <a:r>
              <a:rPr lang="en-US" sz="2800" dirty="0"/>
              <a:t>Zone redundancy</a:t>
            </a:r>
          </a:p>
          <a:p>
            <a:r>
              <a:rPr lang="en-US" sz="2800" dirty="0"/>
              <a:t>Web Application Firewall</a:t>
            </a:r>
          </a:p>
          <a:p>
            <a:r>
              <a:rPr lang="en-US" sz="2800" dirty="0">
                <a:solidFill>
                  <a:srgbClr val="171717"/>
                </a:solidFill>
                <a:cs typeface="Times New Roman" panose="02020603050405020304" pitchFamily="18" charset="0"/>
              </a:rPr>
              <a:t>URL-based routing</a:t>
            </a:r>
          </a:p>
          <a:p>
            <a:r>
              <a:rPr lang="en-US" sz="2800" dirty="0"/>
              <a:t>Multiple-site hosting</a:t>
            </a:r>
          </a:p>
          <a:p>
            <a:r>
              <a:rPr lang="en-US" sz="2800" dirty="0" err="1"/>
              <a:t>Websocket</a:t>
            </a:r>
            <a:r>
              <a:rPr lang="en-US" sz="2800" dirty="0"/>
              <a:t> and HTTP/2 traffic</a:t>
            </a:r>
          </a:p>
          <a:p>
            <a:r>
              <a:rPr lang="en-US" sz="2800" dirty="0"/>
              <a:t>Connection draining - graceful removal of backend pool members during planned service updates.</a:t>
            </a:r>
          </a:p>
          <a:p>
            <a:r>
              <a:rPr lang="en-US" sz="2800" dirty="0"/>
              <a:t>Custom error pages</a:t>
            </a:r>
          </a:p>
          <a:p>
            <a:r>
              <a:rPr lang="en-US" sz="2800" dirty="0"/>
              <a:t>Rewrite HTTP headers and URL</a:t>
            </a:r>
            <a:br>
              <a:rPr lang="en-US" sz="2800" dirty="0"/>
            </a:br>
            <a:endParaRPr lang="en-US" sz="2800" dirty="0"/>
          </a:p>
        </p:txBody>
      </p:sp>
    </p:spTree>
    <p:extLst>
      <p:ext uri="{BB962C8B-B14F-4D97-AF65-F5344CB8AC3E}">
        <p14:creationId xmlns:p14="http://schemas.microsoft.com/office/powerpoint/2010/main" val="20238790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73394"/>
          </a:xfrm>
        </p:spPr>
        <p:txBody>
          <a:bodyPr/>
          <a:lstStyle/>
          <a:p>
            <a:r>
              <a:rPr lang="en-US" dirty="0"/>
              <a:t>Azure Active Directory</a:t>
            </a:r>
          </a:p>
        </p:txBody>
      </p:sp>
      <p:sp>
        <p:nvSpPr>
          <p:cNvPr id="3" name="Content Placeholder 2"/>
          <p:cNvSpPr>
            <a:spLocks noGrp="1"/>
          </p:cNvSpPr>
          <p:nvPr>
            <p:ph idx="1"/>
          </p:nvPr>
        </p:nvSpPr>
        <p:spPr>
          <a:xfrm>
            <a:off x="142568" y="1430594"/>
            <a:ext cx="8229600" cy="3886200"/>
          </a:xfrm>
        </p:spPr>
        <p:txBody>
          <a:bodyPr/>
          <a:lstStyle/>
          <a:p>
            <a:r>
              <a:rPr lang="en-US" dirty="0"/>
              <a:t>Azure Active Directory (Azure AD) is a cloud-based identity and access management service. This service helps your employees access external resources, such as Microsoft 365, the Azure portal, and thousands of other SaaS applications. Azure Active Directory also helps them access internal resources like apps on your corporate intranet network, along with any cloud apps developed for your own organization.</a:t>
            </a:r>
          </a:p>
        </p:txBody>
      </p:sp>
    </p:spTree>
    <p:extLst>
      <p:ext uri="{BB962C8B-B14F-4D97-AF65-F5344CB8AC3E}">
        <p14:creationId xmlns:p14="http://schemas.microsoft.com/office/powerpoint/2010/main" val="29556846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71832"/>
          </a:xfrm>
        </p:spPr>
        <p:txBody>
          <a:bodyPr/>
          <a:lstStyle/>
          <a:p>
            <a:r>
              <a:rPr lang="en-US" dirty="0"/>
              <a:t>Who uses Azure AD</a:t>
            </a:r>
          </a:p>
        </p:txBody>
      </p:sp>
      <p:sp>
        <p:nvSpPr>
          <p:cNvPr id="3" name="Content Placeholder 2"/>
          <p:cNvSpPr>
            <a:spLocks noGrp="1"/>
          </p:cNvSpPr>
          <p:nvPr>
            <p:ph idx="1"/>
          </p:nvPr>
        </p:nvSpPr>
        <p:spPr>
          <a:xfrm>
            <a:off x="39329" y="1371600"/>
            <a:ext cx="9065342" cy="3886200"/>
          </a:xfrm>
        </p:spPr>
        <p:txBody>
          <a:bodyPr/>
          <a:lstStyle/>
          <a:p>
            <a:r>
              <a:rPr lang="en-US" sz="2800" dirty="0"/>
              <a:t>IT admins: As an IT admin, use Azure AD to control access to your apps and your app resources, based on your business requirements. </a:t>
            </a:r>
          </a:p>
          <a:p>
            <a:r>
              <a:rPr lang="en-US" sz="2800" dirty="0"/>
              <a:t>App developers: As an app developer, you can use Azure AD as a standards-based approach for adding single sign-on (SSO) to your app, allowing it to work with a user's pre-existing credentials.</a:t>
            </a:r>
          </a:p>
          <a:p>
            <a:r>
              <a:rPr lang="en-US" sz="2800" dirty="0"/>
              <a:t>Microsoft 365, Office 365, Azure, or Dynamics CRM Online subscribers: As a subscriber, you're already using Azure AD. Each Microsoft 365, Office 365, Azure, and Dynamics CRM Online tenant is automatically an Azure AD tenant.</a:t>
            </a:r>
          </a:p>
        </p:txBody>
      </p:sp>
    </p:spTree>
    <p:extLst>
      <p:ext uri="{BB962C8B-B14F-4D97-AF65-F5344CB8AC3E}">
        <p14:creationId xmlns:p14="http://schemas.microsoft.com/office/powerpoint/2010/main" val="1322855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7974"/>
          </a:xfrm>
        </p:spPr>
        <p:txBody>
          <a:bodyPr/>
          <a:lstStyle/>
          <a:p>
            <a:r>
              <a:rPr lang="en-US" dirty="0"/>
              <a:t>Azure AD licenses</a:t>
            </a:r>
          </a:p>
        </p:txBody>
      </p:sp>
      <p:sp>
        <p:nvSpPr>
          <p:cNvPr id="3" name="Content Placeholder 2"/>
          <p:cNvSpPr>
            <a:spLocks noGrp="1"/>
          </p:cNvSpPr>
          <p:nvPr>
            <p:ph idx="1"/>
          </p:nvPr>
        </p:nvSpPr>
        <p:spPr>
          <a:xfrm>
            <a:off x="0" y="1351935"/>
            <a:ext cx="9065342" cy="3886200"/>
          </a:xfrm>
        </p:spPr>
        <p:txBody>
          <a:bodyPr/>
          <a:lstStyle/>
          <a:p>
            <a:r>
              <a:rPr lang="en-US" sz="2400" dirty="0"/>
              <a:t>Azure Active Directory Free. Provides user and group management, on-premises directory synchronization, basic reports, self-service password change for cloud users, and SSO across Azure, Microsoft 365, and other SaaS apps.</a:t>
            </a:r>
          </a:p>
          <a:p>
            <a:r>
              <a:rPr lang="en-US" sz="2400" dirty="0"/>
              <a:t>Azure Active Directory Premium P1. Lets your hybrid users access both on-premises and cloud resources. It also supports advanced administration, such as dynamic groups, self-service group management, Microsoft Identity Manager, and others.</a:t>
            </a:r>
          </a:p>
          <a:p>
            <a:r>
              <a:rPr lang="en-US" sz="2400" dirty="0"/>
              <a:t>Azure Active Directory Premium P2. Offers Azure Active Directory Identity Protection to help provide risk-based Conditional Access to your apps and critical company data and Privileged Identity Management to help discover, restrict, and monitor administrators and their access to resources and to provide just-in-time access when needed.</a:t>
            </a:r>
          </a:p>
        </p:txBody>
      </p:sp>
    </p:spTree>
    <p:extLst>
      <p:ext uri="{BB962C8B-B14F-4D97-AF65-F5344CB8AC3E}">
        <p14:creationId xmlns:p14="http://schemas.microsoft.com/office/powerpoint/2010/main" val="2197226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AD Domain Services</a:t>
            </a:r>
          </a:p>
        </p:txBody>
      </p:sp>
      <p:sp>
        <p:nvSpPr>
          <p:cNvPr id="3" name="Content Placeholder 2"/>
          <p:cNvSpPr>
            <a:spLocks noGrp="1"/>
          </p:cNvSpPr>
          <p:nvPr>
            <p:ph idx="1"/>
          </p:nvPr>
        </p:nvSpPr>
        <p:spPr/>
        <p:txBody>
          <a:bodyPr/>
          <a:lstStyle/>
          <a:p>
            <a:r>
              <a:rPr lang="en-US" dirty="0"/>
              <a:t>Azure Active Directory Domain Services (Azure AD DS) provides managed domain services such as domain join, group policy, lightweight directory access protocol (LDAP), and Kerberos/NTLM authentication. You use these domain services without the need to deploy, manage, and patch domain controllers (DCs) in the cloud.</a:t>
            </a:r>
          </a:p>
        </p:txBody>
      </p:sp>
    </p:spTree>
    <p:extLst>
      <p:ext uri="{BB962C8B-B14F-4D97-AF65-F5344CB8AC3E}">
        <p14:creationId xmlns:p14="http://schemas.microsoft.com/office/powerpoint/2010/main" val="3184806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Azure AD DS work</a:t>
            </a:r>
          </a:p>
        </p:txBody>
      </p:sp>
      <p:pic>
        <p:nvPicPr>
          <p:cNvPr id="2050" name="Picture 2" descr="Synchronization in Azure AD Domain Services with Azure AD and on-premises AD DS using AD Connect"/>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0640" y="2605548"/>
            <a:ext cx="8884312" cy="2625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2982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8986684" cy="791497"/>
          </a:xfrm>
        </p:spPr>
        <p:txBody>
          <a:bodyPr/>
          <a:lstStyle/>
          <a:p>
            <a:r>
              <a:rPr lang="en-US" dirty="0"/>
              <a:t>Azure AD DS features and benefits</a:t>
            </a:r>
          </a:p>
        </p:txBody>
      </p:sp>
      <p:sp>
        <p:nvSpPr>
          <p:cNvPr id="3" name="Content Placeholder 2"/>
          <p:cNvSpPr>
            <a:spLocks noGrp="1"/>
          </p:cNvSpPr>
          <p:nvPr>
            <p:ph idx="1"/>
          </p:nvPr>
        </p:nvSpPr>
        <p:spPr>
          <a:xfrm>
            <a:off x="-78658" y="1248697"/>
            <a:ext cx="9144000" cy="3886200"/>
          </a:xfrm>
        </p:spPr>
        <p:txBody>
          <a:bodyPr/>
          <a:lstStyle/>
          <a:p>
            <a:r>
              <a:rPr lang="en-US" sz="2400" dirty="0"/>
              <a:t>Simplified deployment experience: Azure AD DS is enabled for your Azure AD tenant using a single wizard in the Azure portal.</a:t>
            </a:r>
          </a:p>
          <a:p>
            <a:r>
              <a:rPr lang="en-US" sz="2400" dirty="0"/>
              <a:t>Integrated with Azure AD: User accounts, group memberships, and credentials are automatically available from your Azure AD tenant. </a:t>
            </a:r>
          </a:p>
          <a:p>
            <a:r>
              <a:rPr lang="en-US" sz="2400" dirty="0"/>
              <a:t>Accounts in external directories linked to your Azure AD aren't available in Azure AD DS. </a:t>
            </a:r>
          </a:p>
          <a:p>
            <a:r>
              <a:rPr lang="en-US" sz="2400" dirty="0"/>
              <a:t>Use your corporate credentials/passwords.</a:t>
            </a:r>
          </a:p>
          <a:p>
            <a:r>
              <a:rPr lang="en-US" sz="2400" dirty="0"/>
              <a:t>NTLM and Kerberos authentication: you can deploy applications that rely on Windows-integrated authentication.</a:t>
            </a:r>
          </a:p>
          <a:p>
            <a:r>
              <a:rPr lang="en-US" sz="2400" dirty="0"/>
              <a:t>High availability: Azure AD DS includes multiple domain controllers, which provide high availability for your managed domain. This high availability guarantees service uptime and resilience to failures.</a:t>
            </a:r>
          </a:p>
        </p:txBody>
      </p:sp>
    </p:spTree>
    <p:extLst>
      <p:ext uri="{BB962C8B-B14F-4D97-AF65-F5344CB8AC3E}">
        <p14:creationId xmlns:p14="http://schemas.microsoft.com/office/powerpoint/2010/main" val="3418395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a:t>
            </a:r>
            <a:r>
              <a:rPr lang="en-US" dirty="0" err="1"/>
              <a:t>DDoS</a:t>
            </a:r>
            <a:r>
              <a:rPr lang="en-US" dirty="0"/>
              <a:t> Protection</a:t>
            </a:r>
          </a:p>
        </p:txBody>
      </p:sp>
      <p:sp>
        <p:nvSpPr>
          <p:cNvPr id="3" name="Content Placeholder 2"/>
          <p:cNvSpPr>
            <a:spLocks noGrp="1"/>
          </p:cNvSpPr>
          <p:nvPr>
            <p:ph idx="1"/>
          </p:nvPr>
        </p:nvSpPr>
        <p:spPr>
          <a:xfrm>
            <a:off x="339212" y="1715729"/>
            <a:ext cx="8229600" cy="3886200"/>
          </a:xfrm>
        </p:spPr>
        <p:txBody>
          <a:bodyPr/>
          <a:lstStyle/>
          <a:p>
            <a:r>
              <a:rPr lang="en-US" dirty="0"/>
              <a:t>Azure </a:t>
            </a:r>
            <a:r>
              <a:rPr lang="en-US" dirty="0" err="1"/>
              <a:t>DDoS</a:t>
            </a:r>
            <a:r>
              <a:rPr lang="en-US" dirty="0"/>
              <a:t> Protection Standard, combined with application design best practices, provides enhanced </a:t>
            </a:r>
            <a:r>
              <a:rPr lang="en-US" dirty="0" err="1"/>
              <a:t>DDoS</a:t>
            </a:r>
            <a:r>
              <a:rPr lang="en-US" dirty="0"/>
              <a:t> mitigation features to defend against </a:t>
            </a:r>
            <a:r>
              <a:rPr lang="en-US" dirty="0" err="1"/>
              <a:t>DDoS</a:t>
            </a:r>
            <a:r>
              <a:rPr lang="en-US" dirty="0"/>
              <a:t> attacks. It is automatically tuned to help protect your specific Azure resources in a virtual network. Protection is simple to enable on any new or existing virtual network, and it requires no application or resource changes.</a:t>
            </a:r>
          </a:p>
        </p:txBody>
      </p:sp>
    </p:spTree>
    <p:extLst>
      <p:ext uri="{BB962C8B-B14F-4D97-AF65-F5344CB8AC3E}">
        <p14:creationId xmlns:p14="http://schemas.microsoft.com/office/powerpoint/2010/main" val="2349272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a:t>
            </a:r>
          </a:p>
        </p:txBody>
      </p:sp>
      <p:sp>
        <p:nvSpPr>
          <p:cNvPr id="3" name="Content Placeholder 2"/>
          <p:cNvSpPr>
            <a:spLocks noGrp="1"/>
          </p:cNvSpPr>
          <p:nvPr>
            <p:ph idx="1"/>
          </p:nvPr>
        </p:nvSpPr>
        <p:spPr>
          <a:xfrm>
            <a:off x="108155" y="1617407"/>
            <a:ext cx="8770374" cy="3886200"/>
          </a:xfrm>
        </p:spPr>
        <p:txBody>
          <a:bodyPr/>
          <a:lstStyle/>
          <a:p>
            <a:r>
              <a:rPr lang="en-US" sz="2800" dirty="0"/>
              <a:t>Native platform integration: Natively integrated into Azure.</a:t>
            </a:r>
          </a:p>
          <a:p>
            <a:r>
              <a:rPr lang="en-US" sz="2800" dirty="0"/>
              <a:t>Turnkey protection: Simplified configuration immediately protects all resources on a virtual network</a:t>
            </a:r>
          </a:p>
          <a:p>
            <a:r>
              <a:rPr lang="en-US" sz="2800" dirty="0"/>
              <a:t>Always-on traffic monitoring: Your application traffic patterns are monitored 24 hours a day, 7 days a week, looking for indicators of </a:t>
            </a:r>
            <a:r>
              <a:rPr lang="en-US" sz="2800" dirty="0" err="1"/>
              <a:t>DDoS</a:t>
            </a:r>
            <a:r>
              <a:rPr lang="en-US" sz="2800" dirty="0"/>
              <a:t> attacks. </a:t>
            </a:r>
            <a:r>
              <a:rPr lang="en-US" sz="2800" dirty="0" err="1"/>
              <a:t>DDoS</a:t>
            </a:r>
            <a:r>
              <a:rPr lang="en-US" sz="2800" dirty="0"/>
              <a:t> Protection Standard instantly and automatically mitigates the attack, once it is detected.</a:t>
            </a:r>
          </a:p>
        </p:txBody>
      </p:sp>
    </p:spTree>
    <p:extLst>
      <p:ext uri="{BB962C8B-B14F-4D97-AF65-F5344CB8AC3E}">
        <p14:creationId xmlns:p14="http://schemas.microsoft.com/office/powerpoint/2010/main" val="31701361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- 2</a:t>
            </a:r>
          </a:p>
        </p:txBody>
      </p:sp>
      <p:sp>
        <p:nvSpPr>
          <p:cNvPr id="3" name="Content Placeholder 2"/>
          <p:cNvSpPr>
            <a:spLocks noGrp="1"/>
          </p:cNvSpPr>
          <p:nvPr>
            <p:ph idx="1"/>
          </p:nvPr>
        </p:nvSpPr>
        <p:spPr/>
        <p:txBody>
          <a:bodyPr/>
          <a:lstStyle/>
          <a:p>
            <a:r>
              <a:rPr lang="en-US" sz="2800" dirty="0"/>
              <a:t>Adaptive tuning: Intelligent traffic profiling learns your application's traffic over time, and selects and updates the profile that is the most suitable for your service. </a:t>
            </a:r>
          </a:p>
          <a:p>
            <a:r>
              <a:rPr lang="en-US" sz="2800" b="1" dirty="0"/>
              <a:t>Extensive mitigation scale:</a:t>
            </a:r>
            <a:r>
              <a:rPr lang="en-US" sz="2800" dirty="0"/>
              <a:t> Over 60 different attack types can be mitigated</a:t>
            </a:r>
          </a:p>
          <a:p>
            <a:r>
              <a:rPr lang="en-US" sz="2800" dirty="0"/>
              <a:t>Attack analytics: Get detailed reports in five-minute increments during an attack, and a complete summary after the attack ends. </a:t>
            </a:r>
          </a:p>
        </p:txBody>
      </p:sp>
    </p:spTree>
    <p:extLst>
      <p:ext uri="{BB962C8B-B14F-4D97-AF65-F5344CB8AC3E}">
        <p14:creationId xmlns:p14="http://schemas.microsoft.com/office/powerpoint/2010/main" val="40690948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- 3</a:t>
            </a:r>
          </a:p>
        </p:txBody>
      </p:sp>
      <p:sp>
        <p:nvSpPr>
          <p:cNvPr id="3" name="Content Placeholder 2"/>
          <p:cNvSpPr>
            <a:spLocks noGrp="1"/>
          </p:cNvSpPr>
          <p:nvPr>
            <p:ph idx="1"/>
          </p:nvPr>
        </p:nvSpPr>
        <p:spPr/>
        <p:txBody>
          <a:bodyPr/>
          <a:lstStyle/>
          <a:p>
            <a:r>
              <a:rPr lang="en-US" b="1" dirty="0"/>
              <a:t>Attack metrics:</a:t>
            </a:r>
            <a:r>
              <a:rPr lang="en-US" dirty="0"/>
              <a:t> Summarized metrics from each attack are accessible through Azure Monitor.</a:t>
            </a:r>
          </a:p>
          <a:p>
            <a:r>
              <a:rPr lang="en-US" b="1" dirty="0"/>
              <a:t>Attack alerting:</a:t>
            </a:r>
            <a:r>
              <a:rPr lang="en-US" dirty="0"/>
              <a:t> Alerts can be configured at the start and stop of an attack, and over the attack's duration, using built-in attack metrics.</a:t>
            </a:r>
          </a:p>
          <a:p>
            <a:r>
              <a:rPr lang="en-US" b="1" dirty="0" err="1"/>
              <a:t>DDoS</a:t>
            </a:r>
            <a:r>
              <a:rPr lang="en-US" b="1" dirty="0"/>
              <a:t> Rapid Response</a:t>
            </a:r>
            <a:endParaRPr lang="en-US" dirty="0"/>
          </a:p>
        </p:txBody>
      </p:sp>
    </p:spTree>
    <p:extLst>
      <p:ext uri="{BB962C8B-B14F-4D97-AF65-F5344CB8AC3E}">
        <p14:creationId xmlns:p14="http://schemas.microsoft.com/office/powerpoint/2010/main" val="37059195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Pricing</a:t>
            </a:r>
          </a:p>
        </p:txBody>
      </p:sp>
      <p:sp>
        <p:nvSpPr>
          <p:cNvPr id="3" name="Content Placeholder 2"/>
          <p:cNvSpPr>
            <a:spLocks noGrp="1"/>
          </p:cNvSpPr>
          <p:nvPr>
            <p:ph idx="1"/>
          </p:nvPr>
        </p:nvSpPr>
        <p:spPr>
          <a:xfrm>
            <a:off x="260555" y="1705897"/>
            <a:ext cx="8426245" cy="3886200"/>
          </a:xfrm>
        </p:spPr>
        <p:txBody>
          <a:bodyPr/>
          <a:lstStyle/>
          <a:p>
            <a:r>
              <a:rPr lang="en-US" dirty="0" err="1"/>
              <a:t>DDoS</a:t>
            </a:r>
            <a:r>
              <a:rPr lang="en-US" dirty="0"/>
              <a:t> protection plans have a fixed monthly charge of $2,944 per month which covers up to 100 public IP addresses. Protection for additional resources will cost an additional $30 per resource per month.</a:t>
            </a:r>
          </a:p>
          <a:p>
            <a:r>
              <a:rPr lang="en-US" dirty="0"/>
              <a:t>Under a tenant, a single </a:t>
            </a:r>
            <a:r>
              <a:rPr lang="en-US" dirty="0" err="1"/>
              <a:t>DDoS</a:t>
            </a:r>
            <a:r>
              <a:rPr lang="en-US" dirty="0"/>
              <a:t> protection plan can be used across multiple subscriptions, so there is no need to create more than one </a:t>
            </a:r>
            <a:r>
              <a:rPr lang="en-US" dirty="0" err="1"/>
              <a:t>DDoS</a:t>
            </a:r>
            <a:r>
              <a:rPr lang="en-US" dirty="0"/>
              <a:t> protection plan.</a:t>
            </a:r>
          </a:p>
          <a:p>
            <a:endParaRPr lang="en-US" dirty="0"/>
          </a:p>
        </p:txBody>
      </p:sp>
    </p:spTree>
    <p:extLst>
      <p:ext uri="{BB962C8B-B14F-4D97-AF65-F5344CB8AC3E}">
        <p14:creationId xmlns:p14="http://schemas.microsoft.com/office/powerpoint/2010/main" val="5830476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Dedicated HSM</a:t>
            </a:r>
          </a:p>
        </p:txBody>
      </p:sp>
      <p:sp>
        <p:nvSpPr>
          <p:cNvPr id="3" name="Content Placeholder 2"/>
          <p:cNvSpPr>
            <a:spLocks noGrp="1"/>
          </p:cNvSpPr>
          <p:nvPr>
            <p:ph idx="1"/>
          </p:nvPr>
        </p:nvSpPr>
        <p:spPr>
          <a:xfrm>
            <a:off x="299884" y="1627239"/>
            <a:ext cx="8229600" cy="3886200"/>
          </a:xfrm>
        </p:spPr>
        <p:txBody>
          <a:bodyPr/>
          <a:lstStyle/>
          <a:p>
            <a:r>
              <a:rPr lang="en-US" sz="3000" dirty="0"/>
              <a:t>Azure Dedicated HSM is an Azure service that provides cryptographic key storage in Azure. Dedicated HSM meets the most stringent security requirements</a:t>
            </a:r>
          </a:p>
          <a:p>
            <a:r>
              <a:rPr lang="en-US" sz="3000" dirty="0"/>
              <a:t>HSM devices are deployed globally across several Azure regions. They can be easily provisioned as a pair of devices and configured for high availability. HSM devices can also be provisioned across regions to assure against regional-level failover. </a:t>
            </a:r>
          </a:p>
        </p:txBody>
      </p:sp>
    </p:spTree>
    <p:extLst>
      <p:ext uri="{BB962C8B-B14F-4D97-AF65-F5344CB8AC3E}">
        <p14:creationId xmlns:p14="http://schemas.microsoft.com/office/powerpoint/2010/main" val="15464517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903" y="703007"/>
            <a:ext cx="8893278" cy="3886200"/>
          </a:xfrm>
        </p:spPr>
        <p:txBody>
          <a:bodyPr/>
          <a:lstStyle/>
          <a:p>
            <a:r>
              <a:rPr lang="en-US" b="1" dirty="0"/>
              <a:t>Best fit</a:t>
            </a:r>
          </a:p>
          <a:p>
            <a:pPr lvl="1"/>
            <a:r>
              <a:rPr lang="en-US" dirty="0"/>
              <a:t>Azure Dedicated HSM is most suitable for “lift-and-shift” scenarios that require direct and sole access to HSM devices. Examples include:</a:t>
            </a:r>
          </a:p>
          <a:p>
            <a:pPr lvl="2"/>
            <a:r>
              <a:rPr lang="en-US" dirty="0"/>
              <a:t>Migrating applications from on-premises to Azure Virtual Machines</a:t>
            </a:r>
          </a:p>
          <a:p>
            <a:pPr lvl="2"/>
            <a:r>
              <a:rPr lang="en-US" dirty="0"/>
              <a:t>Migrating applications from Amazon AWS EC2 to virtual machines that use the AWS Cloud HSM Classic service (Amazon is not offering this service to new customers)</a:t>
            </a:r>
          </a:p>
          <a:p>
            <a:pPr lvl="2"/>
            <a:r>
              <a:rPr lang="en-US" dirty="0"/>
              <a:t>Running shrink-wrapped software such as Apache/</a:t>
            </a:r>
            <a:r>
              <a:rPr lang="en-US" dirty="0" err="1"/>
              <a:t>Ngnix</a:t>
            </a:r>
            <a:r>
              <a:rPr lang="en-US" dirty="0"/>
              <a:t> SSL Offload, Oracle TDE, and ADCS in Azure Virtual Machines</a:t>
            </a:r>
          </a:p>
          <a:p>
            <a:pPr marL="0" indent="0">
              <a:buNone/>
            </a:pPr>
            <a:endParaRPr lang="en-US" dirty="0"/>
          </a:p>
        </p:txBody>
      </p:sp>
    </p:spTree>
    <p:extLst>
      <p:ext uri="{BB962C8B-B14F-4D97-AF65-F5344CB8AC3E}">
        <p14:creationId xmlns:p14="http://schemas.microsoft.com/office/powerpoint/2010/main" val="34282724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8039" y="1263445"/>
            <a:ext cx="8229600" cy="3886200"/>
          </a:xfrm>
        </p:spPr>
        <p:txBody>
          <a:bodyPr/>
          <a:lstStyle/>
          <a:p>
            <a:r>
              <a:rPr lang="en-US" b="1" dirty="0"/>
              <a:t>Not a fit</a:t>
            </a:r>
          </a:p>
          <a:p>
            <a:pPr lvl="1"/>
            <a:r>
              <a:rPr lang="en-US" dirty="0"/>
              <a:t>Azure Dedicated HSM is not a good fit for the following type of scenario: Microsoft cloud services that support encryption with customer-managed keys (such as Azure Information Protection, Azure Disk Encryption, Azure Data Lake Store, Azure Storage, Azure SQL Database, and Customer Key for Office 365) that are not integrated with Azure Dedicated HSM.</a:t>
            </a:r>
          </a:p>
          <a:p>
            <a:pPr marL="0" indent="0">
              <a:buNone/>
            </a:pPr>
            <a:endParaRPr lang="en-US" dirty="0"/>
          </a:p>
        </p:txBody>
      </p:sp>
    </p:spTree>
    <p:extLst>
      <p:ext uri="{BB962C8B-B14F-4D97-AF65-F5344CB8AC3E}">
        <p14:creationId xmlns:p14="http://schemas.microsoft.com/office/powerpoint/2010/main" val="37446393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858" y="0"/>
            <a:ext cx="8229600" cy="1366684"/>
          </a:xfrm>
        </p:spPr>
        <p:txBody>
          <a:bodyPr/>
          <a:lstStyle/>
          <a:p>
            <a:r>
              <a:rPr lang="en-US" dirty="0"/>
              <a:t>Azure Front Door</a:t>
            </a:r>
          </a:p>
        </p:txBody>
      </p:sp>
      <p:sp>
        <p:nvSpPr>
          <p:cNvPr id="3" name="Content Placeholder 2"/>
          <p:cNvSpPr>
            <a:spLocks noGrp="1"/>
          </p:cNvSpPr>
          <p:nvPr>
            <p:ph idx="1"/>
          </p:nvPr>
        </p:nvSpPr>
        <p:spPr>
          <a:xfrm>
            <a:off x="0" y="1135626"/>
            <a:ext cx="9065342" cy="3886200"/>
          </a:xfrm>
        </p:spPr>
        <p:txBody>
          <a:bodyPr/>
          <a:lstStyle/>
          <a:p>
            <a:r>
              <a:rPr lang="en-US" sz="2800" dirty="0"/>
              <a:t>Whether you’re delivering content and files or building global apps and APIs, Azure Front Door can help you deliver higher availability, lower latency, greater scale, and more secure experiences to your users.</a:t>
            </a:r>
          </a:p>
          <a:p>
            <a:r>
              <a:rPr lang="en-US" sz="2800" dirty="0"/>
              <a:t>Azure Front Door is Microsoft’s modern cloud Content Delivery Network (CDN) that provides fast, reliable, and secure access between your users and your applications’ static and dynamic web content across the globe. Azure Front Door delivers your content using the Microsoft’s global edge network with hundreds of global and local POPs distributed around the world close to both your enterprise and consumer end users.</a:t>
            </a:r>
          </a:p>
        </p:txBody>
      </p:sp>
    </p:spTree>
    <p:extLst>
      <p:ext uri="{BB962C8B-B14F-4D97-AF65-F5344CB8AC3E}">
        <p14:creationId xmlns:p14="http://schemas.microsoft.com/office/powerpoint/2010/main" val="36038553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57200"/>
            <a:ext cx="8785123" cy="1371600"/>
          </a:xfrm>
        </p:spPr>
        <p:txBody>
          <a:bodyPr/>
          <a:lstStyle/>
          <a:p>
            <a:r>
              <a:rPr lang="en-US" dirty="0"/>
              <a:t>Azure Information Protection (AIP)</a:t>
            </a:r>
          </a:p>
        </p:txBody>
      </p:sp>
      <p:sp>
        <p:nvSpPr>
          <p:cNvPr id="3" name="Content Placeholder 2"/>
          <p:cNvSpPr>
            <a:spLocks noGrp="1"/>
          </p:cNvSpPr>
          <p:nvPr>
            <p:ph idx="1"/>
          </p:nvPr>
        </p:nvSpPr>
        <p:spPr>
          <a:xfrm>
            <a:off x="457199" y="1755058"/>
            <a:ext cx="8229600" cy="3886200"/>
          </a:xfrm>
        </p:spPr>
        <p:txBody>
          <a:bodyPr/>
          <a:lstStyle/>
          <a:p>
            <a:r>
              <a:rPr lang="en-US" dirty="0"/>
              <a:t>Azure Information Protection (AIP) is a cloud-based solution that enables organizations to discover, classify, and protect documents and emails by applying labels to content.</a:t>
            </a:r>
          </a:p>
          <a:p>
            <a:r>
              <a:rPr lang="en-US" dirty="0"/>
              <a:t>AIP is part of the Microsoft Information Protection (MIP) solution, and extends the </a:t>
            </a:r>
            <a:r>
              <a:rPr lang="en-US" dirty="0">
                <a:hlinkClick r:id="rId2"/>
              </a:rPr>
              <a:t>labeling</a:t>
            </a:r>
            <a:r>
              <a:rPr lang="en-US" dirty="0"/>
              <a:t> and </a:t>
            </a:r>
            <a:r>
              <a:rPr lang="en-US" dirty="0">
                <a:hlinkClick r:id="rId3"/>
              </a:rPr>
              <a:t>classification</a:t>
            </a:r>
            <a:r>
              <a:rPr lang="en-US" dirty="0"/>
              <a:t> functionality provided by Microsoft 365.</a:t>
            </a:r>
          </a:p>
          <a:p>
            <a:endParaRPr lang="en-US" dirty="0"/>
          </a:p>
        </p:txBody>
      </p:sp>
    </p:spTree>
    <p:extLst>
      <p:ext uri="{BB962C8B-B14F-4D97-AF65-F5344CB8AC3E}">
        <p14:creationId xmlns:p14="http://schemas.microsoft.com/office/powerpoint/2010/main" val="7980926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45690"/>
          </a:xfrm>
        </p:spPr>
        <p:txBody>
          <a:bodyPr/>
          <a:lstStyle/>
          <a:p>
            <a:r>
              <a:rPr lang="en-US" dirty="0"/>
              <a:t>Azure Key Vault</a:t>
            </a:r>
          </a:p>
        </p:txBody>
      </p:sp>
      <p:sp>
        <p:nvSpPr>
          <p:cNvPr id="3" name="Content Placeholder 2"/>
          <p:cNvSpPr>
            <a:spLocks noGrp="1"/>
          </p:cNvSpPr>
          <p:nvPr>
            <p:ph idx="1"/>
          </p:nvPr>
        </p:nvSpPr>
        <p:spPr>
          <a:xfrm>
            <a:off x="0" y="1076633"/>
            <a:ext cx="9144000" cy="3886200"/>
          </a:xfrm>
        </p:spPr>
        <p:txBody>
          <a:bodyPr/>
          <a:lstStyle/>
          <a:p>
            <a:r>
              <a:rPr lang="en-US" sz="2400" dirty="0"/>
              <a:t>Azure Key Vault helps solve the following problems:</a:t>
            </a:r>
          </a:p>
          <a:p>
            <a:pPr lvl="1"/>
            <a:r>
              <a:rPr lang="en-US" sz="2400" b="1" dirty="0"/>
              <a:t>Secrets Management</a:t>
            </a:r>
            <a:r>
              <a:rPr lang="en-US" sz="2400" dirty="0"/>
              <a:t> - Azure Key Vault can be used to Securely store and tightly control access to tokens, passwords, certificates, API keys, and other secrets</a:t>
            </a:r>
          </a:p>
          <a:p>
            <a:pPr lvl="1"/>
            <a:r>
              <a:rPr lang="en-US" sz="2400" b="1" dirty="0"/>
              <a:t>Key Management</a:t>
            </a:r>
            <a:r>
              <a:rPr lang="en-US" sz="2400" dirty="0"/>
              <a:t> - Azure Key Vault can be used as a Key Management solution. It makes it easy to create and control the encryption keys used to encrypt your data.</a:t>
            </a:r>
          </a:p>
          <a:p>
            <a:pPr lvl="1"/>
            <a:r>
              <a:rPr lang="en-US" sz="2400" dirty="0"/>
              <a:t>Azure Key Vault has two service tiers: Standard, which encrypts with a software key, and a Premium tier, which includes hardware security module(HSM)-protected </a:t>
            </a:r>
            <a:r>
              <a:rPr lang="en-US" sz="2400"/>
              <a:t>keys.</a:t>
            </a:r>
          </a:p>
          <a:p>
            <a:pPr lvl="1"/>
            <a:r>
              <a:rPr lang="en-US" sz="2400" b="1"/>
              <a:t>Certificate </a:t>
            </a:r>
            <a:r>
              <a:rPr lang="en-US" sz="2400" b="1" dirty="0"/>
              <a:t>Management</a:t>
            </a:r>
            <a:r>
              <a:rPr lang="en-US" sz="2400" dirty="0"/>
              <a:t> - Azure Key Vault lets you easily provision, manage, and deploy public and private Transport Layer Security/Secure Sockets Layer (TLS/SSL) certificates for use with Azure and your internal connected resources.</a:t>
            </a:r>
          </a:p>
        </p:txBody>
      </p:sp>
    </p:spTree>
    <p:extLst>
      <p:ext uri="{BB962C8B-B14F-4D97-AF65-F5344CB8AC3E}">
        <p14:creationId xmlns:p14="http://schemas.microsoft.com/office/powerpoint/2010/main" val="4193965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343989"/>
          </a:xfrm>
        </p:spPr>
        <p:txBody>
          <a:bodyPr/>
          <a:lstStyle/>
          <a:p>
            <a:r>
              <a:rPr lang="en-US" dirty="0"/>
              <a:t>Microsoft Defender for Cloud</a:t>
            </a:r>
          </a:p>
        </p:txBody>
      </p:sp>
      <p:sp>
        <p:nvSpPr>
          <p:cNvPr id="3" name="Content Placeholder 2"/>
          <p:cNvSpPr>
            <a:spLocks noGrp="1"/>
          </p:cNvSpPr>
          <p:nvPr>
            <p:ph idx="1"/>
          </p:nvPr>
        </p:nvSpPr>
        <p:spPr>
          <a:xfrm>
            <a:off x="0" y="918754"/>
            <a:ext cx="9144000" cy="3886200"/>
          </a:xfrm>
        </p:spPr>
        <p:txBody>
          <a:bodyPr/>
          <a:lstStyle/>
          <a:p>
            <a:r>
              <a:rPr lang="en-US" sz="2800" dirty="0"/>
              <a:t>Defender for Cloud is a tool for security posture management and threat protection. It strengthens the security posture of your cloud resources, and with its integrated Microsoft Defender plans, Defender for Cloud protects workloads running in Azure, hybrid, and other cloud platforms.</a:t>
            </a:r>
          </a:p>
          <a:p>
            <a:r>
              <a:rPr lang="en-US" sz="2800" dirty="0"/>
              <a:t>Defender for Cloud provides the tools needed to harden your resources, track your security posture, protect against cyber attacks, and streamline security management. Because it's natively integrated, deployment of Defender for Cloud is easy, providing you with simple auto provisioning to secure your resources by default.</a:t>
            </a:r>
          </a:p>
        </p:txBody>
      </p:sp>
    </p:spTree>
    <p:extLst>
      <p:ext uri="{BB962C8B-B14F-4D97-AF65-F5344CB8AC3E}">
        <p14:creationId xmlns:p14="http://schemas.microsoft.com/office/powerpoint/2010/main" val="6907360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Defender for </a:t>
            </a:r>
            <a:r>
              <a:rPr lang="en-US" dirty="0" err="1"/>
              <a:t>IoT</a:t>
            </a:r>
            <a:endParaRPr lang="en-US" dirty="0"/>
          </a:p>
        </p:txBody>
      </p:sp>
      <p:sp>
        <p:nvSpPr>
          <p:cNvPr id="3" name="Content Placeholder 2"/>
          <p:cNvSpPr>
            <a:spLocks noGrp="1"/>
          </p:cNvSpPr>
          <p:nvPr>
            <p:ph idx="1"/>
          </p:nvPr>
        </p:nvSpPr>
        <p:spPr/>
        <p:txBody>
          <a:bodyPr/>
          <a:lstStyle/>
          <a:p>
            <a:r>
              <a:rPr lang="en-US" dirty="0"/>
              <a:t>Microsoft Defender for </a:t>
            </a:r>
            <a:r>
              <a:rPr lang="en-US" dirty="0" err="1"/>
              <a:t>IoT</a:t>
            </a:r>
            <a:r>
              <a:rPr lang="en-US" dirty="0"/>
              <a:t> is a unified security solution for identifying </a:t>
            </a:r>
            <a:r>
              <a:rPr lang="en-US" dirty="0" err="1"/>
              <a:t>IoT</a:t>
            </a:r>
            <a:r>
              <a:rPr lang="en-US" dirty="0"/>
              <a:t> and OT devices, vulnerabilities, and threats and managing them through a central interface. This set of documentation describes how end-user organizations can secure their entire </a:t>
            </a:r>
            <a:r>
              <a:rPr lang="en-US" dirty="0" err="1"/>
              <a:t>IoT</a:t>
            </a:r>
            <a:r>
              <a:rPr lang="en-US" dirty="0"/>
              <a:t>/OT environment, including protecting existing devices or building security into new </a:t>
            </a:r>
            <a:r>
              <a:rPr lang="en-US" dirty="0" err="1"/>
              <a:t>IoT</a:t>
            </a:r>
            <a:r>
              <a:rPr lang="en-US" dirty="0"/>
              <a:t> innovations.</a:t>
            </a:r>
          </a:p>
        </p:txBody>
      </p:sp>
    </p:spTree>
    <p:extLst>
      <p:ext uri="{BB962C8B-B14F-4D97-AF65-F5344CB8AC3E}">
        <p14:creationId xmlns:p14="http://schemas.microsoft.com/office/powerpoint/2010/main" val="13295713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Sentinel</a:t>
            </a:r>
          </a:p>
        </p:txBody>
      </p:sp>
      <p:sp>
        <p:nvSpPr>
          <p:cNvPr id="3" name="Content Placeholder 2"/>
          <p:cNvSpPr>
            <a:spLocks noGrp="1"/>
          </p:cNvSpPr>
          <p:nvPr>
            <p:ph idx="1"/>
          </p:nvPr>
        </p:nvSpPr>
        <p:spPr>
          <a:xfrm>
            <a:off x="317863" y="1606732"/>
            <a:ext cx="8229600" cy="3886200"/>
          </a:xfrm>
        </p:spPr>
        <p:txBody>
          <a:bodyPr/>
          <a:lstStyle/>
          <a:p>
            <a:r>
              <a:rPr lang="en-US"/>
              <a:t>Microsoft Sentinel is a scalable, cloud-native, security information and event management (SIEM) and security orchestration, automation, and response (SOAR) solution. </a:t>
            </a:r>
            <a:r>
              <a:rPr lang="en-US" dirty="0"/>
              <a:t>Microsoft Sentinel delivers intelligent security analytics and threat intelligence across the enterprise, providing a single solution for attack detection, threat visibility, proactive hunting, and threat response.</a:t>
            </a:r>
          </a:p>
        </p:txBody>
      </p:sp>
    </p:spTree>
    <p:extLst>
      <p:ext uri="{BB962C8B-B14F-4D97-AF65-F5344CB8AC3E}">
        <p14:creationId xmlns:p14="http://schemas.microsoft.com/office/powerpoint/2010/main" val="18188505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Microsoft Sentinel core capabiliti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2675" y="1484576"/>
            <a:ext cx="5129348" cy="5302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7270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49086"/>
          </a:xfrm>
        </p:spPr>
        <p:txBody>
          <a:bodyPr/>
          <a:lstStyle/>
          <a:p>
            <a:r>
              <a:rPr lang="en-US" dirty="0"/>
              <a:t>VPN Gateway</a:t>
            </a:r>
          </a:p>
        </p:txBody>
      </p:sp>
      <p:sp>
        <p:nvSpPr>
          <p:cNvPr id="3" name="Content Placeholder 2"/>
          <p:cNvSpPr>
            <a:spLocks noGrp="1"/>
          </p:cNvSpPr>
          <p:nvPr>
            <p:ph idx="1"/>
          </p:nvPr>
        </p:nvSpPr>
        <p:spPr>
          <a:xfrm>
            <a:off x="0" y="1306286"/>
            <a:ext cx="8952411" cy="3886200"/>
          </a:xfrm>
        </p:spPr>
        <p:txBody>
          <a:bodyPr/>
          <a:lstStyle/>
          <a:p>
            <a:r>
              <a:rPr lang="en-US" sz="3000" dirty="0"/>
              <a:t>VPN Gateway sends encrypted traffic between an Azure virtual network and an on-premises location over the public Internet. You can also use VPN Gateway to send encrypted traffic between Azure virtual networks over the Microsoft network. A VPN gateway is a specific type of virtual network gateway. Each virtual network can have only one VPN gateway. However, you can create multiple connections to the same VPN gateway. When you create multiple connections to the same VPN gateway, all VPN tunnels share the available gateway bandwidth.</a:t>
            </a:r>
          </a:p>
          <a:p>
            <a:pPr marL="0" indent="0">
              <a:buNone/>
            </a:pPr>
            <a:endParaRPr lang="en-US" sz="3000" dirty="0"/>
          </a:p>
        </p:txBody>
      </p:sp>
    </p:spTree>
    <p:extLst>
      <p:ext uri="{BB962C8B-B14F-4D97-AF65-F5344CB8AC3E}">
        <p14:creationId xmlns:p14="http://schemas.microsoft.com/office/powerpoint/2010/main" val="8461717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 Firewall</a:t>
            </a:r>
          </a:p>
        </p:txBody>
      </p:sp>
      <p:sp>
        <p:nvSpPr>
          <p:cNvPr id="3" name="Content Placeholder 2"/>
          <p:cNvSpPr>
            <a:spLocks noGrp="1"/>
          </p:cNvSpPr>
          <p:nvPr>
            <p:ph idx="1"/>
          </p:nvPr>
        </p:nvSpPr>
        <p:spPr/>
        <p:txBody>
          <a:bodyPr/>
          <a:lstStyle/>
          <a:p>
            <a:r>
              <a:rPr lang="en-US" dirty="0"/>
              <a:t>Web Application Firewall (WAF) provides centralized protection of your web applications from common exploits and vulnerabilities. Web applications are increasingly targeted by malicious attacks that exploit commonly known vulnerabilities. SQL injection and cross-site scripting are among the most common attacks.</a:t>
            </a:r>
          </a:p>
        </p:txBody>
      </p:sp>
    </p:spTree>
    <p:extLst>
      <p:ext uri="{BB962C8B-B14F-4D97-AF65-F5344CB8AC3E}">
        <p14:creationId xmlns:p14="http://schemas.microsoft.com/office/powerpoint/2010/main" val="38759834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descr="WAF overvie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449" y="844731"/>
            <a:ext cx="8768012" cy="592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797863"/>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40F8797759DCDB4A85695AB6EB890123" ma:contentTypeVersion="4" ma:contentTypeDescription="Създаване на нов документ" ma:contentTypeScope="" ma:versionID="e790d76c258d98a98514f828f38c281f">
  <xsd:schema xmlns:xsd="http://www.w3.org/2001/XMLSchema" xmlns:xs="http://www.w3.org/2001/XMLSchema" xmlns:p="http://schemas.microsoft.com/office/2006/metadata/properties" xmlns:ns2="e7115566-afb6-4371-9ba9-8de1039519ea" targetNamespace="http://schemas.microsoft.com/office/2006/metadata/properties" ma:root="true" ma:fieldsID="43f991bbc6996b371da7d6826b24266f" ns2:_="">
    <xsd:import namespace="e7115566-afb6-4371-9ba9-8de1039519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115566-afb6-4371-9ba9-8de1039519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F802F6-D0DF-4459-9CA4-FCFDD9CC55A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4F9E075-C570-40DE-A168-FEF7A55052CC}">
  <ds:schemaRefs>
    <ds:schemaRef ds:uri="http://schemas.microsoft.com/sharepoint/v3/contenttype/forms"/>
  </ds:schemaRefs>
</ds:datastoreItem>
</file>

<file path=customXml/itemProps3.xml><?xml version="1.0" encoding="utf-8"?>
<ds:datastoreItem xmlns:ds="http://schemas.openxmlformats.org/officeDocument/2006/customXml" ds:itemID="{835130A7-9511-4560-B01C-8FD1306EA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115566-afb6-4371-9ba9-8de1039519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11199</TotalTime>
  <Words>6367</Words>
  <Application>Microsoft Office PowerPoint</Application>
  <PresentationFormat>On-screen Show (4:3)</PresentationFormat>
  <Paragraphs>410</Paragraphs>
  <Slides>93</Slides>
  <Notes>0</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Pixel</vt:lpstr>
      <vt:lpstr>Облачна услуга Microsoft Azure</vt:lpstr>
      <vt:lpstr>История</vt:lpstr>
      <vt:lpstr>Типове облачни услуги в Azure</vt:lpstr>
      <vt:lpstr>Azure concepts</vt:lpstr>
      <vt:lpstr>Concepts (Cont.)</vt:lpstr>
      <vt:lpstr>Concepts (end)</vt:lpstr>
      <vt:lpstr>Datacenters</vt:lpstr>
      <vt:lpstr>Regions</vt:lpstr>
      <vt:lpstr>Availability Zones</vt:lpstr>
      <vt:lpstr>Regions and availability zones</vt:lpstr>
      <vt:lpstr>Edge Zones</vt:lpstr>
      <vt:lpstr>Geographies</vt:lpstr>
      <vt:lpstr>Azure regions with AZ</vt:lpstr>
      <vt:lpstr>Azure in Europe</vt:lpstr>
      <vt:lpstr>Connections</vt:lpstr>
      <vt:lpstr>Project Natick</vt:lpstr>
      <vt:lpstr>Azure Categories (Domains)</vt:lpstr>
      <vt:lpstr>Compute</vt:lpstr>
      <vt:lpstr>Compute (cont.)</vt:lpstr>
      <vt:lpstr>Compute options</vt:lpstr>
      <vt:lpstr>Compute options (cont.)</vt:lpstr>
      <vt:lpstr>Compute options (end)</vt:lpstr>
      <vt:lpstr>Azure VM checklist</vt:lpstr>
      <vt:lpstr>When to use VMs</vt:lpstr>
      <vt:lpstr>Azure Batch</vt:lpstr>
      <vt:lpstr>when to use Azure App Service</vt:lpstr>
      <vt:lpstr>Manage containers</vt:lpstr>
      <vt:lpstr>when to use Azure Functions</vt:lpstr>
      <vt:lpstr>Serverless computing includes:</vt:lpstr>
      <vt:lpstr>Azure has two implementations of serverless compute</vt:lpstr>
      <vt:lpstr>Azure Virtual Desktop</vt:lpstr>
      <vt:lpstr>Storage</vt:lpstr>
      <vt:lpstr>Storage Account</vt:lpstr>
      <vt:lpstr>Disk storage fundamentals</vt:lpstr>
      <vt:lpstr>Azure Blob storage fundamentals </vt:lpstr>
      <vt:lpstr>Blob Storage is ideal for:</vt:lpstr>
      <vt:lpstr>Azure Files fundamentals</vt:lpstr>
      <vt:lpstr>Use Azure Files for the following</vt:lpstr>
      <vt:lpstr>Understand Blob access tiers</vt:lpstr>
      <vt:lpstr>Considerations to the access tiers</vt:lpstr>
      <vt:lpstr>Networking</vt:lpstr>
      <vt:lpstr>Azure virtual networking</vt:lpstr>
      <vt:lpstr>Isolation and segmentation</vt:lpstr>
      <vt:lpstr>Internet communications</vt:lpstr>
      <vt:lpstr>Communicate between Azure resources</vt:lpstr>
      <vt:lpstr>Communicate with on-premises resources</vt:lpstr>
      <vt:lpstr>Route network traffic</vt:lpstr>
      <vt:lpstr>Filter network traffic</vt:lpstr>
      <vt:lpstr>Connecting Vnet’s</vt:lpstr>
      <vt:lpstr>VPN gateways</vt:lpstr>
      <vt:lpstr>Policy-based VPN GW</vt:lpstr>
      <vt:lpstr>Route-based VPNs</vt:lpstr>
      <vt:lpstr>Deploy VPN gateways</vt:lpstr>
      <vt:lpstr>Required resources</vt:lpstr>
      <vt:lpstr>High-availability Active/standby</vt:lpstr>
      <vt:lpstr>Active/active</vt:lpstr>
      <vt:lpstr>Azure ExpressRoute</vt:lpstr>
      <vt:lpstr>ExpressRoute connectivity models</vt:lpstr>
      <vt:lpstr>Azure database and analytics</vt:lpstr>
      <vt:lpstr>Azure Cosmos DB</vt:lpstr>
      <vt:lpstr>Azure Cosmos DB</vt:lpstr>
      <vt:lpstr>Azure SQL Database</vt:lpstr>
      <vt:lpstr>Azure database for MySQL</vt:lpstr>
      <vt:lpstr>Azure Database for PostgreSQL</vt:lpstr>
      <vt:lpstr>Azure SQL Managed Instance</vt:lpstr>
      <vt:lpstr>Security</vt:lpstr>
      <vt:lpstr>Azure Application Gateway</vt:lpstr>
      <vt:lpstr>Example</vt:lpstr>
      <vt:lpstr>Features</vt:lpstr>
      <vt:lpstr>Azure Active Directory</vt:lpstr>
      <vt:lpstr>Who uses Azure AD</vt:lpstr>
      <vt:lpstr>Azure AD licenses</vt:lpstr>
      <vt:lpstr>Azure AD Domain Services</vt:lpstr>
      <vt:lpstr>How does Azure AD DS work</vt:lpstr>
      <vt:lpstr>Azure AD DS features and benefits</vt:lpstr>
      <vt:lpstr>Azure DDoS Protection</vt:lpstr>
      <vt:lpstr>Features</vt:lpstr>
      <vt:lpstr>Features - 2</vt:lpstr>
      <vt:lpstr>Features - 3</vt:lpstr>
      <vt:lpstr>Pricing</vt:lpstr>
      <vt:lpstr>Azure Dedicated HSM</vt:lpstr>
      <vt:lpstr>PowerPoint Presentation</vt:lpstr>
      <vt:lpstr>PowerPoint Presentation</vt:lpstr>
      <vt:lpstr>Azure Front Door</vt:lpstr>
      <vt:lpstr>Azure Information Protection (AIP)</vt:lpstr>
      <vt:lpstr>Azure Key Vault</vt:lpstr>
      <vt:lpstr>Microsoft Defender for Cloud</vt:lpstr>
      <vt:lpstr>Microsoft Defender for IoT</vt:lpstr>
      <vt:lpstr>Microsoft Sentinel</vt:lpstr>
      <vt:lpstr>PowerPoint Presentation</vt:lpstr>
      <vt:lpstr>VPN Gateway</vt:lpstr>
      <vt:lpstr>Web Application Firewall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Мрежова виртуализация</dc:title>
  <dc:creator>Delian Genkov</dc:creator>
  <cp:lastModifiedBy>Delian Genkov</cp:lastModifiedBy>
  <cp:revision>114</cp:revision>
  <dcterms:created xsi:type="dcterms:W3CDTF">2022-02-14T15:35:12Z</dcterms:created>
  <dcterms:modified xsi:type="dcterms:W3CDTF">2025-06-13T10:14:31Z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0x01010040F8797759DCDB4A85695AB6EB890123</vt:lpwstr>
  </property>
</Properties>
</file>