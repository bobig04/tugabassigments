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sldIdLst>
    <p:sldId id="256" r:id="rId5"/>
    <p:sldId id="279" r:id="rId6"/>
    <p:sldId id="280" r:id="rId7"/>
    <p:sldId id="260" r:id="rId8"/>
    <p:sldId id="281" r:id="rId9"/>
    <p:sldId id="282" r:id="rId10"/>
    <p:sldId id="268" r:id="rId11"/>
    <p:sldId id="269" r:id="rId12"/>
    <p:sldId id="283" r:id="rId13"/>
    <p:sldId id="270" r:id="rId14"/>
    <p:sldId id="271" r:id="rId15"/>
    <p:sldId id="284" r:id="rId16"/>
    <p:sldId id="273" r:id="rId17"/>
    <p:sldId id="274" r:id="rId18"/>
    <p:sldId id="275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308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5A2D2-3CA6-3D31-4C9E-9610C58CA30A}" v="6" dt="2025-06-15T17:04:26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1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Христо Кръстев (22172101)" userId="S::f22172101@students.tugab.bg::0056b704-f25d-4dcc-873f-8e72202f87d8" providerId="AD" clId="Web-{A129350D-B1F0-46C0-9F17-BC16C103AAD8}"/>
    <pc:docChg chg="modSld">
      <pc:chgData name="Христо Кръстев (22172101)" userId="S::f22172101@students.tugab.bg::0056b704-f25d-4dcc-873f-8e72202f87d8" providerId="AD" clId="Web-{A129350D-B1F0-46C0-9F17-BC16C103AAD8}" dt="2024-05-27T07:00:34.334" v="1" actId="1076"/>
      <pc:docMkLst>
        <pc:docMk/>
      </pc:docMkLst>
      <pc:sldChg chg="modSp">
        <pc:chgData name="Христо Кръстев (22172101)" userId="S::f22172101@students.tugab.bg::0056b704-f25d-4dcc-873f-8e72202f87d8" providerId="AD" clId="Web-{A129350D-B1F0-46C0-9F17-BC16C103AAD8}" dt="2024-05-27T07:00:34.334" v="1" actId="1076"/>
        <pc:sldMkLst>
          <pc:docMk/>
          <pc:sldMk cId="0" sldId="260"/>
        </pc:sldMkLst>
        <pc:picChg chg="mod">
          <ac:chgData name="Христо Кръстев (22172101)" userId="S::f22172101@students.tugab.bg::0056b704-f25d-4dcc-873f-8e72202f87d8" providerId="AD" clId="Web-{A129350D-B1F0-46C0-9F17-BC16C103AAD8}" dt="2024-05-27T07:00:34.334" v="1" actId="1076"/>
          <ac:picMkLst>
            <pc:docMk/>
            <pc:sldMk cId="0" sldId="260"/>
            <ac:picMk id="6147" creationId="{8FC8370C-1542-57F7-735B-D98E1E66D499}"/>
          </ac:picMkLst>
        </pc:picChg>
      </pc:sldChg>
    </pc:docChg>
  </pc:docChgLst>
  <pc:docChgLst>
    <pc:chgData name="Корделия Георгиева (22272105)" userId="S::f22272105@students.tugab.bg::61cb13a0-128c-4edc-be06-fcdd334923b1" providerId="AD" clId="Web-{6265A2D2-3CA6-3D31-4C9E-9610C58CA30A}"/>
    <pc:docChg chg="modSld">
      <pc:chgData name="Корделия Георгиева (22272105)" userId="S::f22272105@students.tugab.bg::61cb13a0-128c-4edc-be06-fcdd334923b1" providerId="AD" clId="Web-{6265A2D2-3CA6-3D31-4C9E-9610C58CA30A}" dt="2025-06-15T17:04:25.930" v="3" actId="20577"/>
      <pc:docMkLst>
        <pc:docMk/>
      </pc:docMkLst>
      <pc:sldChg chg="modSp">
        <pc:chgData name="Корделия Георгиева (22272105)" userId="S::f22272105@students.tugab.bg::61cb13a0-128c-4edc-be06-fcdd334923b1" providerId="AD" clId="Web-{6265A2D2-3CA6-3D31-4C9E-9610C58CA30A}" dt="2025-06-15T17:04:07.867" v="1" actId="20577"/>
        <pc:sldMkLst>
          <pc:docMk/>
          <pc:sldMk cId="0" sldId="344"/>
        </pc:sldMkLst>
        <pc:spChg chg="mod">
          <ac:chgData name="Корделия Георгиева (22272105)" userId="S::f22272105@students.tugab.bg::61cb13a0-128c-4edc-be06-fcdd334923b1" providerId="AD" clId="Web-{6265A2D2-3CA6-3D31-4C9E-9610C58CA30A}" dt="2025-06-15T17:04:07.867" v="1" actId="20577"/>
          <ac:spMkLst>
            <pc:docMk/>
            <pc:sldMk cId="0" sldId="344"/>
            <ac:spMk id="78850" creationId="{676F551B-E6B2-0A52-07CB-5A39903181C4}"/>
          </ac:spMkLst>
        </pc:spChg>
      </pc:sldChg>
      <pc:sldChg chg="modSp">
        <pc:chgData name="Корделия Георгиева (22272105)" userId="S::f22272105@students.tugab.bg::61cb13a0-128c-4edc-be06-fcdd334923b1" providerId="AD" clId="Web-{6265A2D2-3CA6-3D31-4C9E-9610C58CA30A}" dt="2025-06-15T17:04:25.930" v="3" actId="20577"/>
        <pc:sldMkLst>
          <pc:docMk/>
          <pc:sldMk cId="0" sldId="345"/>
        </pc:sldMkLst>
        <pc:spChg chg="mod">
          <ac:chgData name="Корделия Георгиева (22272105)" userId="S::f22272105@students.tugab.bg::61cb13a0-128c-4edc-be06-fcdd334923b1" providerId="AD" clId="Web-{6265A2D2-3CA6-3D31-4C9E-9610C58CA30A}" dt="2025-06-15T17:04:25.930" v="3" actId="20577"/>
          <ac:spMkLst>
            <pc:docMk/>
            <pc:sldMk cId="0" sldId="345"/>
            <ac:spMk id="79874" creationId="{ED10AB6F-56DF-853E-4DAA-E841965DD8F9}"/>
          </ac:spMkLst>
        </pc:spChg>
      </pc:sldChg>
    </pc:docChg>
  </pc:docChgLst>
  <pc:docChgLst>
    <pc:chgData name="Корделия Георгиева (22272105)" userId="S::f22272105@students.tugab.bg::61cb13a0-128c-4edc-be06-fcdd334923b1" providerId="AD" clId="Web-{7A4C9F4A-3851-5422-953A-00877C6501B0}"/>
    <pc:docChg chg="addSld delSld modSld">
      <pc:chgData name="Корделия Георгиева (22272105)" userId="S::f22272105@students.tugab.bg::61cb13a0-128c-4edc-be06-fcdd334923b1" providerId="AD" clId="Web-{7A4C9F4A-3851-5422-953A-00877C6501B0}" dt="2025-06-13T14:38:05.061" v="3" actId="20577"/>
      <pc:docMkLst>
        <pc:docMk/>
      </pc:docMkLst>
      <pc:sldChg chg="modSp">
        <pc:chgData name="Корделия Георгиева (22272105)" userId="S::f22272105@students.tugab.bg::61cb13a0-128c-4edc-be06-fcdd334923b1" providerId="AD" clId="Web-{7A4C9F4A-3851-5422-953A-00877C6501B0}" dt="2025-06-13T14:38:05.061" v="3" actId="20577"/>
        <pc:sldMkLst>
          <pc:docMk/>
          <pc:sldMk cId="0" sldId="268"/>
        </pc:sldMkLst>
        <pc:spChg chg="mod">
          <ac:chgData name="Корделия Георгиева (22272105)" userId="S::f22272105@students.tugab.bg::61cb13a0-128c-4edc-be06-fcdd334923b1" providerId="AD" clId="Web-{7A4C9F4A-3851-5422-953A-00877C6501B0}" dt="2025-06-13T14:38:05.061" v="3" actId="20577"/>
          <ac:spMkLst>
            <pc:docMk/>
            <pc:sldMk cId="0" sldId="268"/>
            <ac:spMk id="9219" creationId="{B24A2468-8C63-64F2-2276-B0A2980616FF}"/>
          </ac:spMkLst>
        </pc:spChg>
      </pc:sldChg>
      <pc:sldChg chg="new del">
        <pc:chgData name="Корделия Георгиева (22272105)" userId="S::f22272105@students.tugab.bg::61cb13a0-128c-4edc-be06-fcdd334923b1" providerId="AD" clId="Web-{7A4C9F4A-3851-5422-953A-00877C6501B0}" dt="2025-06-13T14:36:32.027" v="1"/>
        <pc:sldMkLst>
          <pc:docMk/>
          <pc:sldMk cId="4121675334" sldId="358"/>
        </pc:sldMkLst>
      </pc:sldChg>
    </pc:docChg>
  </pc:docChgLst>
  <pc:docChgLst>
    <pc:chgData name="Данаил Сапунджиев (22172105)" userId="S::f22172105@students.tugab.bg::2d9b8758-6c6c-4fe6-902b-7ea98cf9a140" providerId="AD" clId="Web-{5BE8CD98-BD11-D533-5A59-A09EA74D0F3D}"/>
    <pc:docChg chg="modSld">
      <pc:chgData name="Данаил Сапунджиев (22172105)" userId="S::f22172105@students.tugab.bg::2d9b8758-6c6c-4fe6-902b-7ea98cf9a140" providerId="AD" clId="Web-{5BE8CD98-BD11-D533-5A59-A09EA74D0F3D}" dt="2024-05-17T13:41:56.144" v="23" actId="14100"/>
      <pc:docMkLst>
        <pc:docMk/>
      </pc:docMkLst>
      <pc:sldChg chg="modSp">
        <pc:chgData name="Данаил Сапунджиев (22172105)" userId="S::f22172105@students.tugab.bg::2d9b8758-6c6c-4fe6-902b-7ea98cf9a140" providerId="AD" clId="Web-{5BE8CD98-BD11-D533-5A59-A09EA74D0F3D}" dt="2024-05-17T13:09:47.271" v="3" actId="14100"/>
        <pc:sldMkLst>
          <pc:docMk/>
          <pc:sldMk cId="0" sldId="273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09:47.271" v="3" actId="14100"/>
          <ac:spMkLst>
            <pc:docMk/>
            <pc:sldMk cId="0" sldId="273"/>
            <ac:spMk id="15363" creationId="{24C576C6-74FC-D015-805D-90AA5FC405CB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0:43.023" v="4" actId="14100"/>
        <pc:sldMkLst>
          <pc:docMk/>
          <pc:sldMk cId="0" sldId="275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0:43.023" v="4" actId="14100"/>
          <ac:spMkLst>
            <pc:docMk/>
            <pc:sldMk cId="0" sldId="275"/>
            <ac:spMk id="17411" creationId="{CDC52FE4-D1B2-D391-ECED-82B5DB05F1FC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2:54.622" v="5" actId="14100"/>
        <pc:sldMkLst>
          <pc:docMk/>
          <pc:sldMk cId="0" sldId="285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2:54.622" v="5" actId="14100"/>
          <ac:spMkLst>
            <pc:docMk/>
            <pc:sldMk cId="0" sldId="285"/>
            <ac:spMk id="18435" creationId="{541A2543-4B8A-061C-6F69-A2A5A503207A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05:46.262" v="1" actId="14100"/>
        <pc:sldMkLst>
          <pc:docMk/>
          <pc:sldMk cId="0" sldId="286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05:46.262" v="1" actId="14100"/>
          <ac:spMkLst>
            <pc:docMk/>
            <pc:sldMk cId="0" sldId="286"/>
            <ac:spMk id="19459" creationId="{B48422AF-9CAD-F324-D043-834FF5D42075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4:53.954" v="6" actId="14100"/>
        <pc:sldMkLst>
          <pc:docMk/>
          <pc:sldMk cId="0" sldId="289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4:53.954" v="6" actId="14100"/>
          <ac:spMkLst>
            <pc:docMk/>
            <pc:sldMk cId="0" sldId="289"/>
            <ac:spMk id="3" creationId="{D9F8DE22-9453-86ED-F55F-25ADD6423F45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04:23.618" v="0" actId="14100"/>
        <pc:sldMkLst>
          <pc:docMk/>
          <pc:sldMk cId="0" sldId="290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04:23.618" v="0" actId="14100"/>
          <ac:spMkLst>
            <pc:docMk/>
            <pc:sldMk cId="0" sldId="290"/>
            <ac:spMk id="23555" creationId="{D1C16A20-A955-2EC2-5D40-A0322A641F6F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8:13.806" v="8" actId="14100"/>
        <pc:sldMkLst>
          <pc:docMk/>
          <pc:sldMk cId="0" sldId="291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8:13.806" v="8" actId="14100"/>
          <ac:spMkLst>
            <pc:docMk/>
            <pc:sldMk cId="0" sldId="291"/>
            <ac:spMk id="24579" creationId="{CBBFB34E-210A-DE31-49FE-311D7375EEC5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9:05.245" v="10" actId="14100"/>
        <pc:sldMkLst>
          <pc:docMk/>
          <pc:sldMk cId="0" sldId="294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9:05.245" v="10" actId="14100"/>
          <ac:spMkLst>
            <pc:docMk/>
            <pc:sldMk cId="0" sldId="294"/>
            <ac:spMk id="27651" creationId="{00E19047-18D8-7E1E-69C5-33C4838FA312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19:37.856" v="11" actId="14100"/>
        <pc:sldMkLst>
          <pc:docMk/>
          <pc:sldMk cId="0" sldId="295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19:37.856" v="11" actId="14100"/>
          <ac:spMkLst>
            <pc:docMk/>
            <pc:sldMk cId="0" sldId="295"/>
            <ac:spMk id="3" creationId="{1C3FD279-852E-B271-7AD6-81A41DCC1AC6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22:41.425" v="12" actId="14100"/>
        <pc:sldMkLst>
          <pc:docMk/>
          <pc:sldMk cId="0" sldId="300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22:41.425" v="12" actId="14100"/>
          <ac:spMkLst>
            <pc:docMk/>
            <pc:sldMk cId="0" sldId="300"/>
            <ac:spMk id="34820" creationId="{43316171-2C75-A269-4741-17E330BC3F47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23:37.271" v="13" actId="14100"/>
        <pc:sldMkLst>
          <pc:docMk/>
          <pc:sldMk cId="0" sldId="302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23:37.271" v="13" actId="14100"/>
          <ac:spMkLst>
            <pc:docMk/>
            <pc:sldMk cId="0" sldId="302"/>
            <ac:spMk id="3" creationId="{B71578DF-7C28-98B4-3026-91700B1C1B0D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29:24.050" v="16" actId="14100"/>
        <pc:sldMkLst>
          <pc:docMk/>
          <pc:sldMk cId="0" sldId="314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29:13.971" v="14" actId="14100"/>
          <ac:spMkLst>
            <pc:docMk/>
            <pc:sldMk cId="0" sldId="314"/>
            <ac:spMk id="48131" creationId="{A86FF54F-49C8-2979-AB8C-734307F408BD}"/>
          </ac:spMkLst>
        </pc:spChg>
        <pc:spChg chg="mod">
          <ac:chgData name="Данаил Сапунджиев (22172105)" userId="S::f22172105@students.tugab.bg::2d9b8758-6c6c-4fe6-902b-7ea98cf9a140" providerId="AD" clId="Web-{5BE8CD98-BD11-D533-5A59-A09EA74D0F3D}" dt="2024-05-17T13:29:24.050" v="16" actId="14100"/>
          <ac:spMkLst>
            <pc:docMk/>
            <pc:sldMk cId="0" sldId="314"/>
            <ac:spMk id="48133" creationId="{ABA4D715-E725-805C-475E-259A12B3B37E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34:12.576" v="17" actId="14100"/>
        <pc:sldMkLst>
          <pc:docMk/>
          <pc:sldMk cId="0" sldId="335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34:12.576" v="17" actId="14100"/>
          <ac:spMkLst>
            <pc:docMk/>
            <pc:sldMk cId="0" sldId="335"/>
            <ac:spMk id="3" creationId="{13A10C5D-2DF1-E147-DE84-1CA6328772A4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34:25.264" v="18" actId="14100"/>
        <pc:sldMkLst>
          <pc:docMk/>
          <pc:sldMk cId="0" sldId="336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34:25.264" v="18" actId="14100"/>
          <ac:spMkLst>
            <pc:docMk/>
            <pc:sldMk cId="0" sldId="336"/>
            <ac:spMk id="70659" creationId="{9D29C93D-FE36-8C67-DE24-933CD264D5EE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34:58.953" v="20" actId="14100"/>
        <pc:sldMkLst>
          <pc:docMk/>
          <pc:sldMk cId="0" sldId="337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34:58.953" v="20" actId="14100"/>
          <ac:spMkLst>
            <pc:docMk/>
            <pc:sldMk cId="0" sldId="337"/>
            <ac:spMk id="71682" creationId="{AEF15485-3B1E-6489-D6FD-37614ECFC33B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35:36.564" v="21" actId="14100"/>
        <pc:sldMkLst>
          <pc:docMk/>
          <pc:sldMk cId="0" sldId="338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35:36.564" v="21" actId="14100"/>
          <ac:spMkLst>
            <pc:docMk/>
            <pc:sldMk cId="0" sldId="338"/>
            <ac:spMk id="72706" creationId="{A150F2D0-8C45-8D33-D5B5-014E202F5B12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36:21.112" v="22" actId="14100"/>
        <pc:sldMkLst>
          <pc:docMk/>
          <pc:sldMk cId="0" sldId="339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36:21.112" v="22" actId="14100"/>
          <ac:spMkLst>
            <pc:docMk/>
            <pc:sldMk cId="0" sldId="339"/>
            <ac:spMk id="73731" creationId="{971F12CF-8DA2-2E60-DDA8-6C52258D5918}"/>
          </ac:spMkLst>
        </pc:spChg>
      </pc:sldChg>
      <pc:sldChg chg="modSp">
        <pc:chgData name="Данаил Сапунджиев (22172105)" userId="S::f22172105@students.tugab.bg::2d9b8758-6c6c-4fe6-902b-7ea98cf9a140" providerId="AD" clId="Web-{5BE8CD98-BD11-D533-5A59-A09EA74D0F3D}" dt="2024-05-17T13:41:56.144" v="23" actId="14100"/>
        <pc:sldMkLst>
          <pc:docMk/>
          <pc:sldMk cId="0" sldId="346"/>
        </pc:sldMkLst>
        <pc:spChg chg="mod">
          <ac:chgData name="Данаил Сапунджиев (22172105)" userId="S::f22172105@students.tugab.bg::2d9b8758-6c6c-4fe6-902b-7ea98cf9a140" providerId="AD" clId="Web-{5BE8CD98-BD11-D533-5A59-A09EA74D0F3D}" dt="2024-05-17T13:41:56.144" v="23" actId="14100"/>
          <ac:spMkLst>
            <pc:docMk/>
            <pc:sldMk cId="0" sldId="346"/>
            <ac:spMk id="80899" creationId="{D654C042-6E5B-5466-5F3F-540B24371A96}"/>
          </ac:spMkLst>
        </pc:spChg>
      </pc:sldChg>
    </pc:docChg>
  </pc:docChgLst>
  <pc:docChgLst>
    <pc:chgData name="Данаил Сапунджиев (22172105)" userId="S::f22172105@students.tugab.bg::2d9b8758-6c6c-4fe6-902b-7ea98cf9a140" providerId="AD" clId="Web-{B38C7787-3E4D-1E6E-F926-264134026178}"/>
    <pc:docChg chg="modSld">
      <pc:chgData name="Данаил Сапунджиев (22172105)" userId="S::f22172105@students.tugab.bg::2d9b8758-6c6c-4fe6-902b-7ea98cf9a140" providerId="AD" clId="Web-{B38C7787-3E4D-1E6E-F926-264134026178}" dt="2024-05-17T09:12:24.674" v="2" actId="14100"/>
      <pc:docMkLst>
        <pc:docMk/>
      </pc:docMkLst>
      <pc:sldChg chg="modSp">
        <pc:chgData name="Данаил Сапунджиев (22172105)" userId="S::f22172105@students.tugab.bg::2d9b8758-6c6c-4fe6-902b-7ea98cf9a140" providerId="AD" clId="Web-{B38C7787-3E4D-1E6E-F926-264134026178}" dt="2024-05-17T09:10:08.227" v="1" actId="14100"/>
        <pc:sldMkLst>
          <pc:docMk/>
          <pc:sldMk cId="0" sldId="347"/>
        </pc:sldMkLst>
        <pc:spChg chg="mod">
          <ac:chgData name="Данаил Сапунджиев (22172105)" userId="S::f22172105@students.tugab.bg::2d9b8758-6c6c-4fe6-902b-7ea98cf9a140" providerId="AD" clId="Web-{B38C7787-3E4D-1E6E-F926-264134026178}" dt="2024-05-17T09:10:08.227" v="1" actId="14100"/>
          <ac:spMkLst>
            <pc:docMk/>
            <pc:sldMk cId="0" sldId="347"/>
            <ac:spMk id="81923" creationId="{CEA8715A-A342-A847-4AC8-31D9BA2F286B}"/>
          </ac:spMkLst>
        </pc:spChg>
      </pc:sldChg>
      <pc:sldChg chg="modSp">
        <pc:chgData name="Данаил Сапунджиев (22172105)" userId="S::f22172105@students.tugab.bg::2d9b8758-6c6c-4fe6-902b-7ea98cf9a140" providerId="AD" clId="Web-{B38C7787-3E4D-1E6E-F926-264134026178}" dt="2024-05-17T09:12:24.674" v="2" actId="14100"/>
        <pc:sldMkLst>
          <pc:docMk/>
          <pc:sldMk cId="0" sldId="354"/>
        </pc:sldMkLst>
        <pc:spChg chg="mod">
          <ac:chgData name="Данаил Сапунджиев (22172105)" userId="S::f22172105@students.tugab.bg::2d9b8758-6c6c-4fe6-902b-7ea98cf9a140" providerId="AD" clId="Web-{B38C7787-3E4D-1E6E-F926-264134026178}" dt="2024-05-17T09:12:24.674" v="2" actId="14100"/>
          <ac:spMkLst>
            <pc:docMk/>
            <pc:sldMk cId="0" sldId="354"/>
            <ac:spMk id="89091" creationId="{2E9B022C-E683-C27A-CF68-B8324D3E6FD0}"/>
          </ac:spMkLst>
        </pc:spChg>
      </pc:sldChg>
      <pc:sldChg chg="modSp">
        <pc:chgData name="Данаил Сапунджиев (22172105)" userId="S::f22172105@students.tugab.bg::2d9b8758-6c6c-4fe6-902b-7ea98cf9a140" providerId="AD" clId="Web-{B38C7787-3E4D-1E6E-F926-264134026178}" dt="2024-05-17T09:05:40.599" v="0" actId="14100"/>
        <pc:sldMkLst>
          <pc:docMk/>
          <pc:sldMk cId="0" sldId="355"/>
        </pc:sldMkLst>
        <pc:spChg chg="mod">
          <ac:chgData name="Данаил Сапунджиев (22172105)" userId="S::f22172105@students.tugab.bg::2d9b8758-6c6c-4fe6-902b-7ea98cf9a140" providerId="AD" clId="Web-{B38C7787-3E4D-1E6E-F926-264134026178}" dt="2024-05-17T09:05:40.599" v="0" actId="14100"/>
          <ac:spMkLst>
            <pc:docMk/>
            <pc:sldMk cId="0" sldId="355"/>
            <ac:spMk id="90115" creationId="{99E597F8-12D3-CFFB-A300-E6534679B02D}"/>
          </ac:spMkLst>
        </pc:spChg>
      </pc:sldChg>
    </pc:docChg>
  </pc:docChgLst>
  <pc:docChgLst>
    <pc:chgData name="Данаил Сапунджиев (22172105)" userId="S::f22172105@students.tugab.bg::2d9b8758-6c6c-4fe6-902b-7ea98cf9a140" providerId="AD" clId="Web-{0D6CE1AC-3F27-87C3-2F38-18D20F941A72}"/>
    <pc:docChg chg="modSld">
      <pc:chgData name="Данаил Сапунджиев (22172105)" userId="S::f22172105@students.tugab.bg::2d9b8758-6c6c-4fe6-902b-7ea98cf9a140" providerId="AD" clId="Web-{0D6CE1AC-3F27-87C3-2F38-18D20F941A72}" dt="2024-05-17T15:43:48.698" v="0" actId="14100"/>
      <pc:docMkLst>
        <pc:docMk/>
      </pc:docMkLst>
      <pc:sldChg chg="modSp">
        <pc:chgData name="Данаил Сапунджиев (22172105)" userId="S::f22172105@students.tugab.bg::2d9b8758-6c6c-4fe6-902b-7ea98cf9a140" providerId="AD" clId="Web-{0D6CE1AC-3F27-87C3-2F38-18D20F941A72}" dt="2024-05-17T15:43:48.698" v="0" actId="14100"/>
        <pc:sldMkLst>
          <pc:docMk/>
          <pc:sldMk cId="0" sldId="352"/>
        </pc:sldMkLst>
        <pc:spChg chg="mod">
          <ac:chgData name="Данаил Сапунджиев (22172105)" userId="S::f22172105@students.tugab.bg::2d9b8758-6c6c-4fe6-902b-7ea98cf9a140" providerId="AD" clId="Web-{0D6CE1AC-3F27-87C3-2F38-18D20F941A72}" dt="2024-05-17T15:43:48.698" v="0" actId="14100"/>
          <ac:spMkLst>
            <pc:docMk/>
            <pc:sldMk cId="0" sldId="352"/>
            <ac:spMk id="87043" creationId="{BFFFF8BF-5B29-83E9-748B-E14DFFDFD3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5A74F8-9D0D-2152-144D-2E65195F56B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7F5083E-0A6A-7796-4C1E-79190197BED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5BDB679-7094-63A8-E89C-109A5B32B85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B7A5FE2-FDFD-3AFE-FFD8-59D4A1EC5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A9867C51-5A1B-8462-176D-661C667268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8F9BF7EA-DBC5-C3DA-DD2E-3D0787666D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2ACE9C92-DF97-2F39-3C4C-80D85DE9C3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BDDFD6C1-99DF-A22C-763B-1BBE598D2D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9ADE85FA-5D90-F995-980E-135D63DD01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1D582FAC-1230-93B1-4B89-4771885EB4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38EC4B97-7267-FD94-0C44-588B447362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32A05013-EE31-90F2-AE89-750F948CEC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E90C5F01-9E6A-DC65-954F-E8E63C805D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CFA4486C-821A-9D6D-381B-9124221EA8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9EA8A78-112E-21A1-96BC-064D75849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19B3DE20-F956-7E3E-3ACA-43A386F5E9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831D0B6-B6A2-94D9-A34B-5F5946426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4BA98-A31B-4590-A687-510C837391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13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5AAFE37-2D33-C341-3EF5-FBB8B95702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FD7ECE-83E7-8386-E0E5-9BB5CC16592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C8BB-883E-408C-900C-D9833123AD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8396C8CF-5584-CE5C-0A08-DE45E8EC8D8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09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65FCBA-10F8-0697-B305-CB4156F2D2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CCCDD1C-8541-6225-E620-15C31A283E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0E384-EDFC-4D3E-872B-2BDFECB98B0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5DCF571-ED26-EF07-7538-C4C84BF4526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89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680429-0D66-3E59-E388-9F24F85F73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DE138C-6C55-048A-5C51-77F5D95AA7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2C9EE-BA81-44E2-A885-D47617C5AC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3F5AD04-6F2F-0ED2-A3FE-8359B0712C6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7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3AF49A-C011-DD59-AE6A-FEC84745C69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8DD112A-EDDD-5738-DF2F-CB47060503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14440E-1898-42DC-AC0D-115816BF7D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5BB98D12-DE33-C82C-3FBE-4AB7CB1ED01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179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AE20D7-C858-F25E-891D-63740EA9D4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A0BF2-8067-A3EA-85FA-7B9FC483B0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69B6ED-CD69-4A8E-AFFD-9C9E89711D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3734F45-46B1-AD8F-4C0B-05310944018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68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0966D76-900D-9227-B065-F40776F130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F3D206-641C-CE2C-286E-1A286204FD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058BA-A1B8-46E0-8D01-CDD0E05124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BAA568D-4274-1FF9-F522-9367ABA07BC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850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A3399-0F23-2FE9-2D5A-13AE9FE9F4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1CE353-CE40-2CC8-7D6C-1CC99AA298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E423ED-357D-4BD8-9C17-7DBE2AA4E4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AC3577F-2696-F170-BF9F-7617CB60798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2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83DC46-1F87-1A5F-6C48-FE2B44306B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77817D-75CB-8DBD-EEEB-7B01195397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99EEF-30E2-49DE-A0EC-8FA9A566CF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8877464-AD4F-CAEE-2AA1-A648B0AB953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52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2E0F67-02E4-2DDE-D4A2-78373FA030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7460A8-4753-04FA-3730-AB7845EB2C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DBD2C2-E55A-4265-92F9-6B3E06CF89E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C367390-8BCE-B228-544F-437236A508D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78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28FB82-A279-4B30-C524-B10A41CF63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5A7856-8C8A-8C6A-2D12-457B0FD2FC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A007F-D740-4A3F-A741-8031B379660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921D1C2-6D50-6443-5F66-94B4426C7F7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305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1451A4-4CD3-B0BE-BB1D-263E03E416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236A0B6-20D3-0D19-F0C3-1B25B0EBAA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238E6A40-A27A-4379-A8B4-274128225EF5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B23FEBD6-78A5-0153-5D05-4B13E1A9D71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B7479AF5-CDAB-11D7-CE00-3A3FDA714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F5725C6E-041E-011A-7096-452D51BB6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56A2520F-9B65-32A4-CF11-07CA9CCCF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58390202-ED61-08D4-E35F-8C78A9DFB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38D07808-5830-BC70-5F1E-416AA5E2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0887E29C-67DA-F4BA-44B9-2A641449F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6F3BB872-0FEC-40F9-FD54-1801E429C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B8334769-32E0-1229-D791-7BE3FAAC6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DB28ECB5-4D5E-CE3E-245F-B91ECE5CB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6D542BC1-5646-27BC-B1D4-1457A492A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5FDF8AF2-7F26-B0DA-5548-D1FDDCAC8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B4B94584-5AA4-3844-C130-A66331C9C8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dgenkov@tugab.b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icework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3E8A876-6E0E-D215-66DE-0FF44CB810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bg-BG" altLang="en-US" sz="4600"/>
              <a:t>Виртуализация и облачни технологии</a:t>
            </a:r>
            <a:endParaRPr lang="en-US" altLang="en-US" sz="460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0B0C874-EFD8-EA16-C4CA-0BF043D104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(Virtualization and Cloud)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2CE7D17-334E-0057-923F-20975B3C0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bg-BG" altLang="en-US"/>
              <a:t>Преподаватели</a:t>
            </a: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6211E84-EA30-C224-4011-B986161FB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bg-BG" altLang="en-US"/>
              <a:t>доц. д-р Делян Генков, кат. КСТ, каб. 330</a:t>
            </a:r>
            <a:r>
              <a:rPr lang="en-US" altLang="en-US"/>
              <a:t>8</a:t>
            </a:r>
            <a:r>
              <a:rPr lang="bg-BG" altLang="en-US"/>
              <a:t>, </a:t>
            </a:r>
            <a:r>
              <a:rPr lang="en-US" altLang="en-US">
                <a:hlinkClick r:id="rId2"/>
              </a:rPr>
              <a:t>dgenkov@tugab.bg</a:t>
            </a:r>
            <a:endParaRPr lang="bg-BG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bg-BG" altLang="en-US"/>
          </a:p>
          <a:p>
            <a:pPr eaLnBrk="1" hangingPunct="1"/>
            <a:r>
              <a:rPr lang="bg-BG" altLang="en-US"/>
              <a:t>гл. ас. д-р Мирослав Славов, кат. КСТ</a:t>
            </a:r>
            <a:r>
              <a:rPr lang="en-US" altLang="en-US"/>
              <a:t>, </a:t>
            </a:r>
            <a:r>
              <a:rPr lang="bg-BG" altLang="en-US"/>
              <a:t>каб. 3305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bg-BG" altLang="en-US" b="1"/>
              <a:t>Лаборатория: 3</a:t>
            </a:r>
            <a:r>
              <a:rPr lang="en-US" altLang="en-US" b="1"/>
              <a:t>405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2031B2A-1866-0DC7-02E2-E461734C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Технологии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C7162882-5DFF-33D2-CE8A-F51398DD5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/>
              <a:t>Виртуализация – сървърна, десктоп, мрежова, на данни, на приложения</a:t>
            </a:r>
          </a:p>
          <a:p>
            <a:r>
              <a:rPr lang="bg-BG" altLang="en-US"/>
              <a:t>Контейнери </a:t>
            </a:r>
            <a:endParaRPr lang="en-US" altLang="en-US"/>
          </a:p>
          <a:p>
            <a:r>
              <a:rPr lang="bg-BG" altLang="en-US"/>
              <a:t>Облачни технологии: </a:t>
            </a:r>
            <a:r>
              <a:rPr lang="en-US" altLang="en-US"/>
              <a:t>AWS, Google Cloud, Microsoft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09BCCC-9D92-3427-B87E-D1BB93230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bg-BG" altLang="en-US"/>
              <a:t>Виртуализация</a:t>
            </a:r>
            <a:endParaRPr lang="en-US" altLang="en-US"/>
          </a:p>
        </p:txBody>
      </p:sp>
      <p:pic>
        <p:nvPicPr>
          <p:cNvPr id="6147" name="Content Placeholder 1">
            <a:extLst>
              <a:ext uri="{FF2B5EF4-FFF2-40B4-BE49-F238E27FC236}">
                <a16:creationId xmlns:a16="http://schemas.microsoft.com/office/drawing/2014/main" id="{8FC8370C-1542-57F7-735B-D98E1E66D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4988" y="1187450"/>
            <a:ext cx="8074025" cy="5164138"/>
          </a:xfrm>
        </p:spPr>
      </p:pic>
      <p:sp>
        <p:nvSpPr>
          <p:cNvPr id="6148" name="Rectangle 2">
            <a:extLst>
              <a:ext uri="{FF2B5EF4-FFF2-40B4-BE49-F238E27FC236}">
                <a16:creationId xmlns:a16="http://schemas.microsoft.com/office/drawing/2014/main" id="{CE0D0652-7E12-F950-8A7B-5FCBBA41B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88113"/>
            <a:ext cx="488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800"/>
              <a:t>Източник: </a:t>
            </a:r>
            <a:r>
              <a:rPr lang="en-US" altLang="en-US" sz="1800">
                <a:hlinkClick r:id="rId3"/>
              </a:rPr>
              <a:t>https://www.spiceworks.com/</a:t>
            </a:r>
            <a:r>
              <a:rPr lang="bg-BG" altLang="en-US" sz="1800"/>
              <a:t>, 2020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6ECF6E7-6E3B-8709-B295-F649A862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Началото</a:t>
            </a:r>
            <a:endParaRPr lang="en-US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2DFFE875-0872-CAEA-3A39-A63509954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IBM Mainframe</a:t>
            </a:r>
          </a:p>
        </p:txBody>
      </p:sp>
      <p:pic>
        <p:nvPicPr>
          <p:cNvPr id="7172" name="Picture 2" descr="https://upload.wikimedia.org/wikipedia/commons/thumb/3/39/IBM_system_360-50_console_-_MfK_Bern.jpg/800px-IBM_system_360-50_console_-_MfK_Bern.jpg">
            <a:extLst>
              <a:ext uri="{FF2B5EF4-FFF2-40B4-BE49-F238E27FC236}">
                <a16:creationId xmlns:a16="http://schemas.microsoft.com/office/drawing/2014/main" id="{A4BCF927-29CB-AC13-3B0D-41F27B10C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549275"/>
            <a:ext cx="4589463" cy="61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50FE464-39FD-5481-6AC7-55EC04F3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VAX/VMS</a:t>
            </a:r>
          </a:p>
        </p:txBody>
      </p:sp>
      <p:pic>
        <p:nvPicPr>
          <p:cNvPr id="8195" name="Picture 2" descr="File:VAX780-5-Feb2015.JPG">
            <a:extLst>
              <a:ext uri="{FF2B5EF4-FFF2-40B4-BE49-F238E27FC236}">
                <a16:creationId xmlns:a16="http://schemas.microsoft.com/office/drawing/2014/main" id="{2CE97AE4-68D2-CCE9-4EF4-6DE1371E0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125538"/>
            <a:ext cx="5400675" cy="539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3">
            <a:extLst>
              <a:ext uri="{FF2B5EF4-FFF2-40B4-BE49-F238E27FC236}">
                <a16:creationId xmlns:a16="http://schemas.microsoft.com/office/drawing/2014/main" id="{6465321E-335E-D71E-C3D4-13E6E0CA1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284538"/>
            <a:ext cx="3076575" cy="310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6007904-FB2D-CBB2-CB25-01A3EB81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/>
              <a:t>Причини за развитие на виртуализацията</a:t>
            </a:r>
            <a:endParaRPr lang="en-US" altLang="en-U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24A2468-8C63-64F2-2276-B0A29806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213"/>
            <a:ext cx="8435975" cy="4681537"/>
          </a:xfrm>
        </p:spPr>
        <p:txBody>
          <a:bodyPr/>
          <a:lstStyle/>
          <a:p>
            <a:r>
              <a:rPr lang="bg-BG" altLang="en-US"/>
              <a:t>Предизвикателства:</a:t>
            </a:r>
          </a:p>
          <a:p>
            <a:pPr lvl="1"/>
            <a:r>
              <a:rPr lang="ru-RU" altLang="en-US"/>
              <a:t>Ниска степен на натоварване на инфраструктурата</a:t>
            </a:r>
          </a:p>
          <a:p>
            <a:pPr lvl="1"/>
            <a:r>
              <a:rPr lang="ru-RU" altLang="en-US"/>
              <a:t>Повишаване на разходите на физическата инфраструктура</a:t>
            </a:r>
          </a:p>
          <a:p>
            <a:pPr lvl="1"/>
            <a:r>
              <a:rPr lang="ru-RU" altLang="en-US"/>
              <a:t>Повишаване на IT разходите за управление</a:t>
            </a:r>
          </a:p>
          <a:p>
            <a:pPr lvl="1"/>
            <a:r>
              <a:rPr lang="ru-RU" altLang="en-US"/>
              <a:t>Недостатъчно защита от грешки и бедствия</a:t>
            </a:r>
          </a:p>
          <a:p>
            <a:pPr lvl="1"/>
            <a:r>
              <a:rPr lang="ru-RU" altLang="en-US"/>
              <a:t>Висока поддръжка за крайните потребителски настолни компютри</a:t>
            </a:r>
          </a:p>
        </p:txBody>
      </p:sp>
      <p:sp>
        <p:nvSpPr>
          <p:cNvPr id="9220" name="Rectangle 1">
            <a:extLst>
              <a:ext uri="{FF2B5EF4-FFF2-40B4-BE49-F238E27FC236}">
                <a16:creationId xmlns:a16="http://schemas.microsoft.com/office/drawing/2014/main" id="{F15D6D57-CE19-8D82-C5DB-20EAA2A83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A845082-6A4D-66FD-4DFD-9F93828B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Сървърна консолидация</a:t>
            </a:r>
            <a:endParaRPr lang="en-US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4EEFC9B1-2166-ACDD-A6AA-1181BCC71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28775"/>
            <a:ext cx="8229600" cy="3886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ru-RU" altLang="en-US"/>
              <a:t>По-добро използване на хардуера –</a:t>
            </a:r>
            <a:r>
              <a:rPr lang="en-US" altLang="en-US"/>
              <a:t> </a:t>
            </a:r>
            <a:r>
              <a:rPr lang="ru-RU" altLang="en-US"/>
              <a:t>от 5% до 80%</a:t>
            </a:r>
          </a:p>
        </p:txBody>
      </p:sp>
      <p:pic>
        <p:nvPicPr>
          <p:cNvPr id="10244" name="Picture 1">
            <a:extLst>
              <a:ext uri="{FF2B5EF4-FFF2-40B4-BE49-F238E27FC236}">
                <a16:creationId xmlns:a16="http://schemas.microsoft.com/office/drawing/2014/main" id="{3D645F6D-6FD3-3287-079F-4628919AC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2852738"/>
            <a:ext cx="8810625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70BFFD6-9046-A6AD-E33A-C7777E51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По-малко физическо пространство</a:t>
            </a:r>
            <a:endParaRPr lang="en-US" altLang="en-US"/>
          </a:p>
        </p:txBody>
      </p:sp>
      <p:pic>
        <p:nvPicPr>
          <p:cNvPr id="11267" name="Content Placeholder 3">
            <a:extLst>
              <a:ext uri="{FF2B5EF4-FFF2-40B4-BE49-F238E27FC236}">
                <a16:creationId xmlns:a16="http://schemas.microsoft.com/office/drawing/2014/main" id="{CE0F73C7-FDCB-80FE-BC60-58534B851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9563" y="1981200"/>
            <a:ext cx="6207125" cy="3751263"/>
          </a:xfrm>
        </p:spPr>
      </p:pic>
      <p:sp>
        <p:nvSpPr>
          <p:cNvPr id="11268" name="Rectangle 4">
            <a:extLst>
              <a:ext uri="{FF2B5EF4-FFF2-40B4-BE49-F238E27FC236}">
                <a16:creationId xmlns:a16="http://schemas.microsoft.com/office/drawing/2014/main" id="{81D4274E-7C96-5143-09B6-84B89FBDC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08725"/>
            <a:ext cx="568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http://www.avulant.com/virtualization-and-storage/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45D0D6B-EB70-EDF4-4C79-1148C258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Консумация на енергия</a:t>
            </a:r>
            <a:endParaRPr lang="en-US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0682143-C5C9-3A80-67D0-27BEF48F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75" y="1700213"/>
            <a:ext cx="8229600" cy="4537075"/>
          </a:xfrm>
        </p:spPr>
        <p:txBody>
          <a:bodyPr/>
          <a:lstStyle/>
          <a:p>
            <a:pPr>
              <a:defRPr/>
            </a:pPr>
            <a:r>
              <a:rPr lang="bg-BG" altLang="en-US" dirty="0"/>
              <a:t>Един сървър консумира около 50% от номиналната си мощност при минимално натоварване</a:t>
            </a:r>
            <a:endParaRPr lang="en-US" altLang="en-US" dirty="0"/>
          </a:p>
          <a:p>
            <a:pPr>
              <a:defRPr/>
            </a:pPr>
            <a:r>
              <a:rPr lang="bg-BG" altLang="en-US" dirty="0"/>
              <a:t>Излъчва топлина </a:t>
            </a:r>
            <a:r>
              <a:rPr lang="en-US" altLang="en-US" dirty="0"/>
              <a:t>(BTU), </a:t>
            </a:r>
            <a:r>
              <a:rPr lang="bg-BG" altLang="en-US" dirty="0"/>
              <a:t>която изисква охлаждане</a:t>
            </a:r>
            <a:r>
              <a:rPr lang="en-US" altLang="en-US" dirty="0"/>
              <a:t>:</a:t>
            </a:r>
          </a:p>
          <a:p>
            <a:pPr>
              <a:defRPr/>
            </a:pPr>
            <a:r>
              <a:rPr lang="en-US" b="1" dirty="0"/>
              <a:t>HPE ProLiant DL380 Gen10 Server 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For 800 W (Universal) power supply: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da-DK" dirty="0"/>
              <a:t>2951 BTU/hr (at 230 V ac)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CB0EA32-4F67-AA43-5CAF-E09B41B6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13" y="404813"/>
            <a:ext cx="8229600" cy="631825"/>
          </a:xfrm>
        </p:spPr>
        <p:txBody>
          <a:bodyPr/>
          <a:lstStyle/>
          <a:p>
            <a:r>
              <a:rPr lang="bg-BG" altLang="en-US"/>
              <a:t>Стари, несигурни приложения</a:t>
            </a:r>
            <a:endParaRPr lang="en-US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BFFC804-4C08-C080-5FD9-9920603C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628775"/>
            <a:ext cx="8229600" cy="3886200"/>
          </a:xfrm>
        </p:spPr>
        <p:txBody>
          <a:bodyPr/>
          <a:lstStyle/>
          <a:p>
            <a:r>
              <a:rPr lang="bg-BG" altLang="en-US"/>
              <a:t>Вече не се намира хардуер</a:t>
            </a:r>
          </a:p>
          <a:p>
            <a:r>
              <a:rPr lang="bg-BG" altLang="en-US"/>
              <a:t>Не могат да се пренапишат (</a:t>
            </a:r>
            <a:r>
              <a:rPr lang="en-US" altLang="en-US"/>
              <a:t>MUMPS, Windows NT)</a:t>
            </a:r>
          </a:p>
          <a:p>
            <a:r>
              <a:rPr lang="bg-BG" altLang="en-US"/>
              <a:t>Няма адекватни средства за защита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0A4CC6C-F7AF-A287-FC90-A2DA0DFCA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457200"/>
            <a:ext cx="8856663" cy="1371600"/>
          </a:xfrm>
        </p:spPr>
        <p:txBody>
          <a:bodyPr/>
          <a:lstStyle/>
          <a:p>
            <a:r>
              <a:rPr lang="ru-RU" altLang="en-US" b="1"/>
              <a:t>Среда за научни изследвания, разработка и тестване</a:t>
            </a:r>
            <a:endParaRPr lang="en-U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2A9A84BF-43FA-4C91-18CB-F7B4E789E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ru-RU" altLang="en-US"/>
              <a:t>Възможност за записване, възстановяване и презареждане на състоянието</a:t>
            </a:r>
          </a:p>
          <a:p>
            <a:r>
              <a:rPr lang="ru-RU" altLang="en-US"/>
              <a:t>Възможност за миграции и репликации</a:t>
            </a:r>
          </a:p>
          <a:p>
            <a:endParaRPr lang="en-US" altLang="en-US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B205795-929E-8952-2C57-BE83F6478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CACC441-F41F-9DE0-5B50-5C3537AB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bg-BG" altLang="en-US"/>
              <a:t>Същност на виртуализацията</a:t>
            </a:r>
            <a:endParaRPr lang="en-US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24C576C6-74FC-D015-805D-90AA5FC4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206009"/>
            <a:ext cx="8785225" cy="5406331"/>
          </a:xfrm>
        </p:spPr>
        <p:txBody>
          <a:bodyPr/>
          <a:lstStyle/>
          <a:p>
            <a:r>
              <a:rPr lang="ru-RU" altLang="en-US"/>
              <a:t>Трансформира или виртуализира хардуерните ресурси на x86-базирани компютри в напълно функционална виртуална машина</a:t>
            </a:r>
          </a:p>
          <a:p>
            <a:r>
              <a:rPr lang="ru-RU" altLang="en-US"/>
              <a:t>Виртуалната машина е цялостна система от ОС и приложен софтуер</a:t>
            </a:r>
          </a:p>
          <a:p>
            <a:r>
              <a:rPr lang="ru-RU" altLang="en-US"/>
              <a:t>Хардуерните ресурси се разпределят динамично и прозрачно</a:t>
            </a:r>
          </a:p>
          <a:p>
            <a:r>
              <a:rPr lang="ru-RU" altLang="en-US"/>
              <a:t>Няколко ОС могат да работят едновременно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AB65C44-4620-8402-329C-505CC8315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06E227A-9D8C-39EC-FFA8-31A29AEF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r>
              <a:rPr lang="bg-BG" altLang="en-US" b="1"/>
              <a:t>Термини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3987971-A692-C55B-96E9-D750CEB18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75" y="1130300"/>
            <a:ext cx="8229600" cy="3886200"/>
          </a:xfrm>
        </p:spPr>
        <p:txBody>
          <a:bodyPr/>
          <a:lstStyle/>
          <a:p>
            <a:r>
              <a:rPr lang="en-US" altLang="en-US" b="1"/>
              <a:t>HOST</a:t>
            </a:r>
            <a:r>
              <a:rPr lang="bg-BG" altLang="en-US" b="1"/>
              <a:t> </a:t>
            </a:r>
            <a:r>
              <a:rPr lang="en-US" altLang="en-US"/>
              <a:t>–</a:t>
            </a:r>
            <a:r>
              <a:rPr lang="bg-BG" altLang="en-US"/>
              <a:t> физическата платформа</a:t>
            </a:r>
          </a:p>
          <a:p>
            <a:r>
              <a:rPr lang="ru-RU" altLang="en-US" b="1"/>
              <a:t>GUEST </a:t>
            </a:r>
            <a:r>
              <a:rPr lang="ru-RU" altLang="en-US"/>
              <a:t>– ОС, изпълняваща се на виртуалната машина</a:t>
            </a:r>
          </a:p>
          <a:p>
            <a:r>
              <a:rPr lang="en-US" altLang="en-US" b="1"/>
              <a:t>VMM / Hypervisor </a:t>
            </a:r>
            <a:r>
              <a:rPr lang="en-US" altLang="en-US"/>
              <a:t>–</a:t>
            </a:r>
            <a:r>
              <a:rPr lang="bg-BG" altLang="en-US"/>
              <a:t>софтуер, поддържащ виртуализацията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162EF504-2E2D-62E7-2861-13F06D49C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3" y="3860800"/>
            <a:ext cx="4732337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4">
            <a:extLst>
              <a:ext uri="{FF2B5EF4-FFF2-40B4-BE49-F238E27FC236}">
                <a16:creationId xmlns:a16="http://schemas.microsoft.com/office/drawing/2014/main" id="{47C81012-8F1E-528A-79BA-6660595E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AB64941A-E821-879A-FFD3-2A9932A6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r>
              <a:rPr lang="bg-BG" altLang="en-US" b="1"/>
              <a:t>Виртуална машина</a:t>
            </a:r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DC52FE4-D1B2-D391-ECED-82B5DB05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416050"/>
            <a:ext cx="8229600" cy="4802920"/>
          </a:xfrm>
        </p:spPr>
        <p:txBody>
          <a:bodyPr/>
          <a:lstStyle/>
          <a:p>
            <a:r>
              <a:rPr lang="ru-RU" altLang="en-US"/>
              <a:t>Изолиран софтуерен </a:t>
            </a:r>
            <a:r>
              <a:rPr lang="ru-RU" altLang="en-US" i="1"/>
              <a:t>контейнер</a:t>
            </a:r>
            <a:r>
              <a:rPr lang="ru-RU" altLang="en-US"/>
              <a:t>, който може да стартира собствена ОС и приложения</a:t>
            </a:r>
          </a:p>
          <a:p>
            <a:r>
              <a:rPr lang="ru-RU" altLang="en-US"/>
              <a:t>ВМ се държи като истински компютър и има собствени виртуални (софтуерно базирани) процесор, памет, диск и мрежови адаптери</a:t>
            </a:r>
          </a:p>
          <a:p>
            <a:r>
              <a:rPr lang="ru-RU" altLang="en-US"/>
              <a:t>Гост ОС не може да направи разлика между физическа и виртуална машина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8913F19-806A-1873-C94F-CFEC542A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B7118363-9431-4ED9-ADBD-C5DE4DB1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Предимства на ВМ</a:t>
            </a:r>
            <a:endParaRPr lang="en-US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41A2543-4B8A-061C-6F69-A2A5A503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617171"/>
            <a:ext cx="8712200" cy="4338758"/>
          </a:xfrm>
        </p:spPr>
        <p:txBody>
          <a:bodyPr/>
          <a:lstStyle/>
          <a:p>
            <a:r>
              <a:rPr lang="ru-RU" altLang="en-US" sz="2800" b="1"/>
              <a:t>Съвместимост - </a:t>
            </a:r>
            <a:r>
              <a:rPr lang="ru-RU" altLang="en-US" sz="2800"/>
              <a:t>виртуалните машини са съвместими с всички стандартни x86 компютри</a:t>
            </a:r>
          </a:p>
          <a:p>
            <a:r>
              <a:rPr lang="ru-RU" altLang="en-US" sz="2800" b="1"/>
              <a:t>Изолация - </a:t>
            </a:r>
            <a:r>
              <a:rPr lang="ru-RU" altLang="en-US" sz="2800"/>
              <a:t>виртуалните машини са изолирани една от друга, както физически отделни компютри</a:t>
            </a:r>
          </a:p>
          <a:p>
            <a:r>
              <a:rPr lang="ru-RU" altLang="en-US" sz="2800" b="1"/>
              <a:t>Капсулация - </a:t>
            </a:r>
            <a:r>
              <a:rPr lang="ru-RU" altLang="en-US" sz="2800"/>
              <a:t>виртуалните машини капсулират пълна компютърна среда</a:t>
            </a:r>
          </a:p>
          <a:p>
            <a:r>
              <a:rPr lang="ru-RU" altLang="en-US" sz="2800" b="1"/>
              <a:t>Хардуерна независимост -</a:t>
            </a:r>
            <a:r>
              <a:rPr lang="ru-RU" altLang="en-US" sz="2800"/>
              <a:t>виртуалните машини са независими от прилежащия хардуер</a:t>
            </a:r>
          </a:p>
          <a:p>
            <a:endParaRPr lang="en-US" altLang="en-US" sz="280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629EE86-6929-1A75-F5DB-AA1D05A1F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E8C0231-6D6A-594D-8662-9CF1A810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ВМ и хипервайзор</a:t>
            </a:r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48422AF-9CAD-F324-D043-834FF5D42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58" y="1557338"/>
            <a:ext cx="8241204" cy="5441144"/>
          </a:xfrm>
        </p:spPr>
        <p:txBody>
          <a:bodyPr/>
          <a:lstStyle/>
          <a:p>
            <a:r>
              <a:rPr lang="ru-RU" altLang="en-US"/>
              <a:t>От гледна точка на хипервайзора, ВМ е набор от файлове</a:t>
            </a:r>
          </a:p>
          <a:p>
            <a:endParaRPr lang="en-US" altLang="en-US"/>
          </a:p>
        </p:txBody>
      </p:sp>
      <p:pic>
        <p:nvPicPr>
          <p:cNvPr id="19460" name="Picture 3">
            <a:extLst>
              <a:ext uri="{FF2B5EF4-FFF2-40B4-BE49-F238E27FC236}">
                <a16:creationId xmlns:a16="http://schemas.microsoft.com/office/drawing/2014/main" id="{5366E0A5-9872-4BC7-517A-A09B965DA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2636838"/>
            <a:ext cx="7427912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61F536C-7F82-6E7A-AB3F-5FFFF5AD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Provisioning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E9C52B5-07CA-18C1-4F29-53DD4C28E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59363"/>
            <a:ext cx="8229600" cy="1798637"/>
          </a:xfrm>
        </p:spPr>
        <p:txBody>
          <a:bodyPr/>
          <a:lstStyle/>
          <a:p>
            <a:r>
              <a:rPr lang="bg-BG" altLang="en-US"/>
              <a:t>Отнема минути вместо дни или седмици</a:t>
            </a:r>
            <a:endParaRPr lang="en-US" altLang="en-US"/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605C325D-0F80-B043-B8D2-81D2E5DF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700213"/>
            <a:ext cx="790575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276E412-7E6D-ED3A-2AEC-5F3F4EFD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Преди и след виртуализация</a:t>
            </a:r>
            <a:endParaRPr lang="en-US" altLang="en-US"/>
          </a:p>
        </p:txBody>
      </p:sp>
      <p:pic>
        <p:nvPicPr>
          <p:cNvPr id="21507" name="Content Placeholder 3">
            <a:extLst>
              <a:ext uri="{FF2B5EF4-FFF2-40B4-BE49-F238E27FC236}">
                <a16:creationId xmlns:a16="http://schemas.microsoft.com/office/drawing/2014/main" id="{3107474A-495C-1DFC-DFB8-9F9412FE8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" y="2060575"/>
            <a:ext cx="7974013" cy="3889375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8011E3D-5F3E-1B54-865F-2850FD67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457200"/>
            <a:ext cx="8856663" cy="1100138"/>
          </a:xfrm>
        </p:spPr>
        <p:txBody>
          <a:bodyPr/>
          <a:lstStyle/>
          <a:p>
            <a:r>
              <a:rPr lang="bg-BG" altLang="en-US" b="1"/>
              <a:t>Изисквания към хипервайзори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DE22-9453-86ED-F55F-25ADD642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80" y="1726822"/>
            <a:ext cx="8252808" cy="4489610"/>
          </a:xfrm>
        </p:spPr>
        <p:txBody>
          <a:bodyPr/>
          <a:lstStyle/>
          <a:p>
            <a:pPr>
              <a:defRPr/>
            </a:pPr>
            <a:r>
              <a:rPr lang="ru-RU" sz="2400" dirty="0"/>
              <a:t>1974г. Попек и </a:t>
            </a:r>
            <a:r>
              <a:rPr lang="ru-RU" sz="2400" dirty="0" err="1"/>
              <a:t>Голдберг</a:t>
            </a:r>
            <a:r>
              <a:rPr lang="ru-RU" sz="2400" dirty="0"/>
              <a:t> </a:t>
            </a:r>
            <a:r>
              <a:rPr lang="ru-RU" sz="2400" dirty="0" err="1"/>
              <a:t>дефинират</a:t>
            </a:r>
            <a:r>
              <a:rPr lang="ru-RU" sz="2400" dirty="0"/>
              <a:t> </a:t>
            </a:r>
            <a:r>
              <a:rPr lang="ru-RU" sz="2400" dirty="0" err="1"/>
              <a:t>изисквания</a:t>
            </a:r>
            <a:r>
              <a:rPr lang="ru-RU" sz="2400" dirty="0"/>
              <a:t> </a:t>
            </a:r>
            <a:r>
              <a:rPr lang="ru-RU" sz="2400" dirty="0" err="1"/>
              <a:t>към</a:t>
            </a:r>
            <a:r>
              <a:rPr lang="ru-RU" sz="2400" dirty="0"/>
              <a:t> </a:t>
            </a:r>
            <a:r>
              <a:rPr lang="ru-RU" sz="2400" dirty="0" err="1"/>
              <a:t>компютърна</a:t>
            </a:r>
            <a:r>
              <a:rPr lang="ru-RU" sz="2400" dirty="0"/>
              <a:t> система за </a:t>
            </a:r>
            <a:r>
              <a:rPr lang="ru-RU" sz="2400" dirty="0" err="1"/>
              <a:t>поддръжка</a:t>
            </a:r>
            <a:r>
              <a:rPr lang="ru-RU" sz="2400" dirty="0"/>
              <a:t> на виртуализация: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1. </a:t>
            </a:r>
            <a:r>
              <a:rPr lang="ru-RU" sz="2400" dirty="0" err="1"/>
              <a:t>Точност</a:t>
            </a:r>
            <a:r>
              <a:rPr lang="ru-RU" sz="2400" dirty="0"/>
              <a:t>. </a:t>
            </a:r>
            <a:r>
              <a:rPr lang="ru-RU" sz="2400" dirty="0" err="1"/>
              <a:t>създаваната</a:t>
            </a:r>
            <a:r>
              <a:rPr lang="ru-RU" sz="2400" dirty="0"/>
              <a:t> среда за ВМ е по </a:t>
            </a:r>
            <a:r>
              <a:rPr lang="ru-RU" sz="2400" dirty="0" err="1"/>
              <a:t>същество</a:t>
            </a:r>
            <a:r>
              <a:rPr lang="ru-RU" sz="2400" dirty="0"/>
              <a:t> идентична на </a:t>
            </a:r>
            <a:r>
              <a:rPr lang="ru-RU" sz="2400" dirty="0" err="1"/>
              <a:t>оригиналната</a:t>
            </a:r>
            <a:r>
              <a:rPr lang="ru-RU" sz="2400" dirty="0"/>
              <a:t> </a:t>
            </a:r>
            <a:r>
              <a:rPr lang="ru-RU" sz="2400" dirty="0" err="1"/>
              <a:t>физическа</a:t>
            </a:r>
            <a:r>
              <a:rPr lang="ru-RU" sz="2400" dirty="0"/>
              <a:t> машина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2. </a:t>
            </a:r>
            <a:r>
              <a:rPr lang="ru-RU" sz="2400" dirty="0" err="1"/>
              <a:t>Изолация</a:t>
            </a:r>
            <a:r>
              <a:rPr lang="ru-RU" sz="2400" dirty="0"/>
              <a:t> или </a:t>
            </a:r>
            <a:r>
              <a:rPr lang="ru-RU" sz="2400" dirty="0" err="1"/>
              <a:t>защитеност</a:t>
            </a:r>
            <a:r>
              <a:rPr lang="ru-RU" sz="2400" dirty="0"/>
              <a:t> </a:t>
            </a:r>
            <a:r>
              <a:rPr lang="ru-RU" sz="2400" dirty="0" err="1"/>
              <a:t>хипервайзорът</a:t>
            </a:r>
            <a:r>
              <a:rPr lang="ru-RU" sz="2400" dirty="0"/>
              <a:t> </a:t>
            </a:r>
            <a:r>
              <a:rPr lang="ru-RU" sz="2400" dirty="0" err="1"/>
              <a:t>трябва</a:t>
            </a:r>
            <a:r>
              <a:rPr lang="ru-RU" sz="2400" dirty="0"/>
              <a:t> да </a:t>
            </a:r>
            <a:r>
              <a:rPr lang="ru-RU" sz="2400" dirty="0" err="1"/>
              <a:t>има</a:t>
            </a:r>
            <a:r>
              <a:rPr lang="ru-RU" sz="2400" dirty="0"/>
              <a:t> </a:t>
            </a:r>
            <a:r>
              <a:rPr lang="ru-RU" sz="2400" dirty="0" err="1"/>
              <a:t>пълен</a:t>
            </a:r>
            <a:r>
              <a:rPr lang="ru-RU" sz="2400" dirty="0"/>
              <a:t> </a:t>
            </a:r>
            <a:r>
              <a:rPr lang="ru-RU" sz="2400" dirty="0" err="1"/>
              <a:t>контрол</a:t>
            </a:r>
            <a:r>
              <a:rPr lang="ru-RU" sz="2400" dirty="0"/>
              <a:t> </a:t>
            </a:r>
            <a:r>
              <a:rPr lang="ru-RU" sz="2400" dirty="0" err="1"/>
              <a:t>върху</a:t>
            </a:r>
            <a:r>
              <a:rPr lang="ru-RU" sz="2400" dirty="0"/>
              <a:t> </a:t>
            </a:r>
            <a:r>
              <a:rPr lang="ru-RU" sz="2400" dirty="0" err="1"/>
              <a:t>системните</a:t>
            </a:r>
            <a:r>
              <a:rPr lang="ru-RU" sz="2400" dirty="0"/>
              <a:t> </a:t>
            </a:r>
            <a:r>
              <a:rPr lang="ru-RU" sz="2400" dirty="0" err="1"/>
              <a:t>ресурси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3. </a:t>
            </a:r>
            <a:r>
              <a:rPr lang="ru-RU" sz="2400" dirty="0" err="1"/>
              <a:t>Производителност</a:t>
            </a:r>
            <a:r>
              <a:rPr lang="ru-RU" sz="2400" dirty="0"/>
              <a:t> </a:t>
            </a:r>
            <a:r>
              <a:rPr lang="ru-RU" sz="2400" dirty="0" err="1"/>
              <a:t>трябва</a:t>
            </a:r>
            <a:r>
              <a:rPr lang="ru-RU" sz="2400" dirty="0"/>
              <a:t> да </a:t>
            </a:r>
            <a:r>
              <a:rPr lang="ru-RU" sz="2400" dirty="0" err="1"/>
              <a:t>има</a:t>
            </a:r>
            <a:r>
              <a:rPr lang="ru-RU" sz="2400" dirty="0"/>
              <a:t> много малка или да </a:t>
            </a:r>
            <a:r>
              <a:rPr lang="ru-RU" sz="2400" dirty="0" err="1"/>
              <a:t>няма</a:t>
            </a:r>
            <a:r>
              <a:rPr lang="ru-RU" sz="2400" dirty="0"/>
              <a:t> </a:t>
            </a:r>
            <a:r>
              <a:rPr lang="ru-RU" sz="2400" dirty="0" err="1"/>
              <a:t>разлика</a:t>
            </a:r>
            <a:r>
              <a:rPr lang="ru-RU" sz="2400" dirty="0"/>
              <a:t> в </a:t>
            </a:r>
            <a:r>
              <a:rPr lang="ru-RU" sz="2400" dirty="0" err="1"/>
              <a:t>производителността</a:t>
            </a:r>
            <a:r>
              <a:rPr lang="ru-RU" sz="2400" dirty="0"/>
              <a:t> на ВМ и </a:t>
            </a:r>
            <a:r>
              <a:rPr lang="ru-RU" sz="2400" dirty="0" err="1"/>
              <a:t>физическата</a:t>
            </a:r>
            <a:r>
              <a:rPr lang="ru-RU" sz="2400" dirty="0"/>
              <a:t> машина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 err="1"/>
              <a:t>Изпълнението</a:t>
            </a:r>
            <a:r>
              <a:rPr lang="ru-RU" sz="2400" dirty="0"/>
              <a:t> на критерий 3 --&gt; </a:t>
            </a:r>
            <a:r>
              <a:rPr lang="ru-RU" sz="2400" dirty="0" err="1"/>
              <a:t>ефикасен</a:t>
            </a:r>
            <a:r>
              <a:rPr lang="ru-RU" sz="2400" dirty="0"/>
              <a:t> </a:t>
            </a:r>
            <a:r>
              <a:rPr lang="ru-RU" sz="2400" dirty="0" err="1"/>
              <a:t>хипервайзор</a:t>
            </a:r>
            <a:endParaRPr lang="en-US" sz="2400" dirty="0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0F747C70-F2DE-B02E-BFED-91F825CC6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60750C6-FD6E-F2D1-B22B-DA71AC88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r>
              <a:rPr lang="bg-BG" altLang="en-US" b="1"/>
              <a:t>Хипервайзор тип 1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D1C16A20-A955-2EC2-5D40-A0322A641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435975" cy="5600071"/>
          </a:xfrm>
        </p:spPr>
        <p:txBody>
          <a:bodyPr/>
          <a:lstStyle/>
          <a:p>
            <a:r>
              <a:rPr lang="ru-RU" altLang="en-US"/>
              <a:t>Bare metal</a:t>
            </a:r>
          </a:p>
          <a:p>
            <a:r>
              <a:rPr lang="ru-RU" altLang="en-US"/>
              <a:t>Работят директно върху хардуера</a:t>
            </a:r>
          </a:p>
          <a:p>
            <a:r>
              <a:rPr lang="ru-RU" altLang="en-US"/>
              <a:t>Не изисква отделна ОС</a:t>
            </a:r>
          </a:p>
          <a:p>
            <a:r>
              <a:rPr lang="ru-RU" altLang="en-US"/>
              <a:t>Висока ефективност и производителност</a:t>
            </a:r>
          </a:p>
          <a:p>
            <a:r>
              <a:rPr lang="ru-RU" altLang="en-US"/>
              <a:t>Примери:</a:t>
            </a:r>
          </a:p>
          <a:p>
            <a:pPr lvl="1"/>
            <a:r>
              <a:rPr lang="en-US" altLang="en-US"/>
              <a:t>V</a:t>
            </a:r>
            <a:r>
              <a:rPr lang="bg-BG" altLang="en-US"/>
              <a:t>М</a:t>
            </a:r>
            <a:r>
              <a:rPr lang="en-US" altLang="en-US"/>
              <a:t>ware</a:t>
            </a:r>
            <a:r>
              <a:rPr lang="bg-BG" altLang="en-US"/>
              <a:t> </a:t>
            </a:r>
            <a:r>
              <a:rPr lang="en-US" altLang="en-US"/>
              <a:t>ESXi</a:t>
            </a:r>
          </a:p>
          <a:p>
            <a:pPr lvl="1"/>
            <a:r>
              <a:rPr lang="en-US" altLang="en-US"/>
              <a:t>Microsoft HyperV</a:t>
            </a:r>
          </a:p>
          <a:p>
            <a:pPr lvl="1"/>
            <a:r>
              <a:rPr lang="en-US" altLang="en-US"/>
              <a:t>Citrix Hypervisor (Xenserver)</a:t>
            </a:r>
          </a:p>
          <a:p>
            <a:pPr lvl="1"/>
            <a:r>
              <a:rPr lang="en-US" altLang="en-US"/>
              <a:t>KVM</a:t>
            </a:r>
          </a:p>
          <a:p>
            <a:pPr lvl="1"/>
            <a:r>
              <a:rPr lang="en-US" altLang="en-US"/>
              <a:t>Oracle VM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6E32114-B5BD-2D09-1092-B79F1A7B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r>
              <a:rPr lang="bg-BG" altLang="en-US" b="1"/>
              <a:t>Хипервайзор тип 2</a:t>
            </a:r>
            <a:endParaRPr lang="en-US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CBBFB34E-210A-DE31-49FE-311D7375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596" y="1427654"/>
            <a:ext cx="8229600" cy="4814524"/>
          </a:xfrm>
        </p:spPr>
        <p:txBody>
          <a:bodyPr/>
          <a:lstStyle/>
          <a:p>
            <a:r>
              <a:rPr lang="ru-RU" altLang="en-US"/>
              <a:t>Hosted</a:t>
            </a:r>
          </a:p>
          <a:p>
            <a:r>
              <a:rPr lang="ru-RU" altLang="en-US"/>
              <a:t>Изисква инсталирана ОС</a:t>
            </a:r>
          </a:p>
          <a:p>
            <a:r>
              <a:rPr lang="ru-RU" altLang="en-US"/>
              <a:t>Работи като приложение в средата на ОС</a:t>
            </a:r>
          </a:p>
          <a:p>
            <a:r>
              <a:rPr lang="ru-RU" altLang="en-US"/>
              <a:t>Примери:</a:t>
            </a:r>
          </a:p>
          <a:p>
            <a:pPr lvl="1"/>
            <a:r>
              <a:rPr lang="en-US" altLang="en-US"/>
              <a:t>VMware workstation Pro/ Vmware</a:t>
            </a:r>
            <a:r>
              <a:rPr lang="bg-BG" altLang="en-US"/>
              <a:t> </a:t>
            </a:r>
            <a:r>
              <a:rPr lang="en-US" altLang="en-US"/>
              <a:t>Fusion</a:t>
            </a:r>
          </a:p>
          <a:p>
            <a:pPr lvl="1"/>
            <a:r>
              <a:rPr lang="en-US" altLang="en-US"/>
              <a:t>Oracle VirtualBox</a:t>
            </a:r>
          </a:p>
          <a:p>
            <a:pPr lvl="1"/>
            <a:r>
              <a:rPr lang="en-US" altLang="en-US"/>
              <a:t>Microsoft Virtual PC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E95DF80-0CE3-0563-6F50-DA00F31B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Тип 1 и тип 2</a:t>
            </a:r>
            <a:endParaRPr lang="en-US" altLang="en-US"/>
          </a:p>
        </p:txBody>
      </p:sp>
      <p:pic>
        <p:nvPicPr>
          <p:cNvPr id="25603" name="Picture 2" descr="Type 1 (bare-metal) and Type 2 (hosted) hypervisor | Download Scientific  Diagram">
            <a:extLst>
              <a:ext uri="{FF2B5EF4-FFF2-40B4-BE49-F238E27FC236}">
                <a16:creationId xmlns:a16="http://schemas.microsoft.com/office/drawing/2014/main" id="{CE43B894-3E2A-C086-34D8-1E42BA4F93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2013" y="1617663"/>
            <a:ext cx="7094537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EF77C4B-4884-9E93-B362-2CFCF3550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Споделяне на ресурси</a:t>
            </a:r>
            <a:endParaRPr lang="en-US" altLang="en-US"/>
          </a:p>
        </p:txBody>
      </p:sp>
      <p:pic>
        <p:nvPicPr>
          <p:cNvPr id="26627" name="Content Placeholder 3">
            <a:extLst>
              <a:ext uri="{FF2B5EF4-FFF2-40B4-BE49-F238E27FC236}">
                <a16:creationId xmlns:a16="http://schemas.microsoft.com/office/drawing/2014/main" id="{FA8E5BF0-2258-6A5E-1250-1677882E9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6575" y="1687513"/>
            <a:ext cx="5357813" cy="4621212"/>
          </a:xfrm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66DCC0AB-7A60-D5A4-A265-A22672F4A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0211C9A-62B0-3729-C2E1-B3479738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457200"/>
            <a:ext cx="8713788" cy="884238"/>
          </a:xfrm>
        </p:spPr>
        <p:txBody>
          <a:bodyPr/>
          <a:lstStyle/>
          <a:p>
            <a:r>
              <a:rPr lang="bg-BG" altLang="en-US" b="1"/>
              <a:t>Архитектури на хипервайзори</a:t>
            </a:r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0E19047-18D8-7E1E-69C5-33C4838F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557338"/>
            <a:ext cx="8716970" cy="5209062"/>
          </a:xfrm>
        </p:spPr>
        <p:txBody>
          <a:bodyPr/>
          <a:lstStyle/>
          <a:p>
            <a:r>
              <a:rPr lang="bg-BG" altLang="en-US" b="1"/>
              <a:t>Монолитно ядро</a:t>
            </a:r>
            <a:endParaRPr lang="bg-BG" altLang="en-US"/>
          </a:p>
          <a:p>
            <a:r>
              <a:rPr lang="ru-RU" altLang="en-US"/>
              <a:t>Включва всички основни функции, както и драйверите на устройствата;</a:t>
            </a:r>
          </a:p>
          <a:p>
            <a:r>
              <a:rPr lang="bg-BG" altLang="en-US"/>
              <a:t>Голям по размер код;</a:t>
            </a:r>
          </a:p>
          <a:p>
            <a:r>
              <a:rPr lang="en-US" altLang="en-US"/>
              <a:t>Defense in depth.</a:t>
            </a:r>
          </a:p>
          <a:p>
            <a:endParaRPr lang="en-US" altLang="en-US"/>
          </a:p>
          <a:p>
            <a:r>
              <a:rPr lang="en-US" altLang="en-US" i="1"/>
              <a:t>VMware ESXi</a:t>
            </a:r>
            <a:endParaRPr lang="en-US" altLang="en-US"/>
          </a:p>
        </p:txBody>
      </p:sp>
      <p:pic>
        <p:nvPicPr>
          <p:cNvPr id="27652" name="Picture 3">
            <a:extLst>
              <a:ext uri="{FF2B5EF4-FFF2-40B4-BE49-F238E27FC236}">
                <a16:creationId xmlns:a16="http://schemas.microsoft.com/office/drawing/2014/main" id="{6A4CE9BB-4FFD-9216-27E8-AEFEE65EA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179763"/>
            <a:ext cx="2952750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4">
            <a:extLst>
              <a:ext uri="{FF2B5EF4-FFF2-40B4-BE49-F238E27FC236}">
                <a16:creationId xmlns:a16="http://schemas.microsoft.com/office/drawing/2014/main" id="{8B2C0265-56B1-97F7-47FD-A9E46732C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337F85E-1E14-4B34-16A9-53A95210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/>
          <a:lstStyle/>
          <a:p>
            <a:r>
              <a:rPr lang="en-US" altLang="en-US"/>
              <a:t>Microkernel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D279-852E-B271-7AD6-81A41DCC1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350471"/>
            <a:ext cx="8229600" cy="530189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  <a:r>
              <a:rPr lang="bg-BG" dirty="0"/>
              <a:t>В</a:t>
            </a:r>
            <a:r>
              <a:rPr lang="ru-RU" dirty="0" err="1"/>
              <a:t>ключва</a:t>
            </a:r>
            <a:r>
              <a:rPr lang="ru-RU" dirty="0"/>
              <a:t> само </a:t>
            </a:r>
            <a:r>
              <a:rPr lang="ru-RU" dirty="0" err="1"/>
              <a:t>основни</a:t>
            </a:r>
            <a:r>
              <a:rPr lang="ru-RU" dirty="0"/>
              <a:t> функции (управление на </a:t>
            </a:r>
            <a:r>
              <a:rPr lang="ru-RU" dirty="0" err="1"/>
              <a:t>физическата</a:t>
            </a:r>
            <a:r>
              <a:rPr lang="ru-RU" dirty="0"/>
              <a:t> </a:t>
            </a:r>
            <a:r>
              <a:rPr lang="ru-RU" dirty="0" err="1"/>
              <a:t>памет</a:t>
            </a:r>
            <a:r>
              <a:rPr lang="ru-RU" dirty="0"/>
              <a:t> и </a:t>
            </a:r>
            <a:r>
              <a:rPr lang="ru-RU" dirty="0" err="1"/>
              <a:t>планиране</a:t>
            </a:r>
            <a:r>
              <a:rPr lang="ru-RU" dirty="0"/>
              <a:t> на </a:t>
            </a:r>
            <a:r>
              <a:rPr lang="ru-RU" dirty="0" err="1"/>
              <a:t>процесите</a:t>
            </a:r>
            <a:r>
              <a:rPr lang="ru-RU" dirty="0"/>
              <a:t>);</a:t>
            </a:r>
          </a:p>
          <a:p>
            <a:pPr>
              <a:defRPr/>
            </a:pPr>
            <a:r>
              <a:rPr lang="bg-BG" dirty="0"/>
              <a:t>Малък по размер код;</a:t>
            </a:r>
          </a:p>
          <a:p>
            <a:pPr>
              <a:defRPr/>
            </a:pPr>
            <a:r>
              <a:rPr lang="ru-RU" dirty="0" err="1"/>
              <a:t>Драйверите</a:t>
            </a:r>
            <a:r>
              <a:rPr lang="ru-RU" dirty="0"/>
              <a:t> на 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 err="1"/>
              <a:t>устройствата</a:t>
            </a:r>
            <a:r>
              <a:rPr lang="ru-RU" dirty="0"/>
              <a:t> 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извън</a:t>
            </a:r>
            <a:r>
              <a:rPr lang="ru-RU" dirty="0"/>
              <a:t> </a:t>
            </a:r>
            <a:r>
              <a:rPr lang="ru-RU" dirty="0" err="1"/>
              <a:t>хипервайзора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en-US" i="1" dirty="0"/>
              <a:t>Microsoft Hyper-V, </a:t>
            </a:r>
            <a:r>
              <a:rPr lang="en-US" i="1" dirty="0" err="1"/>
              <a:t>Xen</a:t>
            </a:r>
            <a:endParaRPr lang="en-US" dirty="0"/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FC674F5A-96F9-88CE-5FBC-62BC0475F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3305175"/>
            <a:ext cx="4283075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4">
            <a:extLst>
              <a:ext uri="{FF2B5EF4-FFF2-40B4-BE49-F238E27FC236}">
                <a16:creationId xmlns:a16="http://schemas.microsoft.com/office/drawing/2014/main" id="{F2F24795-7BED-2BB4-3B17-3C1DFF4B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2753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F40968A-32CC-5901-DA12-3E639B6D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x86 modes: Privilege Levels</a:t>
            </a:r>
          </a:p>
        </p:txBody>
      </p:sp>
      <p:pic>
        <p:nvPicPr>
          <p:cNvPr id="29699" name="Content Placeholder 3">
            <a:extLst>
              <a:ext uri="{FF2B5EF4-FFF2-40B4-BE49-F238E27FC236}">
                <a16:creationId xmlns:a16="http://schemas.microsoft.com/office/drawing/2014/main" id="{74D68594-2227-D101-F902-E31C75C274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3913" y="1736725"/>
            <a:ext cx="6988175" cy="4716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9F064A2-71D7-DCEB-344C-A563ACCE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Хардуерна виртуализация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C718-CFE8-CE2F-FF60-34D9CB5E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dirty="0" err="1"/>
              <a:t>Пълна</a:t>
            </a:r>
            <a:r>
              <a:rPr lang="ru-RU" dirty="0"/>
              <a:t> виртуализация хост ОС не е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/>
              <a:t>необходимо да с е </a:t>
            </a:r>
            <a:r>
              <a:rPr lang="ru-RU" dirty="0" err="1"/>
              <a:t>модифицира</a:t>
            </a:r>
            <a:endParaRPr lang="ru-RU" dirty="0"/>
          </a:p>
          <a:p>
            <a:pPr>
              <a:defRPr/>
            </a:pPr>
            <a:r>
              <a:rPr lang="ru-RU" dirty="0"/>
              <a:t>Хост </a:t>
            </a:r>
            <a:r>
              <a:rPr lang="ru-RU" dirty="0" err="1"/>
              <a:t>базирана</a:t>
            </a:r>
            <a:r>
              <a:rPr lang="ru-RU" dirty="0"/>
              <a:t> виртуализация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 err="1"/>
              <a:t>използват</a:t>
            </a:r>
            <a:r>
              <a:rPr lang="ru-RU" dirty="0"/>
              <a:t> се и хост и гост ОС</a:t>
            </a:r>
          </a:p>
          <a:p>
            <a:pPr>
              <a:defRPr/>
            </a:pPr>
            <a:r>
              <a:rPr lang="ru-RU" dirty="0"/>
              <a:t>Пара виртуализация необходима е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/>
              <a:t>модификация на гост ОС</a:t>
            </a:r>
            <a:endParaRPr lang="en-US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BCAD138-9F90-C1DF-6FB7-1D42B8C3F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9B3FBDF1-D081-363E-FE79-D3FE31C7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Пълна виртуализация</a:t>
            </a:r>
            <a:endParaRPr lang="en-US" altLang="en-US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3A6EA48-2116-E6D4-1429-5A2DCC071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Некритичните инструкции (не контролират хардуер или не касаят сигурността на системата) се изпълняват директно върху хардуера.</a:t>
            </a:r>
          </a:p>
          <a:p>
            <a:r>
              <a:rPr lang="ru-RU" altLang="en-US"/>
              <a:t>Критичните инструкции се заменят с trap (системно извикване) към хипервайзора и се емулират софтуерно Binary translation</a:t>
            </a:r>
            <a:endParaRPr lang="en-US" altLang="en-US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98595AC-7A1B-2F55-A980-DF813241F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66218E0-AFC9-7BFC-1E50-81075B57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Пълна виртуализация</a:t>
            </a:r>
            <a:endParaRPr lang="en-US" altLang="en-US"/>
          </a:p>
        </p:txBody>
      </p:sp>
      <p:pic>
        <p:nvPicPr>
          <p:cNvPr id="32771" name="Content Placeholder 3">
            <a:extLst>
              <a:ext uri="{FF2B5EF4-FFF2-40B4-BE49-F238E27FC236}">
                <a16:creationId xmlns:a16="http://schemas.microsoft.com/office/drawing/2014/main" id="{44D59782-A178-6ACC-C91E-475C03820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7675" y="1654175"/>
            <a:ext cx="7724775" cy="4870450"/>
          </a:xfrm>
        </p:spPr>
      </p:pic>
      <p:sp>
        <p:nvSpPr>
          <p:cNvPr id="32772" name="Rectangle 4">
            <a:extLst>
              <a:ext uri="{FF2B5EF4-FFF2-40B4-BE49-F238E27FC236}">
                <a16:creationId xmlns:a16="http://schemas.microsoft.com/office/drawing/2014/main" id="{69AE9D59-B5E2-376F-BFB8-8EF16B37E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6148A998-E8C7-A2C6-6AE8-4AD6BEC2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457200"/>
            <a:ext cx="8713788" cy="1027113"/>
          </a:xfrm>
        </p:spPr>
        <p:txBody>
          <a:bodyPr/>
          <a:lstStyle/>
          <a:p>
            <a:r>
              <a:rPr lang="bg-BG" altLang="en-US" b="1"/>
              <a:t>Хост-базирана виртуализация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86DA-1093-FBFF-92B9-4E119605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dirty="0" err="1"/>
              <a:t>Използва</a:t>
            </a:r>
            <a:r>
              <a:rPr lang="ru-RU" dirty="0"/>
              <a:t> се хост ОС за управление на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 err="1"/>
              <a:t>хардуера</a:t>
            </a:r>
            <a:r>
              <a:rPr lang="ru-RU" dirty="0"/>
              <a:t> (</a:t>
            </a:r>
            <a:r>
              <a:rPr lang="ru-RU" dirty="0" err="1"/>
              <a:t>драйвери</a:t>
            </a:r>
            <a:r>
              <a:rPr lang="ru-RU" dirty="0"/>
              <a:t>).</a:t>
            </a:r>
          </a:p>
          <a:p>
            <a:pPr>
              <a:defRPr/>
            </a:pPr>
            <a:r>
              <a:rPr lang="ru-RU" dirty="0" err="1"/>
              <a:t>Лесна</a:t>
            </a:r>
            <a:r>
              <a:rPr lang="ru-RU" dirty="0"/>
              <a:t> </a:t>
            </a:r>
            <a:r>
              <a:rPr lang="ru-RU" dirty="0" err="1"/>
              <a:t>инсталация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 err="1"/>
              <a:t>Изпълнение</a:t>
            </a:r>
            <a:r>
              <a:rPr lang="ru-RU" dirty="0"/>
              <a:t> на ВМ </a:t>
            </a:r>
            <a:r>
              <a:rPr lang="ru-RU" dirty="0" err="1"/>
              <a:t>заедно</a:t>
            </a:r>
            <a:r>
              <a:rPr lang="ru-RU" dirty="0"/>
              <a:t> с </a:t>
            </a:r>
            <a:r>
              <a:rPr lang="ru-RU" dirty="0" err="1"/>
              <a:t>други</a:t>
            </a:r>
            <a:endParaRPr 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/>
              <a:t>приложения.</a:t>
            </a:r>
          </a:p>
          <a:p>
            <a:pPr>
              <a:defRPr/>
            </a:pPr>
            <a:r>
              <a:rPr lang="ru-RU" dirty="0" err="1"/>
              <a:t>Ниска</a:t>
            </a:r>
            <a:r>
              <a:rPr lang="ru-RU" dirty="0"/>
              <a:t> </a:t>
            </a:r>
            <a:r>
              <a:rPr lang="ru-RU" dirty="0" err="1"/>
              <a:t>производителност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4255ED7-E3E9-B5E7-4EB1-25B1AC5F4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>
            <a:extLst>
              <a:ext uri="{FF2B5EF4-FFF2-40B4-BE49-F238E27FC236}">
                <a16:creationId xmlns:a16="http://schemas.microsoft.com/office/drawing/2014/main" id="{09ECB14D-2476-2EC0-B48B-53AFAA91E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068638"/>
            <a:ext cx="4748212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>
            <a:extLst>
              <a:ext uri="{FF2B5EF4-FFF2-40B4-BE49-F238E27FC236}">
                <a16:creationId xmlns:a16="http://schemas.microsoft.com/office/drawing/2014/main" id="{A6BC25F4-DFB2-C1FD-B11D-11E78803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Пара-виртуализация</a:t>
            </a:r>
            <a:endParaRPr lang="en-US" altLang="en-US"/>
          </a:p>
        </p:txBody>
      </p:sp>
      <p:sp>
        <p:nvSpPr>
          <p:cNvPr id="34820" name="Content Placeholder 2">
            <a:extLst>
              <a:ext uri="{FF2B5EF4-FFF2-40B4-BE49-F238E27FC236}">
                <a16:creationId xmlns:a16="http://schemas.microsoft.com/office/drawing/2014/main" id="{43316171-2C75-A269-4741-17E330BC3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84" y="1698399"/>
            <a:ext cx="8276016" cy="5162647"/>
          </a:xfrm>
        </p:spPr>
        <p:txBody>
          <a:bodyPr/>
          <a:lstStyle/>
          <a:p>
            <a:r>
              <a:rPr lang="ru-RU" altLang="en-US"/>
              <a:t>Необходимост от модифициране на гост ОС.</a:t>
            </a:r>
          </a:p>
          <a:p>
            <a:r>
              <a:rPr lang="bg-BG" altLang="en-US"/>
              <a:t>Предоставя се специален </a:t>
            </a:r>
            <a:r>
              <a:rPr lang="en-US" altLang="en-US"/>
              <a:t>API.</a:t>
            </a:r>
          </a:p>
          <a:p>
            <a:endParaRPr lang="en-US" altLang="en-US"/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D68439B3-D81B-7521-BDB2-26104C65C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30FDF655-DED6-2D8A-2712-32529979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VMware </a:t>
            </a:r>
            <a:r>
              <a:rPr lang="bg-BG" altLang="en-US" b="1"/>
              <a:t>хипервайзор</a:t>
            </a:r>
            <a:endParaRPr lang="en-US" altLang="en-US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56981F1-BFD3-29C7-9845-F2884F42D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1999 –Workstation 1.0</a:t>
            </a:r>
          </a:p>
          <a:p>
            <a:r>
              <a:rPr lang="en-US" altLang="en-US"/>
              <a:t>2001 –ESX 1.0 (</a:t>
            </a:r>
            <a:r>
              <a:rPr lang="bg-BG" altLang="en-US"/>
              <a:t>тип 1) </a:t>
            </a:r>
            <a:r>
              <a:rPr lang="en-US" altLang="en-US"/>
              <a:t>GSX 1.0(</a:t>
            </a:r>
            <a:r>
              <a:rPr lang="bg-BG" altLang="en-US"/>
              <a:t>тип 2)</a:t>
            </a:r>
          </a:p>
          <a:p>
            <a:r>
              <a:rPr lang="en-US" altLang="en-US"/>
              <a:t>2011 –ESXi</a:t>
            </a:r>
          </a:p>
          <a:p>
            <a:r>
              <a:rPr lang="en-US" altLang="en-US" i="1"/>
              <a:t>Elastic Sky X</a:t>
            </a:r>
            <a:endParaRPr lang="en-US" altLang="en-US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D677354-48B7-C1BA-AEB8-553D06CEA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AE30FCB-50AF-D4D5-A5F1-5A42A7F8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VMware ESX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578DF-7C28-98B4-3026-91700B1C1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70" y="1726822"/>
            <a:ext cx="8171580" cy="5046605"/>
          </a:xfrm>
        </p:spPr>
        <p:txBody>
          <a:bodyPr/>
          <a:lstStyle/>
          <a:p>
            <a:pPr>
              <a:defRPr/>
            </a:pPr>
            <a:r>
              <a:rPr lang="ru-RU" dirty="0" err="1"/>
              <a:t>Използва</a:t>
            </a:r>
            <a:r>
              <a:rPr lang="ru-RU" dirty="0"/>
              <a:t> </a:t>
            </a:r>
            <a:r>
              <a:rPr lang="ru-RU" dirty="0" err="1"/>
              <a:t>Linux</a:t>
            </a:r>
            <a:r>
              <a:rPr lang="ru-RU" dirty="0"/>
              <a:t> </a:t>
            </a:r>
            <a:r>
              <a:rPr lang="ru-RU" dirty="0" err="1"/>
              <a:t>базирана</a:t>
            </a:r>
            <a:r>
              <a:rPr lang="ru-RU" dirty="0"/>
              <a:t> </a:t>
            </a:r>
            <a:r>
              <a:rPr lang="ru-RU" dirty="0" err="1"/>
              <a:t>конзола</a:t>
            </a:r>
            <a:r>
              <a:rPr lang="ru-RU" dirty="0"/>
              <a:t> за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dirty="0"/>
              <a:t>управление.</a:t>
            </a:r>
            <a:endParaRPr lang="en-US" dirty="0"/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8F7BB99C-1D45-C30E-9EB2-5FFC231A3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924175"/>
            <a:ext cx="7062788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4">
            <a:extLst>
              <a:ext uri="{FF2B5EF4-FFF2-40B4-BE49-F238E27FC236}">
                <a16:creationId xmlns:a16="http://schemas.microsoft.com/office/drawing/2014/main" id="{6FC1F13B-9CC6-9C87-33E0-7EA33EF0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9DF9EBA-518E-0367-9CB9-6D8D94C0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VMware ESXi</a:t>
            </a:r>
            <a:endParaRPr lang="en-US" altLang="en-US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934CDC0E-DEE0-1C1E-7AF6-8226D8328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773238"/>
            <a:ext cx="8229600" cy="3886200"/>
          </a:xfrm>
        </p:spPr>
        <p:txBody>
          <a:bodyPr/>
          <a:lstStyle/>
          <a:p>
            <a:r>
              <a:rPr lang="en-US" altLang="en-US"/>
              <a:t>Elastic Sky X integrated</a:t>
            </a:r>
          </a:p>
        </p:txBody>
      </p:sp>
      <p:pic>
        <p:nvPicPr>
          <p:cNvPr id="37892" name="Picture 3">
            <a:extLst>
              <a:ext uri="{FF2B5EF4-FFF2-40B4-BE49-F238E27FC236}">
                <a16:creationId xmlns:a16="http://schemas.microsoft.com/office/drawing/2014/main" id="{A159381F-3EC8-B4DB-EA25-2EEC5A4BF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2349500"/>
            <a:ext cx="6448425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4">
            <a:extLst>
              <a:ext uri="{FF2B5EF4-FFF2-40B4-BE49-F238E27FC236}">
                <a16:creationId xmlns:a16="http://schemas.microsoft.com/office/drawing/2014/main" id="{FF699757-F708-9BFC-CD94-28CF5F017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7554F8BA-916C-FB7F-A5A3-F1A74EB3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Citrix Xen</a:t>
            </a:r>
            <a:endParaRPr lang="en-US" altLang="en-US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5F916C0B-31F3-E7A4-4663-213984DA9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Проект на университета в Кембридж з</a:t>
            </a:r>
            <a:r>
              <a:rPr lang="bg-BG" altLang="en-US"/>
              <a:t>а </a:t>
            </a:r>
            <a:r>
              <a:rPr lang="ru-RU" altLang="en-US"/>
              <a:t>създаване на ефикасна платформа за разпределени изчисления;</a:t>
            </a:r>
          </a:p>
          <a:p>
            <a:r>
              <a:rPr lang="ru-RU" altLang="en-US"/>
              <a:t>2002 open source;</a:t>
            </a:r>
          </a:p>
          <a:p>
            <a:r>
              <a:rPr lang="ru-RU" altLang="en-US"/>
              <a:t>2008 Citrix Xen</a:t>
            </a:r>
          </a:p>
          <a:p>
            <a:r>
              <a:rPr lang="ru-RU" altLang="en-US"/>
              <a:t>Тип 1 bare metal.</a:t>
            </a:r>
            <a:endParaRPr lang="en-US" altLang="en-US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B754DF6-36C6-16D7-B02E-ED2F4FAE6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EED280F4-016A-2687-D4E0-100B3DE1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Citrix Xen</a:t>
            </a:r>
            <a:endParaRPr lang="en-US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009620DC-6D46-329F-04B8-A3449C7A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28775"/>
            <a:ext cx="8229600" cy="3886200"/>
          </a:xfrm>
        </p:spPr>
        <p:txBody>
          <a:bodyPr/>
          <a:lstStyle/>
          <a:p>
            <a:r>
              <a:rPr lang="en-US" altLang="en-US"/>
              <a:t>Dom0 – host domain, DomU - unprivileged</a:t>
            </a:r>
          </a:p>
        </p:txBody>
      </p:sp>
      <p:pic>
        <p:nvPicPr>
          <p:cNvPr id="39940" name="Picture 3">
            <a:extLst>
              <a:ext uri="{FF2B5EF4-FFF2-40B4-BE49-F238E27FC236}">
                <a16:creationId xmlns:a16="http://schemas.microsoft.com/office/drawing/2014/main" id="{6EDD8D98-65D5-4685-8872-023F1C4D8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73288"/>
            <a:ext cx="8132762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4">
            <a:extLst>
              <a:ext uri="{FF2B5EF4-FFF2-40B4-BE49-F238E27FC236}">
                <a16:creationId xmlns:a16="http://schemas.microsoft.com/office/drawing/2014/main" id="{6F1BBDEA-BCC3-9D5E-BB6B-FEED24714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D7843F2D-9C75-FC7D-70CE-1EBC3B84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Microsoft Hyper-V</a:t>
            </a:r>
            <a:endParaRPr lang="en-US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97AB111D-4031-1148-9E4E-66675F00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2005 Virtual Server, </a:t>
            </a:r>
            <a:r>
              <a:rPr lang="bg-BG" altLang="en-US"/>
              <a:t>базиран на</a:t>
            </a:r>
            <a:r>
              <a:rPr lang="en-US" altLang="en-US"/>
              <a:t> </a:t>
            </a:r>
            <a:r>
              <a:rPr lang="bg-BG" altLang="en-US"/>
              <a:t>разработка на </a:t>
            </a:r>
            <a:r>
              <a:rPr lang="en-US" altLang="en-US"/>
              <a:t>Connectix;</a:t>
            </a:r>
          </a:p>
          <a:p>
            <a:r>
              <a:rPr lang="bg-BG" altLang="en-US"/>
              <a:t>Тип 2</a:t>
            </a:r>
          </a:p>
          <a:p>
            <a:r>
              <a:rPr lang="bg-BG" altLang="en-US"/>
              <a:t>2008 </a:t>
            </a:r>
            <a:r>
              <a:rPr lang="en-US" altLang="en-US"/>
              <a:t>Hyper V;</a:t>
            </a:r>
          </a:p>
          <a:p>
            <a:r>
              <a:rPr lang="bg-BG" altLang="en-US"/>
              <a:t>Тип 1.</a:t>
            </a:r>
            <a:endParaRPr lang="en-US" alt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95A3180-13A1-7D0F-04DE-1B669CD7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E23550E-38C2-2FCE-6249-D174B4DE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Microsoft Hyper-V</a:t>
            </a:r>
            <a:endParaRPr lang="en-US" altLang="en-US"/>
          </a:p>
        </p:txBody>
      </p:sp>
      <p:pic>
        <p:nvPicPr>
          <p:cNvPr id="41987" name="Picture 2" descr="https://docs.microsoft.com/en-us/virtualization/hyper-v-on-windows/reference/media/hv_architecture.png">
            <a:extLst>
              <a:ext uri="{FF2B5EF4-FFF2-40B4-BE49-F238E27FC236}">
                <a16:creationId xmlns:a16="http://schemas.microsoft.com/office/drawing/2014/main" id="{59CAADC0-4DF4-F889-4C50-245055611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557338"/>
            <a:ext cx="794385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0BF2A3F-E40D-872E-3334-7FD4A707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Kernel Virtual Machine (KVM)</a:t>
            </a:r>
            <a:endParaRPr lang="en-US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19579D60-6B3C-0ACD-C29E-2E6B1F398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2006 проект на Ави Кивити</a:t>
            </a:r>
          </a:p>
          <a:p>
            <a:r>
              <a:rPr lang="ru-RU" altLang="en-US"/>
              <a:t>Част от Linux кернел 2.6;</a:t>
            </a:r>
          </a:p>
          <a:p>
            <a:r>
              <a:rPr lang="ru-RU" altLang="en-US"/>
              <a:t>Управлението на паметта и планирането на</a:t>
            </a:r>
            <a:r>
              <a:rPr lang="en-US" altLang="en-US"/>
              <a:t> </a:t>
            </a:r>
            <a:r>
              <a:rPr lang="ru-RU" altLang="en-US"/>
              <a:t>процесите се извършва от Linux ядрото;</a:t>
            </a:r>
          </a:p>
          <a:p>
            <a:r>
              <a:rPr lang="ru-RU" altLang="en-US"/>
              <a:t>Малък хипервайзор</a:t>
            </a:r>
            <a:endParaRPr lang="en-US" altLang="en-US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001DB81-EBA9-7210-4D29-2E8EC1CC4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3198ABB7-1321-DDA9-C6FB-7878DBC9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Kernel Virtual Machine (KVM)</a:t>
            </a:r>
            <a:endParaRPr lang="en-US" altLang="en-US"/>
          </a:p>
        </p:txBody>
      </p:sp>
      <p:pic>
        <p:nvPicPr>
          <p:cNvPr id="44035" name="Content Placeholder 3">
            <a:extLst>
              <a:ext uri="{FF2B5EF4-FFF2-40B4-BE49-F238E27FC236}">
                <a16:creationId xmlns:a16="http://schemas.microsoft.com/office/drawing/2014/main" id="{5FBED8AD-632D-8B16-9900-1F6CA90CA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975" y="1731963"/>
            <a:ext cx="6721475" cy="4649787"/>
          </a:xfrm>
        </p:spPr>
      </p:pic>
      <p:sp>
        <p:nvSpPr>
          <p:cNvPr id="44036" name="Rectangle 4">
            <a:extLst>
              <a:ext uri="{FF2B5EF4-FFF2-40B4-BE49-F238E27FC236}">
                <a16:creationId xmlns:a16="http://schemas.microsoft.com/office/drawing/2014/main" id="{46700E8A-CA7D-5D15-BFEC-774A819E3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606E8342-58A9-F4B5-5BB5-52963D44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/>
              <a:t>Виртуализация на хардуер</a:t>
            </a:r>
            <a:endParaRPr lang="en-US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FAD30F42-3B93-6B82-2B07-E985E69BC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/>
              <a:t>Оперативна памет</a:t>
            </a:r>
          </a:p>
          <a:p>
            <a:r>
              <a:rPr lang="bg-BG" altLang="en-US"/>
              <a:t>Процесор</a:t>
            </a:r>
          </a:p>
          <a:p>
            <a:r>
              <a:rPr lang="bg-BG" altLang="en-US"/>
              <a:t>Дисково пространство</a:t>
            </a:r>
          </a:p>
          <a:p>
            <a:r>
              <a:rPr lang="bg-BG" altLang="en-US"/>
              <a:t>Мрежов контролер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C74079A-BE8D-E844-9411-C8ED5B1D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Виртуализация на паметта</a:t>
            </a:r>
            <a:endParaRPr lang="en-US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4C070EE3-95C0-1952-43D3-3587B00A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Паметта на физическата система трябва да бъде споделена и динамично заемана за ВМ;</a:t>
            </a:r>
          </a:p>
          <a:p>
            <a:r>
              <a:rPr lang="ru-RU" altLang="en-US"/>
              <a:t>По време на изпълнение трябва да се преобразуват логическите адреси на гост процес към логически адреси на хост процес.</a:t>
            </a:r>
            <a:endParaRPr lang="en-US" altLang="en-US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71F3FD5-CAAC-944A-1F33-D6ED587C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491F81D-52E2-F6E5-81B2-191F675C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Виртуализация на паметта</a:t>
            </a:r>
            <a:endParaRPr lang="en-US" altLang="en-US"/>
          </a:p>
        </p:txBody>
      </p:sp>
      <p:pic>
        <p:nvPicPr>
          <p:cNvPr id="47107" name="Content Placeholder 3">
            <a:extLst>
              <a:ext uri="{FF2B5EF4-FFF2-40B4-BE49-F238E27FC236}">
                <a16:creationId xmlns:a16="http://schemas.microsoft.com/office/drawing/2014/main" id="{B4C3238F-A844-4DC2-CE7C-DDE02189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0650" y="1557338"/>
            <a:ext cx="5773738" cy="4981575"/>
          </a:xfrm>
        </p:spPr>
      </p:pic>
      <p:sp>
        <p:nvSpPr>
          <p:cNvPr id="47108" name="Rectangle 4">
            <a:extLst>
              <a:ext uri="{FF2B5EF4-FFF2-40B4-BE49-F238E27FC236}">
                <a16:creationId xmlns:a16="http://schemas.microsoft.com/office/drawing/2014/main" id="{BE16AD93-91FD-27DD-D19F-01DBBA6BA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E74340D9-836C-86E6-D881-F8C9E759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Оптимизация на паметта–</a:t>
            </a:r>
            <a:r>
              <a:rPr lang="en-US" altLang="en-US" b="1"/>
              <a:t>memory overcommitment</a:t>
            </a:r>
            <a:endParaRPr lang="en-US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A86FF54F-49C8-2979-AB8C-734307F40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84" y="1981200"/>
            <a:ext cx="8276016" cy="4199509"/>
          </a:xfrm>
        </p:spPr>
        <p:txBody>
          <a:bodyPr/>
          <a:lstStyle/>
          <a:p>
            <a:r>
              <a:rPr lang="ru-RU" altLang="en-US"/>
              <a:t>Възможността ВМ да използват повече памет, отколкото е наличната физическа памет.</a:t>
            </a:r>
            <a:endParaRPr lang="en-US" altLang="en-US"/>
          </a:p>
        </p:txBody>
      </p:sp>
      <p:pic>
        <p:nvPicPr>
          <p:cNvPr id="48132" name="Picture 3">
            <a:extLst>
              <a:ext uri="{FF2B5EF4-FFF2-40B4-BE49-F238E27FC236}">
                <a16:creationId xmlns:a16="http://schemas.microsoft.com/office/drawing/2014/main" id="{4AAD0E9E-05CE-C079-D499-8DDDC875E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89363"/>
            <a:ext cx="823595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4">
            <a:extLst>
              <a:ext uri="{FF2B5EF4-FFF2-40B4-BE49-F238E27FC236}">
                <a16:creationId xmlns:a16="http://schemas.microsoft.com/office/drawing/2014/main" id="{ABA4D715-E725-805C-475E-259A12B3B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92" y="6202476"/>
            <a:ext cx="5028708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3F6199E0-7776-7F33-9861-C5589FBB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/>
              <a:t>Оптимизация на паметта–споделяне на страници</a:t>
            </a:r>
            <a:endParaRPr lang="en-US" altLang="en-US"/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5E473190-9721-D6B8-3113-8B5DB58A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981200"/>
            <a:ext cx="8785225" cy="3886200"/>
          </a:xfrm>
        </p:spPr>
        <p:txBody>
          <a:bodyPr/>
          <a:lstStyle/>
          <a:p>
            <a:r>
              <a:rPr lang="ru-RU" altLang="en-US" sz="2000"/>
              <a:t>Някои ВМ могат да имат идентично множество от страници от паметта (едни и същи ОС, приложения или данни);</a:t>
            </a:r>
          </a:p>
          <a:p>
            <a:r>
              <a:rPr lang="ru-RU" altLang="en-US" sz="2000"/>
              <a:t>Хипервайзорът поддържа в паметта само едно копие на страницата, споделяно между ВМ;</a:t>
            </a:r>
          </a:p>
          <a:p>
            <a:r>
              <a:rPr lang="ru-RU" altLang="en-US" sz="2000"/>
              <a:t>Ако ВМ модифицира страница, хипервайзорът създава нейно ново копие само за тази ВМ (Copy on Write)</a:t>
            </a:r>
            <a:endParaRPr lang="en-US" altLang="en-US" sz="2000"/>
          </a:p>
        </p:txBody>
      </p:sp>
      <p:pic>
        <p:nvPicPr>
          <p:cNvPr id="49156" name="Picture 3">
            <a:extLst>
              <a:ext uri="{FF2B5EF4-FFF2-40B4-BE49-F238E27FC236}">
                <a16:creationId xmlns:a16="http://schemas.microsoft.com/office/drawing/2014/main" id="{136E2F6A-FF57-DD5C-DE1A-E53AD5913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933825"/>
            <a:ext cx="52165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4">
            <a:extLst>
              <a:ext uri="{FF2B5EF4-FFF2-40B4-BE49-F238E27FC236}">
                <a16:creationId xmlns:a16="http://schemas.microsoft.com/office/drawing/2014/main" id="{BECCEF63-2323-A1EF-C6E4-6E9BCFA09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945A7FF4-2854-7289-A1A3-08E03227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Context Based Page Sharing Algorithm</a:t>
            </a:r>
            <a:endParaRPr lang="en-US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90A604EA-5EE0-9EE2-54DD-1B7B9BA8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828800"/>
            <a:ext cx="8712200" cy="3886200"/>
          </a:xfrm>
        </p:spPr>
        <p:txBody>
          <a:bodyPr/>
          <a:lstStyle/>
          <a:p>
            <a:r>
              <a:rPr lang="ru-RU" altLang="en-US" sz="2400"/>
              <a:t>Генерира се хеш на база съдържанието на страница на</a:t>
            </a:r>
            <a:r>
              <a:rPr lang="en-US" altLang="en-US" sz="2400"/>
              <a:t> </a:t>
            </a:r>
            <a:r>
              <a:rPr lang="ru-RU" altLang="en-US" sz="2400"/>
              <a:t>госта.</a:t>
            </a:r>
          </a:p>
          <a:p>
            <a:r>
              <a:rPr lang="ru-RU" altLang="en-US" sz="2400"/>
              <a:t>Използва се глобална хеш таблица, съдържаща хеш и</a:t>
            </a:r>
            <a:r>
              <a:rPr lang="en-US" altLang="en-US" sz="2400"/>
              <a:t> </a:t>
            </a:r>
            <a:r>
              <a:rPr lang="ru-RU" altLang="en-US" sz="2400"/>
              <a:t>номер на физическата страница за съответната</a:t>
            </a:r>
            <a:r>
              <a:rPr lang="en-US" altLang="en-US" sz="2400"/>
              <a:t> </a:t>
            </a:r>
            <a:r>
              <a:rPr lang="ru-RU" altLang="en-US" sz="2400"/>
              <a:t>споделена;</a:t>
            </a:r>
          </a:p>
          <a:p>
            <a:r>
              <a:rPr lang="ru-RU" altLang="en-US" sz="2400"/>
              <a:t>При съвпадение на хеша с този в елемент, се извършва</a:t>
            </a:r>
            <a:r>
              <a:rPr lang="en-US" altLang="en-US" sz="2400"/>
              <a:t> </a:t>
            </a:r>
            <a:r>
              <a:rPr lang="ru-RU" altLang="en-US" sz="2400"/>
              <a:t>пълно сравняване на съдържанието на страницата за</a:t>
            </a:r>
            <a:r>
              <a:rPr lang="en-US" altLang="en-US" sz="2400"/>
              <a:t> </a:t>
            </a:r>
            <a:r>
              <a:rPr lang="ru-RU" altLang="en-US" sz="2400"/>
              <a:t>избягване на фалшиво съвпадение;</a:t>
            </a:r>
          </a:p>
          <a:p>
            <a:r>
              <a:rPr lang="ru-RU" altLang="en-US" sz="2400"/>
              <a:t>При потвърждение за съвпадение, съпоставянето</a:t>
            </a:r>
            <a:r>
              <a:rPr lang="en-US" altLang="en-US" sz="2400"/>
              <a:t> </a:t>
            </a:r>
            <a:r>
              <a:rPr lang="ru-RU" altLang="en-US" sz="2400"/>
              <a:t>между гост физическа към хост физическа страница се</a:t>
            </a:r>
            <a:r>
              <a:rPr lang="en-US" altLang="en-US" sz="2400"/>
              <a:t> </a:t>
            </a:r>
            <a:r>
              <a:rPr lang="ru-RU" altLang="en-US" sz="2400"/>
              <a:t>променя на гост физическа към споделена хост</a:t>
            </a:r>
            <a:r>
              <a:rPr lang="en-US" altLang="en-US" sz="2400"/>
              <a:t> </a:t>
            </a:r>
            <a:r>
              <a:rPr lang="ru-RU" altLang="en-US" sz="2400"/>
              <a:t>физическа страница. Излишното копие в паметта се</a:t>
            </a:r>
            <a:r>
              <a:rPr lang="en-US" altLang="en-US" sz="2400"/>
              <a:t> </a:t>
            </a:r>
            <a:r>
              <a:rPr lang="ru-RU" altLang="en-US" sz="2400"/>
              <a:t>освобождава.</a:t>
            </a:r>
            <a:endParaRPr lang="en-US" altLang="en-US" sz="2400"/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F461BD3-746E-2447-3232-C6CB1A8B2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6346825"/>
            <a:ext cx="5040313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A65886E3-E8B2-4A16-687C-7D47EE07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Context Based Page Sharing Algorithm</a:t>
            </a:r>
            <a:endParaRPr lang="en-US" altLang="en-US"/>
          </a:p>
        </p:txBody>
      </p:sp>
      <p:pic>
        <p:nvPicPr>
          <p:cNvPr id="51203" name="Content Placeholder 3">
            <a:extLst>
              <a:ext uri="{FF2B5EF4-FFF2-40B4-BE49-F238E27FC236}">
                <a16:creationId xmlns:a16="http://schemas.microsoft.com/office/drawing/2014/main" id="{72FAB1B8-0EED-7135-3996-642659A76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8300" y="2024063"/>
            <a:ext cx="8451850" cy="3781425"/>
          </a:xfrm>
        </p:spPr>
      </p:pic>
      <p:sp>
        <p:nvSpPr>
          <p:cNvPr id="51204" name="Rectangle 4">
            <a:extLst>
              <a:ext uri="{FF2B5EF4-FFF2-40B4-BE49-F238E27FC236}">
                <a16:creationId xmlns:a16="http://schemas.microsoft.com/office/drawing/2014/main" id="{C5D0EFC7-D954-05B4-8472-249183C07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6821FF14-907B-53D2-52A2-DED2291C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Оптимизация на паметта–</a:t>
            </a:r>
            <a:r>
              <a:rPr lang="en-US" altLang="en-US" b="1"/>
              <a:t>ballooning</a:t>
            </a:r>
            <a:endParaRPr lang="en-US" altLang="en-US"/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577E563E-78B9-53A3-C490-5C19F7468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7050"/>
            <a:ext cx="8362950" cy="3886200"/>
          </a:xfrm>
        </p:spPr>
        <p:txBody>
          <a:bodyPr/>
          <a:lstStyle/>
          <a:p>
            <a:r>
              <a:rPr lang="ru-RU" altLang="en-US" sz="2400"/>
              <a:t>При наличие на много ВМ може да настъпи намаляване</a:t>
            </a:r>
            <a:r>
              <a:rPr lang="en-US" altLang="en-US" sz="2400"/>
              <a:t> </a:t>
            </a:r>
            <a:r>
              <a:rPr lang="ru-RU" altLang="en-US" sz="2400"/>
              <a:t>на свободната памет на хоста;</a:t>
            </a:r>
          </a:p>
          <a:p>
            <a:r>
              <a:rPr lang="ru-RU" altLang="en-US" sz="2400"/>
              <a:t>ВМ не могат да установят намаляването на паметта на</a:t>
            </a:r>
            <a:r>
              <a:rPr lang="en-US" altLang="en-US" sz="2400"/>
              <a:t> </a:t>
            </a:r>
            <a:r>
              <a:rPr lang="ru-RU" altLang="en-US" sz="2400"/>
              <a:t>хоста и не могат да освободят физическа памет;</a:t>
            </a:r>
          </a:p>
          <a:p>
            <a:r>
              <a:rPr lang="ru-RU" altLang="en-US" sz="2400"/>
              <a:t>Използва се специален balloon драйвер, зареден в ОС</a:t>
            </a:r>
            <a:r>
              <a:rPr lang="en-US" altLang="en-US" sz="2400"/>
              <a:t> </a:t>
            </a:r>
            <a:r>
              <a:rPr lang="ru-RU" altLang="en-US" sz="2400"/>
              <a:t>на госта (vmmemctl</a:t>
            </a:r>
            <a:r>
              <a:rPr lang="en-US" altLang="en-US" sz="2400"/>
              <a:t>) </a:t>
            </a:r>
            <a:r>
              <a:rPr lang="ru-RU" altLang="en-US" sz="2400"/>
              <a:t>Хипервайзорът комуникира с него;</a:t>
            </a:r>
          </a:p>
          <a:p>
            <a:r>
              <a:rPr lang="ru-RU" altLang="en-US" sz="2400"/>
              <a:t>При необходимост от освобождаване на памет на госта,</a:t>
            </a:r>
            <a:r>
              <a:rPr lang="en-US" altLang="en-US" sz="2400"/>
              <a:t> </a:t>
            </a:r>
            <a:r>
              <a:rPr lang="ru-RU" altLang="en-US" sz="2400"/>
              <a:t>хипервайзорът изпраща на драйвера съответния</a:t>
            </a:r>
            <a:r>
              <a:rPr lang="en-US" altLang="en-US" sz="2400"/>
              <a:t> </a:t>
            </a:r>
            <a:r>
              <a:rPr lang="ru-RU" altLang="en-US" sz="2400"/>
              <a:t>размер;</a:t>
            </a:r>
          </a:p>
          <a:p>
            <a:r>
              <a:rPr lang="ru-RU" altLang="en-US" sz="2400"/>
              <a:t>Драйверът „надува“ чрез заявяване на нови физически</a:t>
            </a:r>
            <a:r>
              <a:rPr lang="en-US" altLang="en-US" sz="2400"/>
              <a:t> </a:t>
            </a:r>
            <a:r>
              <a:rPr lang="ru-RU" altLang="en-US" sz="2400"/>
              <a:t>страници от госта.</a:t>
            </a:r>
            <a:endParaRPr lang="en-US" altLang="en-US" sz="2400"/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D0BB92F-8669-7ADE-5E95-BA1A47A27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4AB4AD2-13AE-0789-A1D1-03D5437D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ballooning</a:t>
            </a:r>
            <a:endParaRPr lang="en-US" altLang="en-US"/>
          </a:p>
        </p:txBody>
      </p:sp>
      <p:pic>
        <p:nvPicPr>
          <p:cNvPr id="53251" name="Content Placeholder 3">
            <a:extLst>
              <a:ext uri="{FF2B5EF4-FFF2-40B4-BE49-F238E27FC236}">
                <a16:creationId xmlns:a16="http://schemas.microsoft.com/office/drawing/2014/main" id="{10F34D5F-0F54-E41C-2E21-37607514C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763" y="2636838"/>
            <a:ext cx="8428037" cy="3024187"/>
          </a:xfrm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9CDE5CA4-88EC-48FC-4E53-AA9857562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DA40F4A-7BDC-83E7-3CD0-C4564339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Оптимизация на паметта–</a:t>
            </a:r>
            <a:r>
              <a:rPr lang="en-US" altLang="en-US" b="1"/>
              <a:t>Hypervisor swapping</a:t>
            </a:r>
            <a:endParaRPr lang="en-US" altLang="en-US"/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5BA5C6DB-3B95-6D8F-7F98-B8A0FB08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844675"/>
            <a:ext cx="8856663" cy="3886200"/>
          </a:xfrm>
        </p:spPr>
        <p:txBody>
          <a:bodyPr/>
          <a:lstStyle/>
          <a:p>
            <a:r>
              <a:rPr lang="ru-RU" altLang="en-US"/>
              <a:t>Ако техниките на ballooning и споделените страници не</a:t>
            </a:r>
            <a:r>
              <a:rPr lang="en-US" altLang="en-US"/>
              <a:t> </a:t>
            </a:r>
            <a:r>
              <a:rPr lang="ru-RU" altLang="en-US"/>
              <a:t>са достатъчни, хипервайзорът извършва swapping на</a:t>
            </a:r>
            <a:r>
              <a:rPr lang="en-US" altLang="en-US"/>
              <a:t> </a:t>
            </a:r>
            <a:r>
              <a:rPr lang="ru-RU" altLang="en-US"/>
              <a:t>паметта на госта.</a:t>
            </a:r>
          </a:p>
          <a:p>
            <a:r>
              <a:rPr lang="ru-RU" altLang="en-US"/>
              <a:t>За всяка ВМ при стартирането й се създава swap файл.</a:t>
            </a:r>
          </a:p>
          <a:p>
            <a:r>
              <a:rPr lang="ru-RU" altLang="en-US"/>
              <a:t>Хипервайзорът може директно да изхвърли</a:t>
            </a:r>
            <a:r>
              <a:rPr lang="en-US" altLang="en-US"/>
              <a:t> </a:t>
            </a:r>
            <a:r>
              <a:rPr lang="ru-RU" altLang="en-US"/>
              <a:t>физическата памет на госта.</a:t>
            </a:r>
          </a:p>
          <a:p>
            <a:r>
              <a:rPr lang="ru-RU" altLang="en-US"/>
              <a:t>Има влияние на производителността на гост ОС.</a:t>
            </a:r>
            <a:endParaRPr lang="en-US" altLang="en-US"/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7DA50F8-9111-C140-DA20-516763FA5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8190140-7869-F622-09C1-F520F8CE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/>
              <a:t>Оптимизация на паметта</a:t>
            </a:r>
            <a:r>
              <a:rPr lang="en-US" altLang="en-US" b="1"/>
              <a:t> </a:t>
            </a:r>
            <a:r>
              <a:rPr lang="ru-RU" altLang="en-US" b="1"/>
              <a:t>–компресия на паметта</a:t>
            </a:r>
            <a:endParaRPr lang="en-US" altLang="en-US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E1BC3DDA-F46B-655B-50AB-E24AA7934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Идея: изхвърлените страници се компресират и се съхраняват в кеш в паметта.</a:t>
            </a:r>
          </a:p>
          <a:p>
            <a:endParaRPr lang="en-US" altLang="en-US"/>
          </a:p>
        </p:txBody>
      </p:sp>
      <p:pic>
        <p:nvPicPr>
          <p:cNvPr id="55300" name="Picture 3">
            <a:extLst>
              <a:ext uri="{FF2B5EF4-FFF2-40B4-BE49-F238E27FC236}">
                <a16:creationId xmlns:a16="http://schemas.microsoft.com/office/drawing/2014/main" id="{63052559-E312-9EDC-5D0B-AEF939F06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633788"/>
            <a:ext cx="7346950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Rectangle 4">
            <a:extLst>
              <a:ext uri="{FF2B5EF4-FFF2-40B4-BE49-F238E27FC236}">
                <a16:creationId xmlns:a16="http://schemas.microsoft.com/office/drawing/2014/main" id="{6FA14E2B-87FA-1F07-26D2-C8EA0146E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E8669B31-6CEA-29A0-A432-67A820C3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57200"/>
            <a:ext cx="7993063" cy="1371600"/>
          </a:xfrm>
        </p:spPr>
        <p:txBody>
          <a:bodyPr/>
          <a:lstStyle/>
          <a:p>
            <a:r>
              <a:rPr lang="ru-RU" altLang="en-US" b="1"/>
              <a:t>Управление на паметта при</a:t>
            </a:r>
            <a:r>
              <a:rPr lang="en-US" altLang="en-US" b="1"/>
              <a:t> E</a:t>
            </a:r>
            <a:r>
              <a:rPr lang="ru-RU" altLang="en-US" b="1"/>
              <a:t>SX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FCBF-C042-A2E4-97BA-19E6288F8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31975"/>
            <a:ext cx="8856662" cy="3886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Предоставят се 3 </a:t>
            </a:r>
            <a:r>
              <a:rPr lang="ru-RU" sz="2400" dirty="0" err="1"/>
              <a:t>параметъра</a:t>
            </a:r>
            <a:r>
              <a:rPr lang="ru-RU" sz="2400" dirty="0"/>
              <a:t> за </a:t>
            </a:r>
            <a:r>
              <a:rPr lang="ru-RU" sz="2400" dirty="0" err="1"/>
              <a:t>контрол</a:t>
            </a:r>
            <a:r>
              <a:rPr lang="ru-RU" sz="2400" dirty="0"/>
              <a:t> на </a:t>
            </a:r>
            <a:r>
              <a:rPr lang="ru-RU" sz="2400" dirty="0" err="1"/>
              <a:t>паметта</a:t>
            </a:r>
            <a:r>
              <a:rPr lang="ru-RU" sz="2400" dirty="0"/>
              <a:t> на хоста:</a:t>
            </a:r>
          </a:p>
          <a:p>
            <a:pPr>
              <a:defRPr/>
            </a:pPr>
            <a:r>
              <a:rPr lang="ru-RU" sz="2400" b="1" dirty="0" err="1"/>
              <a:t>Reservation</a:t>
            </a:r>
            <a:r>
              <a:rPr lang="en-US" sz="2400" b="1" dirty="0"/>
              <a:t> </a:t>
            </a:r>
            <a:r>
              <a:rPr lang="ru-RU" sz="2400" dirty="0"/>
              <a:t>–</a:t>
            </a:r>
            <a:r>
              <a:rPr lang="en-US" sz="2400" dirty="0"/>
              <a:t> </a:t>
            </a:r>
            <a:r>
              <a:rPr lang="ru-RU" sz="2400" dirty="0" err="1"/>
              <a:t>гарантира</a:t>
            </a:r>
            <a:r>
              <a:rPr lang="ru-RU" sz="2400" dirty="0"/>
              <a:t> </a:t>
            </a:r>
            <a:r>
              <a:rPr lang="ru-RU" sz="2400" dirty="0" err="1"/>
              <a:t>долната</a:t>
            </a:r>
            <a:r>
              <a:rPr lang="ru-RU" sz="2400" dirty="0"/>
              <a:t> граница на </a:t>
            </a:r>
            <a:r>
              <a:rPr lang="ru-RU" sz="2400" dirty="0" err="1"/>
              <a:t>паметта</a:t>
            </a:r>
            <a:r>
              <a:rPr lang="ru-RU" sz="2400" dirty="0"/>
              <a:t> на хоста, </a:t>
            </a:r>
            <a:r>
              <a:rPr lang="ru-RU" sz="2400" dirty="0" err="1"/>
              <a:t>резервирана</a:t>
            </a:r>
            <a:r>
              <a:rPr lang="ru-RU" sz="2400" dirty="0"/>
              <a:t> за ВМ, даже и </a:t>
            </a:r>
            <a:r>
              <a:rPr lang="ru-RU" sz="2400" dirty="0" err="1"/>
              <a:t>когато</a:t>
            </a:r>
            <a:r>
              <a:rPr lang="ru-RU" sz="2400" dirty="0"/>
              <a:t> </a:t>
            </a:r>
            <a:r>
              <a:rPr lang="ru-RU" sz="2400" dirty="0" err="1"/>
              <a:t>паметта</a:t>
            </a:r>
            <a:r>
              <a:rPr lang="ru-RU" sz="2400" dirty="0"/>
              <a:t> </a:t>
            </a:r>
            <a:r>
              <a:rPr lang="ru-RU" sz="2400" dirty="0" err="1"/>
              <a:t>му</a:t>
            </a:r>
            <a:r>
              <a:rPr lang="ru-RU" sz="2400" dirty="0"/>
              <a:t> е </a:t>
            </a:r>
            <a:r>
              <a:rPr lang="ru-RU" sz="2400" dirty="0" err="1"/>
              <a:t>overcommitted</a:t>
            </a:r>
            <a:r>
              <a:rPr lang="ru-RU" sz="2400" dirty="0"/>
              <a:t>.</a:t>
            </a:r>
          </a:p>
          <a:p>
            <a:pPr>
              <a:defRPr/>
            </a:pPr>
            <a:r>
              <a:rPr lang="ru-RU" sz="2400" b="1" dirty="0" err="1"/>
              <a:t>Limit</a:t>
            </a:r>
            <a:r>
              <a:rPr lang="ru-RU" sz="2400" dirty="0"/>
              <a:t>–</a:t>
            </a:r>
            <a:r>
              <a:rPr lang="ru-RU" sz="2400" dirty="0" err="1"/>
              <a:t>горната</a:t>
            </a:r>
            <a:r>
              <a:rPr lang="ru-RU" sz="2400" dirty="0"/>
              <a:t> граница от </a:t>
            </a:r>
            <a:r>
              <a:rPr lang="ru-RU" sz="2400" dirty="0" err="1"/>
              <a:t>паметта</a:t>
            </a:r>
            <a:r>
              <a:rPr lang="ru-RU" sz="2400" dirty="0"/>
              <a:t> на хоста, </a:t>
            </a:r>
            <a:r>
              <a:rPr lang="ru-RU" sz="2400" dirty="0" err="1"/>
              <a:t>заета</a:t>
            </a:r>
            <a:r>
              <a:rPr lang="ru-RU" sz="2400" dirty="0"/>
              <a:t> за ВМ.</a:t>
            </a:r>
          </a:p>
          <a:p>
            <a:pPr>
              <a:defRPr/>
            </a:pPr>
            <a:r>
              <a:rPr lang="ru-RU" sz="2400" b="1" dirty="0" err="1"/>
              <a:t>Shares</a:t>
            </a:r>
            <a:r>
              <a:rPr lang="ru-RU" sz="2400" dirty="0"/>
              <a:t>–право на ВМ да </a:t>
            </a:r>
            <a:r>
              <a:rPr lang="ru-RU" sz="2400" dirty="0" err="1"/>
              <a:t>използва</a:t>
            </a:r>
            <a:r>
              <a:rPr lang="ru-RU" sz="2400" dirty="0"/>
              <a:t> част от </a:t>
            </a:r>
            <a:r>
              <a:rPr lang="ru-RU" sz="2400" dirty="0" err="1"/>
              <a:t>наличната</a:t>
            </a:r>
            <a:r>
              <a:rPr lang="ru-RU" sz="2400" dirty="0"/>
              <a:t> </a:t>
            </a:r>
            <a:r>
              <a:rPr lang="ru-RU" sz="2400" dirty="0" err="1"/>
              <a:t>памет</a:t>
            </a:r>
            <a:r>
              <a:rPr lang="ru-RU" sz="2400" dirty="0"/>
              <a:t> на хоста, </a:t>
            </a:r>
            <a:r>
              <a:rPr lang="ru-RU" sz="2400" dirty="0" err="1"/>
              <a:t>базирано</a:t>
            </a:r>
            <a:r>
              <a:rPr lang="ru-RU" sz="2400" dirty="0"/>
              <a:t> на </a:t>
            </a:r>
            <a:r>
              <a:rPr lang="ru-RU" sz="2400" dirty="0" err="1"/>
              <a:t>политиката</a:t>
            </a:r>
            <a:r>
              <a:rPr lang="ru-RU" sz="2400" dirty="0"/>
              <a:t> за </a:t>
            </a:r>
            <a:r>
              <a:rPr lang="ru-RU" sz="2400" dirty="0" err="1"/>
              <a:t>пропорционално</a:t>
            </a:r>
            <a:r>
              <a:rPr lang="ru-RU" sz="2400" dirty="0"/>
              <a:t> </a:t>
            </a:r>
            <a:r>
              <a:rPr lang="ru-RU" sz="2400" dirty="0" err="1"/>
              <a:t>споделено</a:t>
            </a:r>
            <a:r>
              <a:rPr lang="ru-RU" sz="2400" dirty="0"/>
              <a:t> </a:t>
            </a:r>
            <a:r>
              <a:rPr lang="ru-RU" sz="2400" dirty="0" err="1"/>
              <a:t>заемане</a:t>
            </a:r>
            <a:r>
              <a:rPr lang="ru-RU" sz="2400" dirty="0"/>
              <a:t> на </a:t>
            </a:r>
            <a:r>
              <a:rPr lang="ru-RU" sz="2400" dirty="0" err="1"/>
              <a:t>страници</a:t>
            </a:r>
            <a:r>
              <a:rPr lang="ru-RU" sz="2400" dirty="0"/>
              <a:t>. Например, ВМ с два </a:t>
            </a:r>
            <a:r>
              <a:rPr lang="ru-RU" sz="2400" dirty="0" err="1"/>
              <a:t>пъти</a:t>
            </a:r>
            <a:r>
              <a:rPr lang="ru-RU" sz="2400" dirty="0"/>
              <a:t> </a:t>
            </a:r>
            <a:r>
              <a:rPr lang="ru-RU" sz="2400" dirty="0" err="1"/>
              <a:t>повече</a:t>
            </a:r>
            <a:r>
              <a:rPr lang="ru-RU" sz="2400" dirty="0"/>
              <a:t> </a:t>
            </a:r>
            <a:r>
              <a:rPr lang="ru-RU" sz="2400" dirty="0" err="1"/>
              <a:t>споделени</a:t>
            </a:r>
            <a:r>
              <a:rPr lang="ru-RU" sz="2400" dirty="0"/>
              <a:t> </a:t>
            </a:r>
            <a:r>
              <a:rPr lang="ru-RU" sz="2400" dirty="0" err="1"/>
              <a:t>shares</a:t>
            </a:r>
            <a:r>
              <a:rPr lang="ru-RU" sz="2400" dirty="0"/>
              <a:t> </a:t>
            </a:r>
            <a:r>
              <a:rPr lang="ru-RU" sz="2400" dirty="0" err="1"/>
              <a:t>спрямо</a:t>
            </a:r>
            <a:r>
              <a:rPr lang="ru-RU" sz="2400" dirty="0"/>
              <a:t> друга </a:t>
            </a:r>
            <a:r>
              <a:rPr lang="ru-RU" sz="2400" dirty="0" err="1"/>
              <a:t>има</a:t>
            </a:r>
            <a:r>
              <a:rPr lang="ru-RU" sz="2400" dirty="0"/>
              <a:t> право да </a:t>
            </a:r>
            <a:r>
              <a:rPr lang="ru-RU" sz="2400" dirty="0" err="1"/>
              <a:t>използва</a:t>
            </a:r>
            <a:r>
              <a:rPr lang="ru-RU" sz="2400" dirty="0"/>
              <a:t> два </a:t>
            </a:r>
            <a:r>
              <a:rPr lang="ru-RU" sz="2400" dirty="0" err="1"/>
              <a:t>пъти</a:t>
            </a:r>
            <a:r>
              <a:rPr lang="ru-RU" sz="2400" dirty="0"/>
              <a:t> </a:t>
            </a:r>
            <a:r>
              <a:rPr lang="ru-RU" sz="2400" dirty="0" err="1"/>
              <a:t>повече</a:t>
            </a:r>
            <a:r>
              <a:rPr lang="ru-RU" sz="2400" dirty="0"/>
              <a:t> </a:t>
            </a:r>
            <a:r>
              <a:rPr lang="ru-RU" sz="2400" dirty="0" err="1"/>
              <a:t>памет</a:t>
            </a:r>
            <a:r>
              <a:rPr lang="ru-RU" sz="2400" dirty="0"/>
              <a:t> (</a:t>
            </a:r>
            <a:r>
              <a:rPr lang="ru-RU" sz="2400" dirty="0" err="1"/>
              <a:t>съобразено</a:t>
            </a:r>
            <a:r>
              <a:rPr lang="ru-RU" sz="2400" dirty="0"/>
              <a:t> с </a:t>
            </a:r>
            <a:r>
              <a:rPr lang="ru-RU" sz="2400" dirty="0" err="1"/>
              <a:t>резервацията</a:t>
            </a:r>
            <a:r>
              <a:rPr lang="ru-RU" sz="2400" dirty="0"/>
              <a:t> и лимита).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53666416-E696-FD02-6759-6FE9039B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37288"/>
            <a:ext cx="504031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en-US" sz="1100">
                <a:solidFill>
                  <a:srgbClr val="000000"/>
                </a:solidFill>
              </a:rPr>
              <a:t> </a:t>
            </a:r>
            <a:r>
              <a:rPr lang="bg-BG" altLang="en-US" sz="1800" b="1">
                <a:solidFill>
                  <a:srgbClr val="006FC0"/>
                </a:solidFill>
              </a:rPr>
              <a:t>доц. д-р инж. Христо Вълчанов</a:t>
            </a:r>
            <a:r>
              <a:rPr lang="en-US" altLang="en-US" sz="1800" b="1">
                <a:solidFill>
                  <a:srgbClr val="006FC0"/>
                </a:solidFill>
              </a:rPr>
              <a:t>, </a:t>
            </a:r>
            <a:r>
              <a:rPr lang="bg-BG" altLang="en-US" sz="1800" b="1">
                <a:solidFill>
                  <a:srgbClr val="006FC0"/>
                </a:solidFill>
              </a:rPr>
              <a:t>ТУ Варна</a:t>
            </a:r>
            <a:endParaRPr lang="en-US" altLang="en-US"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F8F66C73-4593-185F-E8D8-6462525E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Виртуализация на процесора</a:t>
            </a:r>
            <a:endParaRPr lang="en-US" altLang="en-US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51729AB5-3EF4-82F7-0421-8FA9EEE9C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ru-RU" altLang="en-US"/>
              <a:t>Трябва да има много малка или никаква разлика в производителността между виртуална машина и физическият й еквивалент.</a:t>
            </a:r>
          </a:p>
          <a:p>
            <a:r>
              <a:rPr lang="en-US" altLang="en-US" i="1"/>
              <a:t>Popek, Golberg</a:t>
            </a: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2C209FF1-8E3C-A994-AEB8-A12CC365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Виртуализация на процесора</a:t>
            </a:r>
            <a:endParaRPr lang="en-US" altLang="en-US"/>
          </a:p>
        </p:txBody>
      </p:sp>
      <p:pic>
        <p:nvPicPr>
          <p:cNvPr id="58371" name="Content Placeholder 3">
            <a:extLst>
              <a:ext uri="{FF2B5EF4-FFF2-40B4-BE49-F238E27FC236}">
                <a16:creationId xmlns:a16="http://schemas.microsoft.com/office/drawing/2014/main" id="{CB12C439-ABCF-81A1-9FA8-FB5B6D9F1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5600" y="2205038"/>
            <a:ext cx="8788400" cy="381635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02AD56D-3D92-EBC0-76BF-D6F2876C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/>
              <a:t>Нива на привилегии на процесора</a:t>
            </a:r>
            <a:endParaRPr lang="en-US" altLang="en-US"/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1E74212D-FD32-45BF-693F-CC79A6453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4043363" cy="3886200"/>
          </a:xfrm>
        </p:spPr>
        <p:txBody>
          <a:bodyPr/>
          <a:lstStyle/>
          <a:p>
            <a:r>
              <a:rPr lang="ru-RU" altLang="en-US"/>
              <a:t>Х86 архитектура на</a:t>
            </a:r>
            <a:r>
              <a:rPr lang="en-US" altLang="en-US"/>
              <a:t> </a:t>
            </a:r>
            <a:r>
              <a:rPr lang="ru-RU" altLang="en-US"/>
              <a:t>привилегии: 4 нива</a:t>
            </a:r>
          </a:p>
          <a:p>
            <a:r>
              <a:rPr lang="ru-RU" altLang="en-US"/>
              <a:t>В повечето</a:t>
            </a:r>
            <a:r>
              <a:rPr lang="en-US" altLang="en-US"/>
              <a:t> </a:t>
            </a:r>
            <a:r>
              <a:rPr lang="ru-RU" altLang="en-US"/>
              <a:t>съвременни системи</a:t>
            </a:r>
            <a:r>
              <a:rPr lang="en-US" altLang="en-US"/>
              <a:t> </a:t>
            </a:r>
            <a:r>
              <a:rPr lang="ru-RU" altLang="en-US"/>
              <a:t>нива 1 и 2 не се</a:t>
            </a:r>
            <a:r>
              <a:rPr lang="en-US" altLang="en-US"/>
              <a:t> </a:t>
            </a:r>
            <a:r>
              <a:rPr lang="ru-RU" altLang="en-US"/>
              <a:t>използват</a:t>
            </a:r>
            <a:endParaRPr lang="en-US" altLang="en-US"/>
          </a:p>
        </p:txBody>
      </p:sp>
      <p:pic>
        <p:nvPicPr>
          <p:cNvPr id="59396" name="Picture 3">
            <a:extLst>
              <a:ext uri="{FF2B5EF4-FFF2-40B4-BE49-F238E27FC236}">
                <a16:creationId xmlns:a16="http://schemas.microsoft.com/office/drawing/2014/main" id="{07D02500-8F20-5AB0-A0B3-20CB218F8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2205038"/>
            <a:ext cx="43021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27207D94-32CC-CDE9-1733-F34594EC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Изпълнение при не-виртуализирана система</a:t>
            </a:r>
            <a:endParaRPr lang="en-US" altLang="en-US"/>
          </a:p>
        </p:txBody>
      </p:sp>
      <p:pic>
        <p:nvPicPr>
          <p:cNvPr id="60419" name="Content Placeholder 3">
            <a:extLst>
              <a:ext uri="{FF2B5EF4-FFF2-40B4-BE49-F238E27FC236}">
                <a16:creationId xmlns:a16="http://schemas.microsoft.com/office/drawing/2014/main" id="{BB55A856-6D33-74ED-41DD-7F8C0F57E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6975" y="1871663"/>
            <a:ext cx="5967413" cy="4725987"/>
          </a:xfr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6330A6D1-CCD6-9A66-46E0-625E9914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Бинарно транслиране</a:t>
            </a:r>
            <a:endParaRPr lang="en-US" altLang="en-US"/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F2453EEE-006A-28B2-576C-8AC277C3A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3609975" cy="4760913"/>
          </a:xfrm>
        </p:spPr>
        <p:txBody>
          <a:bodyPr/>
          <a:lstStyle/>
          <a:p>
            <a:r>
              <a:rPr lang="ru-RU" altLang="en-US"/>
              <a:t>Компресия на ринга</a:t>
            </a:r>
          </a:p>
          <a:p>
            <a:r>
              <a:rPr lang="ru-RU" altLang="en-US"/>
              <a:t>Бинарно транслиране</a:t>
            </a:r>
          </a:p>
          <a:p>
            <a:r>
              <a:rPr lang="ru-RU" altLang="en-US"/>
              <a:t>Директно изпълнение</a:t>
            </a:r>
            <a:endParaRPr lang="en-US" altLang="en-US"/>
          </a:p>
        </p:txBody>
      </p:sp>
      <p:pic>
        <p:nvPicPr>
          <p:cNvPr id="61444" name="Picture 3">
            <a:extLst>
              <a:ext uri="{FF2B5EF4-FFF2-40B4-BE49-F238E27FC236}">
                <a16:creationId xmlns:a16="http://schemas.microsoft.com/office/drawing/2014/main" id="{A8A7A8E9-F632-9DF3-E1CD-EE7B7332C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501900"/>
            <a:ext cx="4735513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23D32C00-7D83-6DCF-6F4C-DACEFF6D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Паравиртуализация</a:t>
            </a:r>
            <a:endParaRPr lang="en-US" altLang="en-US"/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03FEF07C-7B11-A794-2DC0-5B1A1732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Изисква модификация на гост ОС</a:t>
            </a:r>
          </a:p>
          <a:p>
            <a:endParaRPr lang="en-US" altLang="en-US"/>
          </a:p>
        </p:txBody>
      </p:sp>
      <p:pic>
        <p:nvPicPr>
          <p:cNvPr id="62468" name="Picture 3">
            <a:extLst>
              <a:ext uri="{FF2B5EF4-FFF2-40B4-BE49-F238E27FC236}">
                <a16:creationId xmlns:a16="http://schemas.microsoft.com/office/drawing/2014/main" id="{CAB6DCB0-4F31-033F-78BC-3891BF4D3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636838"/>
            <a:ext cx="5235575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99972EC8-8DA5-C779-C7ED-7B70DBC4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Хардуерно подпомогната виртуализация</a:t>
            </a:r>
            <a:endParaRPr lang="en-US" altLang="en-US"/>
          </a:p>
        </p:txBody>
      </p:sp>
      <p:pic>
        <p:nvPicPr>
          <p:cNvPr id="63491" name="Content Placeholder 3">
            <a:extLst>
              <a:ext uri="{FF2B5EF4-FFF2-40B4-BE49-F238E27FC236}">
                <a16:creationId xmlns:a16="http://schemas.microsoft.com/office/drawing/2014/main" id="{8915D83B-37F0-7698-1277-3B92BBB70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363" y="1846263"/>
            <a:ext cx="7070725" cy="4535487"/>
          </a:xfr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ED622223-0952-0499-BB76-4DE6418E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Хардуерно подпомогната виртуализация</a:t>
            </a:r>
            <a:endParaRPr lang="en-US" altLang="en-US"/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7E7F6857-6A3A-35EF-F491-D8F7A9BE4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Intel: VT-x (x86), VT-i(Itanium)</a:t>
            </a:r>
          </a:p>
          <a:p>
            <a:r>
              <a:rPr lang="en-US" altLang="en-US" sz="2400"/>
              <a:t>AMD: AMD-V (x86)</a:t>
            </a:r>
          </a:p>
          <a:p>
            <a:endParaRPr lang="en-US" altLang="en-US"/>
          </a:p>
        </p:txBody>
      </p:sp>
      <p:pic>
        <p:nvPicPr>
          <p:cNvPr id="64516" name="Picture 3">
            <a:extLst>
              <a:ext uri="{FF2B5EF4-FFF2-40B4-BE49-F238E27FC236}">
                <a16:creationId xmlns:a16="http://schemas.microsoft.com/office/drawing/2014/main" id="{06F8813B-3311-4C12-5780-684A13C89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2924175"/>
            <a:ext cx="5556250" cy="379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817408D-F9ED-5148-82FF-78DFBE12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Хардуерно подпомогната виртуализация</a:t>
            </a:r>
            <a:endParaRPr lang="en-US" altLang="en-US"/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086A1E3B-DBC1-4941-FB6E-0CF52E8C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Нов режим на работа на CPU:</a:t>
            </a:r>
          </a:p>
          <a:p>
            <a:r>
              <a:rPr lang="en-US" altLang="en-US" b="1"/>
              <a:t>VT Root </a:t>
            </a:r>
            <a:r>
              <a:rPr lang="bg-BG" altLang="en-US" b="1"/>
              <a:t>операции</a:t>
            </a:r>
            <a:r>
              <a:rPr lang="bg-BG" altLang="en-US"/>
              <a:t>(за хипервайзора)</a:t>
            </a:r>
          </a:p>
          <a:p>
            <a:r>
              <a:rPr lang="ru-RU" altLang="en-US" b="1"/>
              <a:t>Non root операции </a:t>
            </a:r>
            <a:r>
              <a:rPr lang="ru-RU" altLang="en-US"/>
              <a:t>(за гост ОС)</a:t>
            </a:r>
          </a:p>
          <a:p>
            <a:r>
              <a:rPr lang="ru-RU" altLang="en-US"/>
              <a:t>Елиминира се компресията на ринга</a:t>
            </a:r>
          </a:p>
          <a:p>
            <a:r>
              <a:rPr lang="ru-RU" altLang="en-US"/>
              <a:t>Нови инструкции на процесора –</a:t>
            </a:r>
            <a:r>
              <a:rPr lang="en-US" altLang="en-US"/>
              <a:t> </a:t>
            </a:r>
            <a:r>
              <a:rPr lang="ru-RU" altLang="en-US"/>
              <a:t>Virtual Machine Extensions (VMX)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41365D26-5EA9-3AD6-7AD3-E4AD4B06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Физически и виртуални процесори</a:t>
            </a:r>
            <a:endParaRPr lang="en-US" altLang="en-US"/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438728AD-E6A3-607D-329D-75F28CF9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507413" cy="3886200"/>
          </a:xfrm>
        </p:spPr>
        <p:txBody>
          <a:bodyPr/>
          <a:lstStyle/>
          <a:p>
            <a:r>
              <a:rPr lang="ru-RU" altLang="en-US"/>
              <a:t>Процесор на ВМ –Virtual CPU (vCPU)</a:t>
            </a:r>
          </a:p>
          <a:p>
            <a:r>
              <a:rPr lang="ru-RU" altLang="en-US"/>
              <a:t>Процесор на хоста –Physical CPU (pCPU)</a:t>
            </a:r>
          </a:p>
          <a:p>
            <a:r>
              <a:rPr lang="ru-RU" altLang="en-US"/>
              <a:t>На vCPU се съпоставя pCPU</a:t>
            </a:r>
          </a:p>
          <a:p>
            <a:r>
              <a:rPr lang="ru-RU" altLang="en-US"/>
              <a:t>Поддръжка на vCPU за ВМ–в зависимост от версията на хипервайзора</a:t>
            </a:r>
          </a:p>
          <a:p>
            <a:r>
              <a:rPr lang="en-US" altLang="en-US"/>
              <a:t>Hyper-V 2012 R2: 320 logical CPU / </a:t>
            </a:r>
            <a:r>
              <a:rPr lang="bg-BG" altLang="en-US"/>
              <a:t>хост, до 2048 </a:t>
            </a:r>
            <a:r>
              <a:rPr lang="en-US" altLang="en-US"/>
              <a:t>vCPU </a:t>
            </a:r>
            <a:r>
              <a:rPr lang="bg-BG" altLang="en-US"/>
              <a:t>за ВМ /хост</a:t>
            </a:r>
          </a:p>
          <a:p>
            <a:r>
              <a:rPr lang="en-US" altLang="en-US"/>
              <a:t>ESXi6.0: </a:t>
            </a:r>
            <a:r>
              <a:rPr lang="ru-RU" altLang="en-US"/>
              <a:t>320 logical CPU / хост, до 4096 vCPU за ВМ /</a:t>
            </a:r>
            <a:r>
              <a:rPr lang="en-US" altLang="en-US"/>
              <a:t> </a:t>
            </a:r>
            <a:r>
              <a:rPr lang="ru-RU" altLang="en-US"/>
              <a:t>хост</a:t>
            </a:r>
            <a:endParaRPr lang="en-US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00E65B28-A87B-C45B-26A5-AA99824B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8964613" cy="1371600"/>
          </a:xfrm>
        </p:spPr>
        <p:txBody>
          <a:bodyPr/>
          <a:lstStyle/>
          <a:p>
            <a:r>
              <a:rPr lang="ru-RU" altLang="en-US" b="1"/>
              <a:t>Поддържан брой на CPU</a:t>
            </a:r>
            <a:r>
              <a:rPr lang="en-US" altLang="en-US" b="1"/>
              <a:t> </a:t>
            </a:r>
            <a:r>
              <a:rPr lang="ru-RU" altLang="en-US" b="1"/>
              <a:t>от ОС</a:t>
            </a:r>
            <a:endParaRPr lang="en-US" altLang="en-US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F68F4CE6-96C4-2FC7-A146-BA1A8947B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Windows 10 Home 1 CPU, 256 cores</a:t>
            </a:r>
          </a:p>
          <a:p>
            <a:r>
              <a:rPr lang="en-US" altLang="en-US"/>
              <a:t>Windows 10 Professional 2 CPU , 256 cores</a:t>
            </a:r>
          </a:p>
          <a:p>
            <a:r>
              <a:rPr lang="en-US" altLang="en-US"/>
              <a:t>Windows 10 Enterprise </a:t>
            </a:r>
            <a:r>
              <a:rPr lang="bg-BG" altLang="en-US"/>
              <a:t>до 4 </a:t>
            </a:r>
            <a:r>
              <a:rPr lang="en-US" altLang="en-US"/>
              <a:t>CPU, 256 cores</a:t>
            </a:r>
          </a:p>
          <a:p>
            <a:r>
              <a:rPr lang="en-US" altLang="en-US"/>
              <a:t>Windows Server 2016 </a:t>
            </a:r>
            <a:r>
              <a:rPr lang="bg-BG" altLang="en-US"/>
              <a:t>до 64 </a:t>
            </a:r>
            <a:r>
              <a:rPr lang="en-US" altLang="en-US"/>
              <a:t>CPU , </a:t>
            </a:r>
            <a:r>
              <a:rPr lang="bg-BG" altLang="en-US"/>
              <a:t>няма лимит</a:t>
            </a:r>
          </a:p>
          <a:p>
            <a:r>
              <a:rPr lang="bg-BG" altLang="en-US"/>
              <a:t>Използване на многоядрени процесори</a:t>
            </a: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429CBF59-E2FD-28D2-F2A3-2CF49BFC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b="1"/>
              <a:t>Изчисляване на броя </a:t>
            </a:r>
            <a:r>
              <a:rPr lang="en-US" altLang="en-US" b="1"/>
              <a:t>CPU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3E0D6-32C8-79D6-F797-5366866A9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bg-BG" dirty="0"/>
              <a:t>Брой ядра на хост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i="1" dirty="0"/>
              <a:t>(# Processor Sockets) X (# Cores/Processor)  = # Physical Processors (</a:t>
            </a:r>
            <a:r>
              <a:rPr lang="en-US" sz="2400" i="1" dirty="0" err="1"/>
              <a:t>pCPU</a:t>
            </a:r>
            <a:r>
              <a:rPr lang="en-US" sz="2400" i="1" dirty="0"/>
              <a:t>)</a:t>
            </a:r>
            <a:endParaRPr lang="en-US" sz="2400" dirty="0"/>
          </a:p>
          <a:p>
            <a:pPr>
              <a:defRPr/>
            </a:pPr>
            <a:r>
              <a:rPr lang="ru-RU" dirty="0" err="1"/>
              <a:t>Брой</a:t>
            </a:r>
            <a:r>
              <a:rPr lang="ru-RU" dirty="0"/>
              <a:t> логически ядра (при </a:t>
            </a:r>
            <a:r>
              <a:rPr lang="ru-RU" dirty="0" err="1"/>
              <a:t>hyper-threading</a:t>
            </a:r>
            <a:r>
              <a:rPr lang="ru-RU" dirty="0"/>
              <a:t>)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i="1" dirty="0"/>
              <a:t>(# </a:t>
            </a:r>
            <a:r>
              <a:rPr lang="en-US" sz="2400" i="1" dirty="0" err="1"/>
              <a:t>pCPU</a:t>
            </a:r>
            <a:r>
              <a:rPr lang="en-US" sz="2400" i="1" dirty="0"/>
              <a:t>) X (2 threads/physical processor) = # Virtual Processors (vCPU)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91E94294-31F6-D765-4B20-3D5A9D07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r>
              <a:rPr lang="bg-BG" altLang="en-US" b="1"/>
              <a:t>Отношение </a:t>
            </a:r>
            <a:r>
              <a:rPr lang="en-US" altLang="en-US" b="1"/>
              <a:t>vCPU-pCPU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0C5D-2DF1-E147-DE84-1CA632877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68413"/>
            <a:ext cx="8229600" cy="5023397"/>
          </a:xfrm>
        </p:spPr>
        <p:txBody>
          <a:bodyPr/>
          <a:lstStyle/>
          <a:p>
            <a:pPr>
              <a:defRPr/>
            </a:pPr>
            <a:r>
              <a:rPr lang="ru-RU" dirty="0" err="1"/>
              <a:t>Хипервайзорът</a:t>
            </a:r>
            <a:r>
              <a:rPr lang="en-US" dirty="0"/>
              <a:t> </a:t>
            </a:r>
            <a:r>
              <a:rPr lang="ru-RU" dirty="0" err="1"/>
              <a:t>планира</a:t>
            </a:r>
            <a:r>
              <a:rPr lang="ru-RU" dirty="0"/>
              <a:t>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vCPU</a:t>
            </a:r>
            <a:r>
              <a:rPr lang="ru-RU" dirty="0"/>
              <a:t> на ВМ по </a:t>
            </a:r>
            <a:r>
              <a:rPr lang="ru-RU" dirty="0" err="1"/>
              <a:t>едно</a:t>
            </a:r>
            <a:r>
              <a:rPr lang="ru-RU" dirty="0"/>
              <a:t> и </a:t>
            </a:r>
            <a:r>
              <a:rPr lang="ru-RU" dirty="0" err="1"/>
              <a:t>също</a:t>
            </a:r>
            <a:r>
              <a:rPr lang="ru-RU" dirty="0"/>
              <a:t> </a:t>
            </a:r>
            <a:r>
              <a:rPr lang="ru-RU" dirty="0" err="1"/>
              <a:t>време</a:t>
            </a:r>
            <a:endParaRPr lang="ru-RU" dirty="0"/>
          </a:p>
          <a:p>
            <a:pPr>
              <a:defRPr/>
            </a:pPr>
            <a:r>
              <a:rPr lang="ru-RU" dirty="0" err="1"/>
              <a:t>Ако</a:t>
            </a:r>
            <a:r>
              <a:rPr lang="ru-RU" dirty="0"/>
              <a:t> не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налични</a:t>
            </a:r>
            <a:r>
              <a:rPr lang="ru-RU" dirty="0"/>
              <a:t> -&gt; </a:t>
            </a:r>
            <a:r>
              <a:rPr lang="ru-RU" i="1" dirty="0" err="1"/>
              <a:t>co-stop</a:t>
            </a:r>
            <a:r>
              <a:rPr lang="en-US" i="1" dirty="0"/>
              <a:t> </a:t>
            </a:r>
            <a:r>
              <a:rPr lang="ru-RU" dirty="0" err="1"/>
              <a:t>състояние</a:t>
            </a:r>
            <a:endParaRPr lang="en-US" dirty="0"/>
          </a:p>
          <a:p>
            <a:pPr>
              <a:defRPr/>
            </a:pPr>
            <a:r>
              <a:rPr lang="bg-BG" dirty="0"/>
              <a:t>До 25:1 (препоръчително 1:1)</a:t>
            </a:r>
            <a:endParaRPr lang="en-US" dirty="0"/>
          </a:p>
          <a:p>
            <a:pPr>
              <a:defRPr/>
            </a:pPr>
            <a:r>
              <a:rPr lang="en-US" dirty="0"/>
              <a:t>Real-world observations and advice: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Virtual resources 4 vCPUs - 200 % of Actual cores, 3 GB Memory - 37 % of Physical 26.6 GB Storage - 13 % of Provisioned - A lab with a vCPU to </a:t>
            </a:r>
            <a:r>
              <a:rPr lang="en-US" dirty="0" err="1"/>
              <a:t>pCPU</a:t>
            </a:r>
            <a:r>
              <a:rPr lang="en-US" dirty="0"/>
              <a:t> ratio of 2:1</a:t>
            </a:r>
            <a:endParaRPr 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55ABF212-BB49-F542-2FC3-B08C7858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bg-BG" b="1"/>
              <a:t>Достъп до устройство за съхранение</a:t>
            </a:r>
            <a:endParaRPr lang="en-US" altLang="bg-BG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9D29C93D-FE36-8C67-DE24-933CD264D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1500"/>
            <a:ext cx="8785225" cy="5035002"/>
          </a:xfrm>
        </p:spPr>
        <p:txBody>
          <a:bodyPr/>
          <a:lstStyle/>
          <a:p>
            <a:r>
              <a:rPr lang="ru-RU" altLang="bg-BG"/>
              <a:t>Storage </a:t>
            </a:r>
            <a:r>
              <a:rPr lang="en-US" altLang="bg-BG"/>
              <a:t>- </a:t>
            </a:r>
            <a:r>
              <a:rPr lang="ru-RU" altLang="bg-BG"/>
              <a:t>устройство за съхранение на данни</a:t>
            </a:r>
          </a:p>
          <a:p>
            <a:r>
              <a:rPr lang="ru-RU" altLang="bg-BG"/>
              <a:t>Процес на получаване на данни:</a:t>
            </a:r>
          </a:p>
          <a:p>
            <a:pPr lvl="1"/>
            <a:r>
              <a:rPr lang="ru-RU" altLang="bg-BG"/>
              <a:t>Приложението изпраща заявка към ОС;</a:t>
            </a:r>
          </a:p>
          <a:p>
            <a:pPr lvl="1"/>
            <a:r>
              <a:rPr lang="ru-RU" altLang="bg-BG"/>
              <a:t>ОС изпраща заявката към подсистемата за</a:t>
            </a:r>
            <a:r>
              <a:rPr lang="en-US" altLang="bg-BG"/>
              <a:t> </a:t>
            </a:r>
            <a:r>
              <a:rPr lang="ru-RU" altLang="bg-BG"/>
              <a:t>съхранение;</a:t>
            </a:r>
          </a:p>
          <a:p>
            <a:pPr lvl="1"/>
            <a:r>
              <a:rPr lang="ru-RU" altLang="bg-BG"/>
              <a:t>Подсистемата открива информацията и я</a:t>
            </a:r>
            <a:r>
              <a:rPr lang="en-US" altLang="bg-BG"/>
              <a:t> </a:t>
            </a:r>
            <a:r>
              <a:rPr lang="ru-RU" altLang="bg-BG"/>
              <a:t>изпраща обратно към ОС като блокове данни;</a:t>
            </a:r>
          </a:p>
          <a:p>
            <a:pPr lvl="1"/>
            <a:r>
              <a:rPr lang="ru-RU" altLang="bg-BG"/>
              <a:t>ОС прехвърля тези блокове към приложението.</a:t>
            </a:r>
            <a:endParaRPr lang="en-US" altLang="bg-BG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AEF15485-3B1E-6489-D6FD-37614ECF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96900"/>
            <a:ext cx="8712200" cy="1712574"/>
          </a:xfrm>
        </p:spPr>
        <p:txBody>
          <a:bodyPr/>
          <a:lstStyle/>
          <a:p>
            <a:r>
              <a:rPr lang="ru-RU" altLang="bg-BG" b="1"/>
              <a:t>Достъп до устройство за съхранение във виртуална среда</a:t>
            </a:r>
            <a:endParaRPr lang="en-US" altLang="bg-BG"/>
          </a:p>
        </p:txBody>
      </p:sp>
      <p:pic>
        <p:nvPicPr>
          <p:cNvPr id="71683" name="Content Placeholder 3">
            <a:extLst>
              <a:ext uri="{FF2B5EF4-FFF2-40B4-BE49-F238E27FC236}">
                <a16:creationId xmlns:a16="http://schemas.microsoft.com/office/drawing/2014/main" id="{B9462E73-5653-DB0C-7040-B9B9F3F96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8" y="1916113"/>
            <a:ext cx="6191250" cy="4724400"/>
          </a:xfr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A150F2D0-8C45-8D33-D5B5-014E202F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23479"/>
          </a:xfrm>
        </p:spPr>
        <p:txBody>
          <a:bodyPr/>
          <a:lstStyle/>
          <a:p>
            <a:r>
              <a:rPr lang="en-US" altLang="bg-BG"/>
              <a:t>XEN</a:t>
            </a:r>
          </a:p>
        </p:txBody>
      </p:sp>
      <p:pic>
        <p:nvPicPr>
          <p:cNvPr id="72707" name="Content Placeholder 3">
            <a:extLst>
              <a:ext uri="{FF2B5EF4-FFF2-40B4-BE49-F238E27FC236}">
                <a16:creationId xmlns:a16="http://schemas.microsoft.com/office/drawing/2014/main" id="{8417588A-153F-5239-902A-31B675851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3988" y="1484313"/>
            <a:ext cx="6367462" cy="4824412"/>
          </a:xfr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7D74A9AB-9C11-96E6-AD98-EA9B633A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Архитектури на сторидж</a:t>
            </a:r>
            <a:endParaRPr lang="en-US" altLang="bg-BG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971F12CF-8DA2-2E60-DDA8-6C52258D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3886200"/>
          </a:xfrm>
        </p:spPr>
        <p:txBody>
          <a:bodyPr/>
          <a:lstStyle/>
          <a:p>
            <a:r>
              <a:rPr lang="en-US" altLang="bg-BG"/>
              <a:t>DAS Direct Attached Storage</a:t>
            </a:r>
          </a:p>
          <a:p>
            <a:pPr lvl="1"/>
            <a:r>
              <a:rPr lang="bg-BG" altLang="bg-BG"/>
              <a:t>Устройството е директно</a:t>
            </a:r>
            <a:r>
              <a:rPr lang="en-US" altLang="bg-BG"/>
              <a:t> </a:t>
            </a:r>
            <a:r>
              <a:rPr lang="bg-BG" altLang="bg-BG"/>
              <a:t>свързано към машина</a:t>
            </a:r>
          </a:p>
          <a:p>
            <a:r>
              <a:rPr lang="en-US" altLang="bg-BG"/>
              <a:t>NAS Network Attached Storage</a:t>
            </a:r>
          </a:p>
          <a:p>
            <a:pPr lvl="1"/>
            <a:r>
              <a:rPr lang="bg-BG" altLang="bg-BG"/>
              <a:t>Устройство за съхранение,</a:t>
            </a:r>
            <a:r>
              <a:rPr lang="en-US" altLang="bg-BG"/>
              <a:t> </a:t>
            </a:r>
            <a:r>
              <a:rPr lang="bg-BG" altLang="bg-BG"/>
              <a:t>свързано през мрежа към</a:t>
            </a:r>
            <a:r>
              <a:rPr lang="en-US" altLang="bg-BG"/>
              <a:t> </a:t>
            </a:r>
            <a:r>
              <a:rPr lang="bg-BG" altLang="bg-BG"/>
              <a:t>машина</a:t>
            </a:r>
          </a:p>
          <a:p>
            <a:r>
              <a:rPr lang="en-US" altLang="bg-BG"/>
              <a:t>SAN Storage Area Network</a:t>
            </a:r>
          </a:p>
          <a:p>
            <a:pPr lvl="1"/>
            <a:r>
              <a:rPr lang="bg-BG" altLang="bg-BG"/>
              <a:t>Свързване на отдалечени</a:t>
            </a:r>
            <a:r>
              <a:rPr lang="en-US" altLang="bg-BG"/>
              <a:t> </a:t>
            </a:r>
            <a:r>
              <a:rPr lang="bg-BG" altLang="bg-BG"/>
              <a:t>устройства към сървър, които</a:t>
            </a:r>
            <a:r>
              <a:rPr lang="en-US" altLang="bg-BG"/>
              <a:t> </a:t>
            </a:r>
            <a:r>
              <a:rPr lang="bg-BG" altLang="bg-BG"/>
              <a:t>изглеждат като едно локално</a:t>
            </a:r>
            <a:r>
              <a:rPr lang="en-US" altLang="bg-BG"/>
              <a:t> </a:t>
            </a:r>
            <a:r>
              <a:rPr lang="bg-BG" altLang="bg-BG"/>
              <a:t>устройство за ОС</a:t>
            </a:r>
            <a:endParaRPr lang="en-US" altLang="bg-BG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00F31A11-D3E4-BC23-ED6C-42F1BC5D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Архитектури на сторидж</a:t>
            </a:r>
            <a:endParaRPr lang="en-US" altLang="bg-BG"/>
          </a:p>
        </p:txBody>
      </p:sp>
      <p:pic>
        <p:nvPicPr>
          <p:cNvPr id="74755" name="Content Placeholder 3">
            <a:extLst>
              <a:ext uri="{FF2B5EF4-FFF2-40B4-BE49-F238E27FC236}">
                <a16:creationId xmlns:a16="http://schemas.microsoft.com/office/drawing/2014/main" id="{808A4D2A-12FF-620E-4E63-E6AEF5155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3175" y="1587500"/>
            <a:ext cx="3757613" cy="5081588"/>
          </a:xfr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BD8FAE33-5BAD-1FCA-8E3B-C48DEDFD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371600"/>
          </a:xfrm>
        </p:spPr>
        <p:txBody>
          <a:bodyPr/>
          <a:lstStyle/>
          <a:p>
            <a:r>
              <a:rPr lang="ru-RU" altLang="bg-BG" b="1"/>
              <a:t>Изисквания към виртуализацията на сторидж</a:t>
            </a:r>
            <a:endParaRPr lang="en-US" altLang="bg-BG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5EDE0DCB-2694-06E4-38D4-CF74E0EA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63" y="2997200"/>
            <a:ext cx="8229600" cy="3238500"/>
          </a:xfrm>
        </p:spPr>
        <p:txBody>
          <a:bodyPr/>
          <a:lstStyle/>
          <a:p>
            <a:r>
              <a:rPr lang="bg-BG" altLang="bg-BG"/>
              <a:t>Управляемост</a:t>
            </a:r>
          </a:p>
          <a:p>
            <a:r>
              <a:rPr lang="bg-BG" altLang="bg-BG"/>
              <a:t>Наличност</a:t>
            </a:r>
          </a:p>
          <a:p>
            <a:r>
              <a:rPr lang="bg-BG" altLang="bg-BG"/>
              <a:t>Разширяемост</a:t>
            </a:r>
          </a:p>
          <a:p>
            <a:r>
              <a:rPr lang="bg-BG" altLang="bg-BG"/>
              <a:t>Сигурност</a:t>
            </a:r>
            <a:endParaRPr lang="en-US" altLang="bg-BG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872CA4F3-3136-9229-DA89-1570F957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Виртуален сторидж</a:t>
            </a:r>
            <a:endParaRPr lang="en-US" altLang="bg-BG"/>
          </a:p>
        </p:txBody>
      </p:sp>
      <p:pic>
        <p:nvPicPr>
          <p:cNvPr id="76803" name="Content Placeholder 3">
            <a:extLst>
              <a:ext uri="{FF2B5EF4-FFF2-40B4-BE49-F238E27FC236}">
                <a16:creationId xmlns:a16="http://schemas.microsoft.com/office/drawing/2014/main" id="{09D7C323-C1E7-B898-AF8A-354D2BC2F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557338"/>
            <a:ext cx="7639050" cy="5100637"/>
          </a:xfr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445E78F5-BD68-6ED0-6FE0-518F1486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Слоеве за виртуализиране</a:t>
            </a:r>
            <a:endParaRPr lang="en-US" altLang="bg-BG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7AD951FB-96F3-1E0D-7E24-87615D82C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3898900" cy="3886200"/>
          </a:xfrm>
        </p:spPr>
        <p:txBody>
          <a:bodyPr/>
          <a:lstStyle/>
          <a:p>
            <a:r>
              <a:rPr lang="bg-BG" altLang="bg-BG"/>
              <a:t>Файлова система</a:t>
            </a:r>
          </a:p>
          <a:p>
            <a:r>
              <a:rPr lang="bg-BG" altLang="bg-BG"/>
              <a:t>Блокови устройства</a:t>
            </a:r>
            <a:endParaRPr lang="en-US" altLang="bg-BG"/>
          </a:p>
        </p:txBody>
      </p:sp>
      <p:pic>
        <p:nvPicPr>
          <p:cNvPr id="77828" name="Picture 3">
            <a:extLst>
              <a:ext uri="{FF2B5EF4-FFF2-40B4-BE49-F238E27FC236}">
                <a16:creationId xmlns:a16="http://schemas.microsoft.com/office/drawing/2014/main" id="{0C3CF361-52D2-D6D5-5DE2-73D0C9183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855788"/>
            <a:ext cx="4537075" cy="483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676F551B-E6B2-0A52-07CB-5A399031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 dirty="0" err="1"/>
              <a:t>Виртуализиране</a:t>
            </a:r>
            <a:r>
              <a:rPr lang="bg-BG" altLang="bg-BG" b="1" dirty="0"/>
              <a:t> на файлова система</a:t>
            </a:r>
            <a:endParaRPr lang="en-US" altLang="bg-BG" dirty="0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15220912-A4EF-613F-7966-18E33A9F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3898900" cy="3886200"/>
          </a:xfrm>
        </p:spPr>
        <p:txBody>
          <a:bodyPr/>
          <a:lstStyle/>
          <a:p>
            <a:endParaRPr lang="en-US" altLang="bg-BG"/>
          </a:p>
          <a:p>
            <a:r>
              <a:rPr lang="bg-BG" altLang="bg-BG"/>
              <a:t>Данни</a:t>
            </a:r>
          </a:p>
          <a:p>
            <a:r>
              <a:rPr lang="bg-BG" altLang="bg-BG"/>
              <a:t>Файл</a:t>
            </a:r>
          </a:p>
          <a:p>
            <a:r>
              <a:rPr lang="bg-BG" altLang="bg-BG"/>
              <a:t>Мета данни</a:t>
            </a:r>
          </a:p>
          <a:p>
            <a:r>
              <a:rPr lang="bg-BG" altLang="bg-BG"/>
              <a:t>Файлова система</a:t>
            </a:r>
          </a:p>
          <a:p>
            <a:endParaRPr lang="en-US" altLang="bg-BG"/>
          </a:p>
        </p:txBody>
      </p:sp>
      <p:pic>
        <p:nvPicPr>
          <p:cNvPr id="78852" name="Picture 3">
            <a:extLst>
              <a:ext uri="{FF2B5EF4-FFF2-40B4-BE49-F238E27FC236}">
                <a16:creationId xmlns:a16="http://schemas.microsoft.com/office/drawing/2014/main" id="{A57CB3FF-00F6-3F4A-7188-E451A388D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828800"/>
            <a:ext cx="3240087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D10AB6F-56DF-853E-4DAA-E841965D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 dirty="0" err="1"/>
              <a:t>Виртуализиране</a:t>
            </a:r>
            <a:r>
              <a:rPr lang="bg-BG" altLang="bg-BG" b="1" dirty="0"/>
              <a:t> на блокови устройства</a:t>
            </a:r>
            <a:endParaRPr lang="en-US" altLang="bg-BG" dirty="0"/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79A3A76B-5E12-D219-6DCC-A03CFE67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8435975" cy="1231900"/>
          </a:xfrm>
        </p:spPr>
        <p:txBody>
          <a:bodyPr/>
          <a:lstStyle/>
          <a:p>
            <a:r>
              <a:rPr lang="ru-RU" altLang="bg-BG"/>
              <a:t>Данни на диска –цилиндър, глава, сектор</a:t>
            </a:r>
          </a:p>
          <a:p>
            <a:r>
              <a:rPr lang="en-US" altLang="bg-BG"/>
              <a:t>LBA –Logical Block Address</a:t>
            </a:r>
          </a:p>
          <a:p>
            <a:endParaRPr lang="en-US" altLang="bg-BG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4563DE0D-EE79-C52C-882D-FEC88FF0C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365500"/>
            <a:ext cx="6481763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0B2F48FE-C080-0D5E-A8D1-E91973F3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Виртуализиране на блокови устройства</a:t>
            </a:r>
            <a:endParaRPr lang="en-US" altLang="bg-BG"/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D654C042-6E5B-5466-5F3F-540B24371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1570"/>
            <a:ext cx="8229600" cy="4805569"/>
          </a:xfrm>
        </p:spPr>
        <p:txBody>
          <a:bodyPr/>
          <a:lstStyle/>
          <a:p>
            <a:r>
              <a:rPr lang="ru-RU" altLang="bg-BG"/>
              <a:t>Logical Unit (LU) обработвана единица в сториджа със собствен номер (LUN)</a:t>
            </a:r>
          </a:p>
          <a:p>
            <a:r>
              <a:rPr lang="ru-RU" altLang="bg-BG"/>
              <a:t>Logical Volume (LV) том, представящ капацитета на едни или няколко дискове.</a:t>
            </a:r>
          </a:p>
          <a:p>
            <a:r>
              <a:rPr lang="ru-RU" altLang="bg-BG"/>
              <a:t>Съдържат и метаданни.</a:t>
            </a:r>
          </a:p>
          <a:p>
            <a:r>
              <a:rPr lang="ru-RU" altLang="bg-BG"/>
              <a:t>Единичен блок от информация  се адресира чрез LUN и отместването в него LBA</a:t>
            </a:r>
            <a:endParaRPr lang="en-US" altLang="bg-BG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971EB100-F602-94D3-2C92-382F0DF2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bg-BG" b="1"/>
              <a:t>Протоколи за връзка със сторидж</a:t>
            </a:r>
            <a:endParaRPr lang="en-US" altLang="bg-BG"/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CEA8715A-A342-A847-4AC8-31D9BA2F2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060575"/>
            <a:ext cx="8229600" cy="4570839"/>
          </a:xfrm>
        </p:spPr>
        <p:txBody>
          <a:bodyPr/>
          <a:lstStyle/>
          <a:p>
            <a:r>
              <a:rPr lang="en-US" altLang="bg-BG"/>
              <a:t>Fibre Channel (FC).</a:t>
            </a:r>
            <a:r>
              <a:rPr lang="bg-BG" altLang="bg-BG"/>
              <a:t> Използва се при високи изисквания за производителност</a:t>
            </a:r>
          </a:p>
          <a:p>
            <a:r>
              <a:rPr lang="en-US" altLang="bg-BG"/>
              <a:t>iSCSI </a:t>
            </a:r>
            <a:r>
              <a:rPr lang="bg-BG" altLang="bg-BG"/>
              <a:t>(</a:t>
            </a:r>
            <a:r>
              <a:rPr lang="en-US" altLang="bg-BG"/>
              <a:t>internet SCSI) </a:t>
            </a:r>
            <a:r>
              <a:rPr lang="bg-BG" altLang="bg-BG"/>
              <a:t>базиран на </a:t>
            </a:r>
            <a:r>
              <a:rPr lang="en-US" altLang="bg-BG"/>
              <a:t>TCP/IP.</a:t>
            </a:r>
            <a:r>
              <a:rPr lang="bg-BG" altLang="bg-BG"/>
              <a:t> Използва се при средни изисквания за производителност.</a:t>
            </a:r>
          </a:p>
          <a:p>
            <a:r>
              <a:rPr lang="en-US" altLang="bg-BG"/>
              <a:t>FCIP ( Fibre Channel over IP) </a:t>
            </a:r>
            <a:r>
              <a:rPr lang="bg-BG" altLang="bg-BG"/>
              <a:t>тунелен протокол за предаване на </a:t>
            </a:r>
            <a:r>
              <a:rPr lang="en-US" altLang="bg-BG"/>
              <a:t>FC </a:t>
            </a:r>
            <a:r>
              <a:rPr lang="bg-BG" altLang="bg-BG"/>
              <a:t>фреймове през </a:t>
            </a:r>
            <a:r>
              <a:rPr lang="en-US" altLang="bg-BG"/>
              <a:t>TCP/IP.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BEE19F98-412D-ED86-31AB-CCEDE138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/>
              <a:t>Fibre Channel</a:t>
            </a:r>
            <a:endParaRPr lang="en-US" alt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76F9-5716-D5AC-8722-46CBC3C8A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ANSI T11 </a:t>
            </a:r>
            <a:r>
              <a:rPr lang="bg-BG" dirty="0"/>
              <a:t>стандарт за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bg-BG" dirty="0"/>
              <a:t>високоскоростни </a:t>
            </a:r>
            <a:r>
              <a:rPr lang="en-US" dirty="0"/>
              <a:t>SAN</a:t>
            </a:r>
          </a:p>
          <a:p>
            <a:pPr>
              <a:defRPr/>
            </a:pPr>
            <a:r>
              <a:rPr lang="bg-BG" dirty="0"/>
              <a:t>Скорости от 2, 4, 8,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bg-BG" dirty="0"/>
              <a:t>16, 32 </a:t>
            </a:r>
            <a:r>
              <a:rPr lang="en-US" dirty="0" err="1"/>
              <a:t>Gbps</a:t>
            </a:r>
            <a:endParaRPr lang="en-US" dirty="0"/>
          </a:p>
          <a:p>
            <a:pPr>
              <a:defRPr/>
            </a:pPr>
            <a:r>
              <a:rPr lang="bg-BG" dirty="0"/>
              <a:t>Топологии: </a:t>
            </a:r>
            <a:r>
              <a:rPr lang="en-US" dirty="0"/>
              <a:t>point to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point, ring, switched</a:t>
            </a:r>
            <a:endParaRPr lang="bg-BG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fabric</a:t>
            </a:r>
          </a:p>
        </p:txBody>
      </p:sp>
      <p:pic>
        <p:nvPicPr>
          <p:cNvPr id="82948" name="Picture 3">
            <a:extLst>
              <a:ext uri="{FF2B5EF4-FFF2-40B4-BE49-F238E27FC236}">
                <a16:creationId xmlns:a16="http://schemas.microsoft.com/office/drawing/2014/main" id="{1D15CC80-113D-738D-28D6-DA6453824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693988"/>
            <a:ext cx="4248150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0A5888D7-3D5B-58F0-B381-2B241AF3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bg-BG" b="1"/>
              <a:t>Подходи за виртуализация на сторидж</a:t>
            </a:r>
            <a:endParaRPr lang="en-US" altLang="bg-BG"/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64765731-FFAE-553F-0107-58B4DB37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bg-BG"/>
              <a:t>Host based </a:t>
            </a:r>
            <a:r>
              <a:rPr lang="en-US" altLang="bg-BG"/>
              <a:t>- </a:t>
            </a:r>
            <a:r>
              <a:rPr lang="ru-RU" altLang="bg-BG"/>
              <a:t>реализирана като софтуер,</a:t>
            </a:r>
            <a:r>
              <a:rPr lang="en-US" altLang="bg-BG"/>
              <a:t> </a:t>
            </a:r>
            <a:r>
              <a:rPr lang="ru-RU" altLang="bg-BG"/>
              <a:t>изпълняващ се на машина</a:t>
            </a:r>
          </a:p>
          <a:p>
            <a:r>
              <a:rPr lang="ru-RU" altLang="bg-BG"/>
              <a:t>Network based </a:t>
            </a:r>
            <a:r>
              <a:rPr lang="en-US" altLang="bg-BG"/>
              <a:t>- </a:t>
            </a:r>
            <a:r>
              <a:rPr lang="ru-RU" altLang="bg-BG"/>
              <a:t>реализирана на мрежови</a:t>
            </a:r>
            <a:r>
              <a:rPr lang="en-US" altLang="bg-BG"/>
              <a:t> </a:t>
            </a:r>
            <a:r>
              <a:rPr lang="ru-RU" altLang="bg-BG"/>
              <a:t>устройства</a:t>
            </a:r>
          </a:p>
          <a:p>
            <a:r>
              <a:rPr lang="ru-RU" altLang="bg-BG"/>
              <a:t>Storage based </a:t>
            </a:r>
            <a:r>
              <a:rPr lang="en-US" altLang="bg-BG"/>
              <a:t>- </a:t>
            </a:r>
            <a:r>
              <a:rPr lang="ru-RU" altLang="bg-BG"/>
              <a:t>реализирана на подсистемата на</a:t>
            </a:r>
            <a:r>
              <a:rPr lang="en-US" altLang="bg-BG"/>
              <a:t> </a:t>
            </a:r>
            <a:r>
              <a:rPr lang="ru-RU" altLang="bg-BG"/>
              <a:t>целевия сторидж</a:t>
            </a:r>
            <a:endParaRPr lang="en-US" altLang="bg-BG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0908B7C9-E5F4-9FD2-D271-720976D9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/>
              <a:t>Host-based </a:t>
            </a:r>
            <a:r>
              <a:rPr lang="bg-BG" altLang="bg-BG" b="1"/>
              <a:t>виртуализация</a:t>
            </a:r>
            <a:endParaRPr lang="en-US" altLang="bg-BG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7EC3F39F-86D6-8A7E-DA86-D40BC90F4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bg-BG"/>
              <a:t>Предимства:</a:t>
            </a:r>
          </a:p>
          <a:p>
            <a:pPr lvl="1"/>
            <a:r>
              <a:rPr lang="ru-RU" altLang="bg-BG"/>
              <a:t>Няма нужда от допълнителен</a:t>
            </a:r>
            <a:r>
              <a:rPr lang="en-US" altLang="bg-BG"/>
              <a:t> </a:t>
            </a:r>
            <a:r>
              <a:rPr lang="ru-RU" altLang="bg-BG"/>
              <a:t>хардуер</a:t>
            </a:r>
          </a:p>
          <a:p>
            <a:pPr lvl="1"/>
            <a:r>
              <a:rPr lang="ru-RU" altLang="bg-BG"/>
              <a:t>Лесна реализация</a:t>
            </a:r>
          </a:p>
          <a:p>
            <a:r>
              <a:rPr lang="ru-RU" altLang="bg-BG"/>
              <a:t>Недостатъци:</a:t>
            </a:r>
          </a:p>
          <a:p>
            <a:pPr lvl="1"/>
            <a:r>
              <a:rPr lang="ru-RU" altLang="bg-BG"/>
              <a:t>Използването на сторидж е само по</a:t>
            </a:r>
            <a:r>
              <a:rPr lang="en-US" altLang="bg-BG"/>
              <a:t> </a:t>
            </a:r>
            <a:r>
              <a:rPr lang="ru-RU" altLang="bg-BG"/>
              <a:t>отношение на хост</a:t>
            </a:r>
          </a:p>
          <a:p>
            <a:pPr lvl="1"/>
            <a:r>
              <a:rPr lang="ru-RU" altLang="bg-BG"/>
              <a:t>Реализацията зависи от ОС</a:t>
            </a:r>
          </a:p>
          <a:p>
            <a:pPr lvl="1"/>
            <a:r>
              <a:rPr lang="ru-RU" altLang="bg-BG"/>
              <a:t>Използва CPU цикли за</a:t>
            </a:r>
            <a:r>
              <a:rPr lang="en-US" altLang="bg-BG"/>
              <a:t> </a:t>
            </a:r>
            <a:r>
              <a:rPr lang="ru-RU" altLang="bg-BG"/>
              <a:t>виртуализацията</a:t>
            </a:r>
            <a:endParaRPr lang="en-US" altLang="bg-BG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7FA97B0C-EB0A-2F67-BB33-56007DE5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507413" cy="884238"/>
          </a:xfrm>
        </p:spPr>
        <p:txBody>
          <a:bodyPr/>
          <a:lstStyle/>
          <a:p>
            <a:r>
              <a:rPr lang="en-US" altLang="bg-BG" b="1"/>
              <a:t>Storage-based </a:t>
            </a:r>
            <a:r>
              <a:rPr lang="bg-BG" altLang="bg-BG" b="1"/>
              <a:t>виртуализация</a:t>
            </a:r>
            <a:endParaRPr lang="en-US" altLang="bg-BG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2F2308B1-0208-7DAE-F011-525D6862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383087"/>
          </a:xfrm>
        </p:spPr>
        <p:txBody>
          <a:bodyPr/>
          <a:lstStyle/>
          <a:p>
            <a:r>
              <a:rPr lang="bg-BG" altLang="bg-BG"/>
              <a:t>Предимства:</a:t>
            </a:r>
          </a:p>
          <a:p>
            <a:pPr lvl="1"/>
            <a:r>
              <a:rPr lang="ru-RU" altLang="bg-BG"/>
              <a:t>Редуцира латентността на индивидуален вход-изход</a:t>
            </a:r>
            <a:endParaRPr lang="en-US" altLang="bg-BG"/>
          </a:p>
          <a:p>
            <a:r>
              <a:rPr lang="bg-BG" altLang="bg-BG"/>
              <a:t>Недостатъци:</a:t>
            </a:r>
          </a:p>
          <a:p>
            <a:pPr lvl="1"/>
            <a:r>
              <a:rPr lang="ru-RU" altLang="bg-BG"/>
              <a:t>Оптимизиране на сториджа</a:t>
            </a:r>
            <a:r>
              <a:rPr lang="en-US" altLang="bg-BG"/>
              <a:t> </a:t>
            </a:r>
            <a:r>
              <a:rPr lang="ru-RU" altLang="bg-BG"/>
              <a:t>само през свързани контролери</a:t>
            </a:r>
          </a:p>
          <a:p>
            <a:pPr lvl="1"/>
            <a:r>
              <a:rPr lang="ru-RU" altLang="bg-BG"/>
              <a:t>Репликация и миграция на данни са възможни само през свързани контролери от един и същ производител</a:t>
            </a:r>
          </a:p>
          <a:p>
            <a:endParaRPr lang="en-US" altLang="bg-BG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A62C5A01-62F6-DE43-8CE0-964D003B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578850" cy="955675"/>
          </a:xfrm>
        </p:spPr>
        <p:txBody>
          <a:bodyPr/>
          <a:lstStyle/>
          <a:p>
            <a:r>
              <a:rPr lang="en-US" altLang="bg-BG" b="1"/>
              <a:t>Network-based </a:t>
            </a:r>
            <a:r>
              <a:rPr lang="bg-BG" altLang="bg-BG" b="1"/>
              <a:t>виртуализация</a:t>
            </a:r>
            <a:endParaRPr lang="en-US" altLang="bg-BG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BFFFF8BF-5B29-83E9-748B-E14DFFDFD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3" y="1412875"/>
            <a:ext cx="8796060" cy="5426765"/>
          </a:xfrm>
        </p:spPr>
        <p:txBody>
          <a:bodyPr/>
          <a:lstStyle/>
          <a:p>
            <a:r>
              <a:rPr lang="bg-BG" altLang="bg-BG"/>
              <a:t>Предимства:</a:t>
            </a:r>
          </a:p>
          <a:p>
            <a:pPr lvl="1"/>
            <a:r>
              <a:rPr lang="bg-BG" altLang="bg-BG"/>
              <a:t>Истинска хетерогенна сторидж</a:t>
            </a:r>
            <a:r>
              <a:rPr lang="en-US" altLang="bg-BG"/>
              <a:t> </a:t>
            </a:r>
            <a:r>
              <a:rPr lang="bg-BG" altLang="bg-BG"/>
              <a:t>виртуализация</a:t>
            </a:r>
          </a:p>
          <a:p>
            <a:pPr lvl="1"/>
            <a:r>
              <a:rPr lang="ru-RU" altLang="bg-BG"/>
              <a:t>Няма нужда от модифициране на хост или сторидж</a:t>
            </a:r>
            <a:r>
              <a:rPr lang="en-US" altLang="bg-BG"/>
              <a:t> </a:t>
            </a:r>
            <a:r>
              <a:rPr lang="ru-RU" altLang="bg-BG"/>
              <a:t>системата</a:t>
            </a:r>
          </a:p>
          <a:p>
            <a:pPr lvl="1"/>
            <a:r>
              <a:rPr lang="en-US" altLang="bg-BG"/>
              <a:t>Multi-path </a:t>
            </a:r>
            <a:r>
              <a:rPr lang="bg-BG" altLang="bg-BG"/>
              <a:t>техники за производителност</a:t>
            </a:r>
          </a:p>
          <a:p>
            <a:endParaRPr lang="en-US" altLang="bg-BG"/>
          </a:p>
          <a:p>
            <a:r>
              <a:rPr lang="bg-BG" altLang="bg-BG"/>
              <a:t>Недостатъци:</a:t>
            </a:r>
          </a:p>
          <a:p>
            <a:pPr lvl="1"/>
            <a:r>
              <a:rPr lang="ru-RU" altLang="bg-BG"/>
              <a:t>Сложна организация на взаимодействието, ограничена от поддръжката на производителя</a:t>
            </a:r>
          </a:p>
          <a:p>
            <a:pPr lvl="1"/>
            <a:r>
              <a:rPr lang="bg-BG" altLang="bg-BG"/>
              <a:t>Изисква специфична мрежа (</a:t>
            </a:r>
            <a:r>
              <a:rPr lang="en-US" altLang="bg-BG"/>
              <a:t>FibreChannel)</a:t>
            </a:r>
          </a:p>
          <a:p>
            <a:endParaRPr lang="en-US" altLang="bg-BG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4360103D-5F78-E76C-B91A-A7314599B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362950" cy="1371600"/>
          </a:xfrm>
        </p:spPr>
        <p:txBody>
          <a:bodyPr/>
          <a:lstStyle/>
          <a:p>
            <a:r>
              <a:rPr lang="bg-BG" altLang="bg-BG" b="1"/>
              <a:t>Реализиране на</a:t>
            </a:r>
            <a:r>
              <a:rPr lang="en-US" altLang="bg-BG" b="1"/>
              <a:t> </a:t>
            </a:r>
            <a:r>
              <a:rPr lang="bg-BG" altLang="bg-BG" b="1"/>
              <a:t>виртуализацията</a:t>
            </a:r>
            <a:endParaRPr lang="en-US" altLang="bg-BG"/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635691B5-4203-1E1F-9A07-90B6BA7C2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bg-BG"/>
              <a:t>In-band</a:t>
            </a:r>
          </a:p>
          <a:p>
            <a:r>
              <a:rPr lang="en-US" altLang="bg-BG"/>
              <a:t>Out-of-band</a:t>
            </a:r>
          </a:p>
          <a:p>
            <a:endParaRPr lang="en-US" altLang="bg-BG"/>
          </a:p>
        </p:txBody>
      </p:sp>
      <p:pic>
        <p:nvPicPr>
          <p:cNvPr id="88068" name="Picture 3">
            <a:extLst>
              <a:ext uri="{FF2B5EF4-FFF2-40B4-BE49-F238E27FC236}">
                <a16:creationId xmlns:a16="http://schemas.microsoft.com/office/drawing/2014/main" id="{07E6A49A-07C0-70A8-1039-A0F1B48E2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38" y="549275"/>
            <a:ext cx="2544762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9" name="Picture 4">
            <a:extLst>
              <a:ext uri="{FF2B5EF4-FFF2-40B4-BE49-F238E27FC236}">
                <a16:creationId xmlns:a16="http://schemas.microsoft.com/office/drawing/2014/main" id="{32E946A4-9019-A2E4-B919-C32E06447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141663"/>
            <a:ext cx="3138488" cy="35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4B8135C7-2296-9298-A37C-AC716409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/>
              <a:t>In-band </a:t>
            </a:r>
            <a:r>
              <a:rPr lang="bg-BG" altLang="bg-BG" b="1"/>
              <a:t>виртуализация</a:t>
            </a:r>
            <a:endParaRPr lang="en-US" altLang="bg-BG"/>
          </a:p>
        </p:txBody>
      </p:sp>
      <p:sp>
        <p:nvSpPr>
          <p:cNvPr id="89091" name="Content Placeholder 2">
            <a:extLst>
              <a:ext uri="{FF2B5EF4-FFF2-40B4-BE49-F238E27FC236}">
                <a16:creationId xmlns:a16="http://schemas.microsoft.com/office/drawing/2014/main" id="{2E9B022C-E683-C27A-CF68-B8324D3E6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1817"/>
            <a:ext cx="8229600" cy="4976981"/>
          </a:xfrm>
        </p:spPr>
        <p:txBody>
          <a:bodyPr/>
          <a:lstStyle/>
          <a:p>
            <a:r>
              <a:rPr lang="bg-BG" altLang="bg-BG"/>
              <a:t>Симетрична</a:t>
            </a:r>
          </a:p>
          <a:p>
            <a:r>
              <a:rPr lang="ru-RU" altLang="bg-BG"/>
              <a:t>Виртуализационното</a:t>
            </a:r>
            <a:r>
              <a:rPr lang="en-US" altLang="bg-BG"/>
              <a:t> </a:t>
            </a:r>
            <a:r>
              <a:rPr lang="ru-RU" altLang="bg-BG"/>
              <a:t>устройство (ВУ) е разположено между хоста и сториджа</a:t>
            </a:r>
          </a:p>
          <a:p>
            <a:r>
              <a:rPr lang="ru-RU" altLang="bg-BG"/>
              <a:t>Хостът извършва вход-изход към ВУ без директно да комуникира със сторидж</a:t>
            </a:r>
            <a:r>
              <a:rPr lang="en-US" altLang="bg-BG"/>
              <a:t> </a:t>
            </a:r>
            <a:r>
              <a:rPr lang="ru-RU" altLang="bg-BG"/>
              <a:t>устройството</a:t>
            </a:r>
            <a:endParaRPr lang="en-US" altLang="bg-BG"/>
          </a:p>
          <a:p>
            <a:r>
              <a:rPr lang="bg-BG" altLang="bg-BG"/>
              <a:t>Лесно за реализация</a:t>
            </a:r>
          </a:p>
          <a:p>
            <a:r>
              <a:rPr lang="ru-RU" altLang="bg-BG"/>
              <a:t>Неудобно за разширяване, проблемна точка</a:t>
            </a:r>
          </a:p>
          <a:p>
            <a:endParaRPr lang="en-US" altLang="bg-BG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A532E7FF-79C5-B4FE-0861-074AAF11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/>
              <a:t>Out-of-band </a:t>
            </a:r>
            <a:r>
              <a:rPr lang="bg-BG" altLang="bg-BG" b="1"/>
              <a:t>виртуализация</a:t>
            </a:r>
            <a:endParaRPr lang="en-US" altLang="bg-BG"/>
          </a:p>
        </p:txBody>
      </p:sp>
      <p:sp>
        <p:nvSpPr>
          <p:cNvPr id="90115" name="Content Placeholder 2">
            <a:extLst>
              <a:ext uri="{FF2B5EF4-FFF2-40B4-BE49-F238E27FC236}">
                <a16:creationId xmlns:a16="http://schemas.microsoft.com/office/drawing/2014/main" id="{99E597F8-12D3-CFFB-A300-E6534679B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1817"/>
            <a:ext cx="8229600" cy="4988585"/>
          </a:xfrm>
        </p:spPr>
        <p:txBody>
          <a:bodyPr/>
          <a:lstStyle/>
          <a:p>
            <a:r>
              <a:rPr lang="bg-BG" altLang="bg-BG"/>
              <a:t>Асиметрична</a:t>
            </a:r>
          </a:p>
          <a:p>
            <a:r>
              <a:rPr lang="ru-RU" altLang="bg-BG"/>
              <a:t>Виртуализационното</a:t>
            </a:r>
            <a:r>
              <a:rPr lang="en-US" altLang="bg-BG"/>
              <a:t> </a:t>
            </a:r>
            <a:r>
              <a:rPr lang="ru-RU" altLang="bg-BG"/>
              <a:t>устройство (ВУ) –сървър за метаданни</a:t>
            </a:r>
          </a:p>
          <a:p>
            <a:r>
              <a:rPr lang="ru-RU" altLang="bg-BG"/>
              <a:t>Изисква допълнителен софтуер в хоста, чрез който да се получи местоположението на актуалните данни</a:t>
            </a:r>
            <a:endParaRPr lang="en-US" altLang="bg-BG"/>
          </a:p>
          <a:p>
            <a:r>
              <a:rPr lang="ru-RU" altLang="bg-BG"/>
              <a:t>Възможност за разширяване, висока производителност</a:t>
            </a:r>
          </a:p>
          <a:p>
            <a:r>
              <a:rPr lang="bg-BG" altLang="bg-BG"/>
              <a:t>Трудно за реализация</a:t>
            </a:r>
          </a:p>
          <a:p>
            <a:endParaRPr lang="en-US" altLang="bg-BG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A9940324-173F-82D3-777A-B3BA4EAE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1"/>
              <a:t>Оптимизация на сториджа–дедублиране</a:t>
            </a:r>
            <a:r>
              <a:rPr lang="en-US" altLang="bg-BG" b="1"/>
              <a:t> </a:t>
            </a:r>
            <a:r>
              <a:rPr lang="bg-BG" altLang="bg-BG" b="1"/>
              <a:t>на данни</a:t>
            </a:r>
            <a:endParaRPr lang="en-US" altLang="bg-BG"/>
          </a:p>
        </p:txBody>
      </p:sp>
      <p:pic>
        <p:nvPicPr>
          <p:cNvPr id="91139" name="Content Placeholder 3">
            <a:extLst>
              <a:ext uri="{FF2B5EF4-FFF2-40B4-BE49-F238E27FC236}">
                <a16:creationId xmlns:a16="http://schemas.microsoft.com/office/drawing/2014/main" id="{EBA66D89-34A0-D783-41E8-4699DF705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775" y="1989138"/>
            <a:ext cx="7664450" cy="4529137"/>
          </a:xfr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37A868BB-7091-0A7B-542A-EEB1BF18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bg-BG" b="1"/>
              <a:t>Оптимизация на сториджа–гъвкав размер на диска</a:t>
            </a:r>
            <a:endParaRPr lang="en-US" altLang="bg-BG"/>
          </a:p>
        </p:txBody>
      </p:sp>
      <p:pic>
        <p:nvPicPr>
          <p:cNvPr id="92163" name="Content Placeholder 3">
            <a:extLst>
              <a:ext uri="{FF2B5EF4-FFF2-40B4-BE49-F238E27FC236}">
                <a16:creationId xmlns:a16="http://schemas.microsoft.com/office/drawing/2014/main" id="{620024E6-BC33-C0F2-8C32-B45821EF0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0463" y="1841500"/>
            <a:ext cx="3725862" cy="490061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0F8797759DCDB4A85695AB6EB890123" ma:contentTypeVersion="4" ma:contentTypeDescription="Създаване на нов документ" ma:contentTypeScope="" ma:versionID="e790d76c258d98a98514f828f38c281f">
  <xsd:schema xmlns:xsd="http://www.w3.org/2001/XMLSchema" xmlns:xs="http://www.w3.org/2001/XMLSchema" xmlns:p="http://schemas.microsoft.com/office/2006/metadata/properties" xmlns:ns2="e7115566-afb6-4371-9ba9-8de1039519ea" targetNamespace="http://schemas.microsoft.com/office/2006/metadata/properties" ma:root="true" ma:fieldsID="43f991bbc6996b371da7d6826b24266f" ns2:_="">
    <xsd:import namespace="e7115566-afb6-4371-9ba9-8de1039519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15566-afb6-4371-9ba9-8de103951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FEB3EE-9458-4554-A829-20FF7A68D5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852A30-25D7-4111-A937-6B184058BA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0B7113-4252-476E-9DBF-DD0F6667C6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115566-afb6-4371-9ba9-8de1039519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3445</TotalTime>
  <Words>2590</Words>
  <Application>Microsoft Office PowerPoint</Application>
  <PresentationFormat>On-screen Show (4:3)</PresentationFormat>
  <Paragraphs>411</Paragraphs>
  <Slides>88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Pixel</vt:lpstr>
      <vt:lpstr>Виртуализация и облачни технологии</vt:lpstr>
      <vt:lpstr>Преподаватели</vt:lpstr>
      <vt:lpstr>Технологии</vt:lpstr>
      <vt:lpstr>Виртуализация</vt:lpstr>
      <vt:lpstr>Началото</vt:lpstr>
      <vt:lpstr>VAX/VMS</vt:lpstr>
      <vt:lpstr>Причини за развитие на виртуализацията</vt:lpstr>
      <vt:lpstr>Сървърна консолидация</vt:lpstr>
      <vt:lpstr>По-малко физическо пространство</vt:lpstr>
      <vt:lpstr>Консумация на енергия</vt:lpstr>
      <vt:lpstr>Стари, несигурни приложения</vt:lpstr>
      <vt:lpstr>Среда за научни изследвания, разработка и тестване</vt:lpstr>
      <vt:lpstr>Същност на виртуализацията</vt:lpstr>
      <vt:lpstr>Термини</vt:lpstr>
      <vt:lpstr>Виртуална машина</vt:lpstr>
      <vt:lpstr>Предимства на ВМ</vt:lpstr>
      <vt:lpstr>ВМ и хипервайзор</vt:lpstr>
      <vt:lpstr>Provisioning</vt:lpstr>
      <vt:lpstr>Преди и след виртуализация</vt:lpstr>
      <vt:lpstr>Изисквания към хипервайзори</vt:lpstr>
      <vt:lpstr>Хипервайзор тип 1</vt:lpstr>
      <vt:lpstr>Хипервайзор тип 2</vt:lpstr>
      <vt:lpstr>Тип 1 и тип 2</vt:lpstr>
      <vt:lpstr>Споделяне на ресурси</vt:lpstr>
      <vt:lpstr>Архитектури на хипервайзори</vt:lpstr>
      <vt:lpstr>Microkernel</vt:lpstr>
      <vt:lpstr>x86 modes: Privilege Levels</vt:lpstr>
      <vt:lpstr>Хардуерна виртуализация</vt:lpstr>
      <vt:lpstr>Пълна виртуализация</vt:lpstr>
      <vt:lpstr>Пълна виртуализация</vt:lpstr>
      <vt:lpstr>Хост-базирана виртуализация</vt:lpstr>
      <vt:lpstr>Пара-виртуализация</vt:lpstr>
      <vt:lpstr>VMware хипервайзор</vt:lpstr>
      <vt:lpstr>VMware ESX</vt:lpstr>
      <vt:lpstr>VMware ESXi</vt:lpstr>
      <vt:lpstr>Citrix Xen</vt:lpstr>
      <vt:lpstr>Citrix Xen</vt:lpstr>
      <vt:lpstr>Microsoft Hyper-V</vt:lpstr>
      <vt:lpstr>Microsoft Hyper-V</vt:lpstr>
      <vt:lpstr>Kernel Virtual Machine (KVM)</vt:lpstr>
      <vt:lpstr>Kernel Virtual Machine (KVM)</vt:lpstr>
      <vt:lpstr>Виртуализация на хардуер</vt:lpstr>
      <vt:lpstr>Виртуализация на паметта</vt:lpstr>
      <vt:lpstr>Виртуализация на паметта</vt:lpstr>
      <vt:lpstr>Оптимизация на паметта–memory overcommitment</vt:lpstr>
      <vt:lpstr>Оптимизация на паметта–споделяне на страници</vt:lpstr>
      <vt:lpstr>Context Based Page Sharing Algorithm</vt:lpstr>
      <vt:lpstr>Context Based Page Sharing Algorithm</vt:lpstr>
      <vt:lpstr>Оптимизация на паметта–ballooning</vt:lpstr>
      <vt:lpstr>ballooning</vt:lpstr>
      <vt:lpstr>Оптимизация на паметта–Hypervisor swapping</vt:lpstr>
      <vt:lpstr>Оптимизация на паметта –компресия на паметта</vt:lpstr>
      <vt:lpstr>Управление на паметта при ESX</vt:lpstr>
      <vt:lpstr>Виртуализация на процесора</vt:lpstr>
      <vt:lpstr>Виртуализация на процесора</vt:lpstr>
      <vt:lpstr>Нива на привилегии на процесора</vt:lpstr>
      <vt:lpstr>Изпълнение при не-виртуализирана система</vt:lpstr>
      <vt:lpstr>Бинарно транслиране</vt:lpstr>
      <vt:lpstr>Паравиртуализация</vt:lpstr>
      <vt:lpstr>Хардуерно подпомогната виртуализация</vt:lpstr>
      <vt:lpstr>Хардуерно подпомогната виртуализация</vt:lpstr>
      <vt:lpstr>Хардуерно подпомогната виртуализация</vt:lpstr>
      <vt:lpstr>Физически и виртуални процесори</vt:lpstr>
      <vt:lpstr>Поддържан брой на CPU от ОС</vt:lpstr>
      <vt:lpstr>Изчисляване на броя CPU</vt:lpstr>
      <vt:lpstr>Отношение vCPU-pCPU</vt:lpstr>
      <vt:lpstr>Достъп до устройство за съхранение</vt:lpstr>
      <vt:lpstr>Достъп до устройство за съхранение във виртуална среда</vt:lpstr>
      <vt:lpstr>XEN</vt:lpstr>
      <vt:lpstr>Архитектури на сторидж</vt:lpstr>
      <vt:lpstr>Архитектури на сторидж</vt:lpstr>
      <vt:lpstr>Изисквания към виртуализацията на сторидж</vt:lpstr>
      <vt:lpstr>Виртуален сторидж</vt:lpstr>
      <vt:lpstr>Слоеве за виртуализиране</vt:lpstr>
      <vt:lpstr>Виртуализиране на файлова система</vt:lpstr>
      <vt:lpstr>Виртуализиране на блокови устройства</vt:lpstr>
      <vt:lpstr>Виртуализиране на блокови устройства</vt:lpstr>
      <vt:lpstr>Протоколи за връзка със сторидж</vt:lpstr>
      <vt:lpstr>Fibre Channel</vt:lpstr>
      <vt:lpstr>Подходи за виртуализация на сторидж</vt:lpstr>
      <vt:lpstr>Host-based виртуализация</vt:lpstr>
      <vt:lpstr>Storage-based виртуализация</vt:lpstr>
      <vt:lpstr>Network-based виртуализация</vt:lpstr>
      <vt:lpstr>Реализиране на виртуализацията</vt:lpstr>
      <vt:lpstr>In-band виртуализация</vt:lpstr>
      <vt:lpstr>Out-of-band виртуализация</vt:lpstr>
      <vt:lpstr>Оптимизация на сториджа–дедублиране на данни</vt:lpstr>
      <vt:lpstr>Оптимизация на сториджа–гъвкав размер на диска</vt:lpstr>
    </vt:vector>
  </TitlesOfParts>
  <Company>Lirex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Компютърни мрежи</dc:title>
  <dc:creator>dgenkov</dc:creator>
  <cp:lastModifiedBy>Delian Genkov</cp:lastModifiedBy>
  <cp:revision>170</cp:revision>
  <dcterms:created xsi:type="dcterms:W3CDTF">2005-08-27T12:44:25Z</dcterms:created>
  <dcterms:modified xsi:type="dcterms:W3CDTF">2025-06-15T17:04:26Z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0x01010040F8797759DCDB4A85695AB6EB890123</vt:lpwstr>
  </property>
</Properties>
</file>